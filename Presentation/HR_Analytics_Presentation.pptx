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90fba44-55e0-54a8-6e75-29c0f2cd4b49}">
          <p14:sldIdLst>
            <p14:sldId id="256"/>
            <p14:sldId id="257"/>
            <p14:sldId id="258"/>
            <p14:sldId id="259"/>
            <p14:sldId id="260"/>
            <p14:sldId id="261"/>
            <p14:sldId id="262"/>
            <p14:sldId id="263"/>
          </p14:sldIdLst>
        </p14:section>
        <p14:section name="Project Steps" id="{417894c8-8c94-1108-aea9-db994fdcb6e0}">
          <p14:sldIdLst/>
        </p14:section>
        <p14:section name="Dashboards" id="{10b27eff-0b6e-e4a1-6c16-4bb618d74f4f}">
          <p14:sldIdLst>
            <p14:sldId id="264"/>
            <p14:sldId id="265"/>
            <p14:sldId id="266"/>
            <p14:sldId id="267"/>
            <p14:sldId id="268"/>
            <p14:sldId id="269"/>
          </p14:sldIdLst>
        </p14:section>
        <p14:section name="Wrap-up" id="{00049cae-c29b-5820-8e3d-58c870604360}">
          <p14:sldIdLst>
            <p14:sldId id="270"/>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Attrition</c:v>
                </c:pt>
              </c:strCache>
            </c:strRef>
          </c:tx>
          <c:spPr>
            <a:solidFill>
              <a:schemeClr val="accent1"/>
            </a:solidFill>
            <a:ln w="9525" cap="flat">
              <a:solidFill>
                <a:srgbClr val="F9F9F9"/>
              </a:solidFill>
              <a:prstDash val="solid"/>
              <a:round/>
            </a:ln>
            <a:effectLst/>
          </c:spPr>
          <c:dPt>
            <c:idx val="0"/>
            <c:bubble3D val="0"/>
            <c:spPr>
              <a:solidFill>
                <a:srgbClr val="F4A261"/>
              </a:solidFill>
              <a:ln w="25400" cap="flat">
                <a:solidFill>
                  <a:srgbClr val="FFFFFF"/>
                </a:solidFill>
                <a:prstDash val="solid"/>
                <a:round/>
              </a:ln>
              <a:effectLst/>
            </c:spPr>
          </c:dPt>
          <c:dPt>
            <c:idx val="1"/>
            <c:bubble3D val="0"/>
            <c:spPr>
              <a:solidFill>
                <a:srgbClr val="1B4965"/>
              </a:solidFill>
              <a:ln w="2540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Left</c:v>
                </c:pt>
                <c:pt idx="1">
                  <c:v>Stayed</c:v>
                </c:pt>
              </c:strCache>
            </c:strRef>
          </c:cat>
          <c:val>
            <c:numRef>
              <c:f>Sheet1!$B$2:$B$3</c:f>
              <c:numCache>
                <c:ptCount val="2"/>
                <c:pt idx="0">
                  <c:v>1724</c:v>
                </c:pt>
                <c:pt idx="1">
                  <c:v>1676</c:v>
                </c:pt>
              </c:numCache>
            </c:numRef>
          </c:val>
        </c:ser>
        <c:firstSliceAng val="0"/>
        <c:holeSize val="68"/>
      </c:doughnutChart>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Avg monthly income</c:v>
                </c:pt>
              </c:strCache>
            </c:strRef>
          </c:tx>
          <c:spPr>
            <a:solidFill>
              <a:srgbClr val="1B4965"/>
            </a:solidFill>
            <a:effectLst/>
          </c:spPr>
          <c:invertIfNegative val="0"/>
          <c:dLbls>
            <c:numFmt formatCode="#,##0" sourceLinked="0"/>
            <c:txPr>
              <a:bodyPr/>
              <a:lstStyle/>
              <a:p>
                <a:pPr>
                  <a:defRPr b="0" i="0" strike="noStrike" sz="1200" u="none">
                    <a:solidFill>
                      <a:srgbClr val="0B2545"/>
                    </a:solidFill>
                    <a:latin typeface="+mn-lt"/>
                  </a:defRPr>
                </a:pPr>
              </a:p>
            </c:txPr>
            <c:showLegendKey val="0"/>
            <c:showVal val="1"/>
            <c:showCatName val="0"/>
            <c:showSerName val="0"/>
            <c:showPercent val="0"/>
            <c:showBubbleSize val="0"/>
            <c:showLeaderLines val="0"/>
          </c:dLbls>
          <c:dPt>
            <c:idx val="0"/>
            <c:invertIfNegative val="0"/>
            <c:bubble3D val="0"/>
            <c:spPr>
              <a:solidFill>
                <a:srgbClr val="1B4965"/>
              </a:solidFill>
              <a:effectLst/>
            </c:spPr>
          </c:dPt>
          <c:dPt>
            <c:idx val="1"/>
            <c:invertIfNegative val="0"/>
            <c:bubble3D val="0"/>
            <c:spPr>
              <a:solidFill>
                <a:srgbClr val="1B4965"/>
              </a:solidFill>
              <a:effectLst/>
            </c:spPr>
          </c:dPt>
          <c:dPt>
            <c:idx val="2"/>
            <c:invertIfNegative val="0"/>
            <c:bubble3D val="0"/>
            <c:spPr>
              <a:solidFill>
                <a:srgbClr val="1B4965"/>
              </a:solidFill>
              <a:effectLst/>
            </c:spPr>
          </c:dPt>
          <c:dPt>
            <c:idx val="3"/>
            <c:invertIfNegative val="0"/>
            <c:bubble3D val="0"/>
            <c:spPr>
              <a:solidFill>
                <a:srgbClr val="1B4965"/>
              </a:solidFill>
              <a:effectLst/>
            </c:spPr>
          </c:dPt>
          <c:dPt>
            <c:idx val="4"/>
            <c:invertIfNegative val="0"/>
            <c:bubble3D val="0"/>
            <c:spPr>
              <a:solidFill>
                <a:srgbClr val="F4A261"/>
              </a:solidFill>
              <a:effectLst/>
            </c:spPr>
          </c:dPt>
          <c:cat>
            <c:multiLvlStrRef>
              <c:f>Sheet1!$A$2:$A$6</c:f>
              <c:multiLvlStrCache>
                <c:ptCount val="5"/>
                <c:lvl>
                  <c:pt idx="0">
                    <c:v>Intern</c:v>
                  </c:pt>
                  <c:pt idx="1">
                    <c:v>Analyst</c:v>
                  </c:pt>
                  <c:pt idx="2">
                    <c:v>Team Lead</c:v>
                  </c:pt>
                  <c:pt idx="3">
                    <c:v>Manager</c:v>
                  </c:pt>
                  <c:pt idx="4">
                    <c:v>Executive</c:v>
                  </c:pt>
                </c:lvl>
              </c:multiLvlStrCache>
            </c:multiLvlStrRef>
          </c:cat>
          <c:val>
            <c:numRef>
              <c:f>Sheet1!$B$2:$B$6</c:f>
              <c:numCache>
                <c:formatCode>General</c:formatCode>
                <c:ptCount val="5"/>
                <c:pt idx="0">
                  <c:v>1243</c:v>
                </c:pt>
                <c:pt idx="1">
                  <c:v>3468</c:v>
                </c:pt>
                <c:pt idx="2">
                  <c:v>7663</c:v>
                </c:pt>
                <c:pt idx="3">
                  <c:v>9505</c:v>
                </c:pt>
                <c:pt idx="4">
                  <c:v>3516</c:v>
                </c:pt>
              </c:numCache>
            </c:numRef>
          </c:val>
        </c:ser>
        <c:dLbls>
          <c:numFmt formatCode="#,##0" sourceLinked="0"/>
          <c:txPr>
            <a:bodyPr/>
            <a:lstStyle/>
            <a:p>
              <a:pPr>
                <a:defRPr b="0" i="0" strike="noStrike" sz="1200" u="none">
                  <a:solidFill>
                    <a:srgbClr val="0B2545"/>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7083"/>
                </a:solidFill>
                <a:latin typeface="+mn-lt"/>
              </a:defRPr>
            </a:pPr>
            <a:endParaRPr lang="en-US"/>
          </a:p>
        </c:txPr>
        <c:crossAx val="2094734552"/>
        <c:crosses val="autoZero"/>
        <c:auto val="1"/>
        <c:lblAlgn val="ctr"/>
        <c:noMultiLvlLbl val="1"/>
      </c:catAx>
      <c:valAx>
        <c:axId val="2094734552"/>
        <c:scaling>
          <c:orientation val="minMax"/>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Say your name, student ID, batch and center. Then read the project title and say it is a Power BI dashboard about employees: who leaves, how money is spent, and how people perform.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chose the Human Resources industry. Every company has people, and people cost the most money. HR teams need data to decide. Our data has 3,400 employees, 5 departments and 5 job roles.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problem in one line: the company has HR data in a plain CSV file, and it is hard to read. We want clear answers to three questions. Point to the 50.7 percent attrition: more than half of the employees in this data have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comes from Kaggle: the HR Employee dataset. It is one CSV file with 3,400 rows and 20 columns. The columns cover personal details, job details, performance and exit details. Mention the Kaggle link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changing anything, I saved the original Kaggle file as HR_Dataset_raw.csv. I never edit it. The cleaned file is a separate copy. Note the size: raw is 304 KB, clean is 477 KB because I added 8 new columns.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ETL means Extract, Transform, Load. Walk through the 4 simple steps: get the CSV, check it in Power Query, load the three lookup tables, then Close and Apply. Keep it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Cleaning was simple: I set data types, trimmed text, and checked for duplicates and blanks. There were none. Then I added 5 helpful columns. Last, I found 1,597 rows with odd years values. I did not delete them, I flagged them so nothing is hidden.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DAX is the formula language of Power BI. I made about 35 measures. After loading them I checked that Total Employees equals 3,400. Show the six main KPIs and explain three formulas in plain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big picture: 5 report pages. Each page has Job Role and Department slicers, and every visual cross-filters. Click any picture in PowerPoint to jump to that dashboard. Next slides explain each page one by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here. Six KPI cards show employees, payroll, attrition, satisfaction, performance and overtime. Use the slicers to filter every chart. Employees are spread evenly across departments.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page answers: who is leaving? 1,724 employees left. Show the charts by overtime, role, tenure and age. The key point: attrition is near 50 percent in every group. Employees without overtime left slightly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page shows where the money goes. Monthly payroll is about 1.74 crore and annual about 20.9 crore. Managers earn the most. Executives earn less than Managers, which is unusual.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page shows how employees are doing. 41 percent are high performers. Satisfaction and work-life balance are about 3 out of 5 for every role. Training hours show no strong link with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drill-down page. Each row is one employee with department, role, income, rating, attrition and a data quality flag. Use slicers to find a group, then scroll the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four short findings. 1: attrition is about 50 percent everywhere. 2: people without overtime left slightly more. 3: managers earn most and executives earn less, which is unusual. 4: performance, income and satisfaction are almost unrelated. Say the data looks synthetic, so this is a portfolio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step in Power BI: save the report as a .pbix file, then publish it to the Power BI Service. Choose a workspace, open the report online and share the link. Keep this simple: save, publish, choose, share.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project is on GitHub: dataset, Power BI file, screenshots, theme and documents. The README explains the findings, how to open the file and the data limits. Click the button to open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Say the project is on GitHub and the dataset is on Kaggle. Invite questions. If asked, use the buttons to jump to the dashboards or the first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LIGHT-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HERO_START-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HERO_END-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6B7F92"/>
                </a:solidFill>
              </a:rPr>
              <a:t>HR Analytics – Employee Performance &amp; Payroll Dashboard  |  Prasanna U N</a:t>
            </a:r>
            <a:endParaRPr lang="en-US" sz="1000" dirty="0"/>
          </a:p>
        </p:txBody>
      </p:sp>
      <p:sp>
        <p:nvSpPr>
          <p:cNvPr id="3" name="Text 1"/>
          <p:cNvSpPr/>
          <p:nvPr>
            <p:ph idx="101" type="title" hasCustomPrompt="1"/>
          </p:nvPr>
        </p:nvSpPr>
        <p:spPr>
          <a:xfrm>
            <a:off x="548640" y="621792"/>
            <a:ext cx="11091672" cy="73152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9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HERO_STAR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371600"/>
            <a:ext cx="5943600" cy="224028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HERO_EN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6355080" y="1097280"/>
            <a:ext cx="5303520" cy="1280160"/>
          </a:xfrm>
          <a:prstGeom prst="rect">
            <a:avLst/>
          </a:prstGeom>
          <a:noFill/>
          <a:ln/>
        </p:spPr>
        <p:txBody>
          <a:bodyPr wrap="square" rtlCol="0"/>
          <a:lstStyle>
            <a:lvl1pPr algn="l" indent="0" marL="0">
              <a:buNone/>
              <a:defRPr lang="en-US" sz="7200" b="1" dirty="0">
                <a:solidFill>
                  <a:schemeClr val="bg1"/>
                </a:solidFill>
              </a:defRPr>
            </a:lvl1pPr>
          </a:lstStyle>
          <a:p>
            <a:pPr algn="l" indent="0" marL="0">
              <a:buNone/>
            </a:pPr>
            <a:endParaRPr lang="en-US" sz="7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9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2.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4" Type="http://schemas.openxmlformats.org/officeDocument/2006/relationships/chart" Target="/ppt/charts/chart1.xml"/><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4" Type="http://schemas.openxmlformats.org/officeDocument/2006/relationships/hyperlink" Target="https://www.kaggle.com/datasets/justinlimyin/hr-employee-dataset" TargetMode="External"/><Relationship Id="rId6" Type="http://schemas.openxmlformats.org/officeDocument/2006/relationships/hyperlink" Target="https://www.kaggle.com/datasets/justinlimyin/hr-employee-dataset" TargetMode="External"/><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5" Type="http://schemas.openxmlformats.org/officeDocument/2006/relationships/image" Target="../media/image-4-4.png"/><Relationship Id="rId7" Type="http://schemas.openxmlformats.org/officeDocument/2006/relationships/image" Target="../media/image-4-5.png"/><Relationship Id="rId8" Type="http://schemas.openxmlformats.org/officeDocument/2006/relationships/image" Target="../media/image-4-6.png"/><Relationship Id="rId9" Type="http://schemas.openxmlformats.org/officeDocument/2006/relationships/image" Target="../media/image-4-7.png"/><Relationship Id="rId10" Type="http://schemas.openxmlformats.org/officeDocument/2006/relationships/image" Target="../media/image-4-8.png"/><Relationship Id="rId11" Type="http://schemas.openxmlformats.org/officeDocument/2006/relationships/slideLayout" Target="../slideLayouts/slideLayout2.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slideLayout" Target="../slideLayouts/slideLayout2.xml"/><Relationship Id="rId1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2.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2.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 Target="slide10.xml"/><Relationship Id="rId6" Type="http://schemas.openxmlformats.org/officeDocument/2006/relationships/slide" Target="slide11.xml"/><Relationship Id="rId9" Type="http://schemas.openxmlformats.org/officeDocument/2006/relationships/slide" Target="slide12.xml"/><Relationship Id="rId12" Type="http://schemas.openxmlformats.org/officeDocument/2006/relationships/slide" Target="slide13.xml"/><Relationship Id="rId15" Type="http://schemas.openxmlformats.org/officeDocument/2006/relationships/slide" Target="slide14.xml"/><Relationship Id="rId1" Type="http://schemas.openxmlformats.org/officeDocument/2006/relationships/image" Target="../media/image-9-1.png"/><Relationship Id="rId2" Type="http://schemas.openxmlformats.org/officeDocument/2006/relationships/image" Target="../media/image-9-2.png"/><Relationship Id="rId4" Type="http://schemas.openxmlformats.org/officeDocument/2006/relationships/image" Target="../media/image-9-3.png"/><Relationship Id="rId5" Type="http://schemas.openxmlformats.org/officeDocument/2006/relationships/image" Target="../media/image-9-4.png"/><Relationship Id="rId7" Type="http://schemas.openxmlformats.org/officeDocument/2006/relationships/image" Target="../media/image-9-5.png"/><Relationship Id="rId8" Type="http://schemas.openxmlformats.org/officeDocument/2006/relationships/image" Target="../media/image-9-6.png"/><Relationship Id="rId10" Type="http://schemas.openxmlformats.org/officeDocument/2006/relationships/image" Target="../media/image-9-7.png"/><Relationship Id="rId11" Type="http://schemas.openxmlformats.org/officeDocument/2006/relationships/image" Target="../media/image-9-8.png"/><Relationship Id="rId13" Type="http://schemas.openxmlformats.org/officeDocument/2006/relationships/image" Target="../media/image-9-9.png"/><Relationship Id="rId14" Type="http://schemas.openxmlformats.org/officeDocument/2006/relationships/image" Target="../media/image-9-10.png"/><Relationship Id="rId16" Type="http://schemas.openxmlformats.org/officeDocument/2006/relationships/slideLayout" Target="../slideLayouts/slideLayout2.xml"/><Relationship Id="rId1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6" Type="http://schemas.openxmlformats.org/officeDocument/2006/relationships/slide" Target="slide9.xml"/><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7" Type="http://schemas.openxmlformats.org/officeDocument/2006/relationships/slideLayout" Target="../slideLayouts/slideLayout2.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6" Type="http://schemas.openxmlformats.org/officeDocument/2006/relationships/slide" Target="slide9.xml"/><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7" Type="http://schemas.openxmlformats.org/officeDocument/2006/relationships/slideLayout" Target="../slideLayouts/slideLayout2.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6" Type="http://schemas.openxmlformats.org/officeDocument/2006/relationships/slide" Target="slide9.xml"/><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7" Type="http://schemas.openxmlformats.org/officeDocument/2006/relationships/slideLayout" Target="../slideLayouts/slideLayout2.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6" Type="http://schemas.openxmlformats.org/officeDocument/2006/relationships/slide" Target="slide9.xml"/><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7" Type="http://schemas.openxmlformats.org/officeDocument/2006/relationships/slideLayout" Target="../slideLayouts/slideLayout2.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6" Type="http://schemas.openxmlformats.org/officeDocument/2006/relationships/slide" Target="slide9.xml"/><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7" Type="http://schemas.openxmlformats.org/officeDocument/2006/relationships/slideLayout" Target="../slideLayouts/slideLayout2.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5" Type="http://schemas.openxmlformats.org/officeDocument/2006/relationships/chart" Target="/ppt/charts/chart2.xml"/><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6" Type="http://schemas.openxmlformats.org/officeDocument/2006/relationships/slideLayout" Target="../slideLayouts/slideLayout2.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4" Type="http://schemas.openxmlformats.org/officeDocument/2006/relationships/hyperlink" Target="https://github.com/Prasanna-Dat/HR-Analytics-Dashboard" TargetMode="External"/><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5" Type="http://schemas.openxmlformats.org/officeDocument/2006/relationships/image" Target="../media/image-17-4.png"/><Relationship Id="rId6" Type="http://schemas.openxmlformats.org/officeDocument/2006/relationships/image" Target="../media/image-17-5.png"/><Relationship Id="rId7" Type="http://schemas.openxmlformats.org/officeDocument/2006/relationships/image" Target="../media/image-17-6.png"/><Relationship Id="rId8" Type="http://schemas.openxmlformats.org/officeDocument/2006/relationships/image" Target="../media/image-17-7.png"/><Relationship Id="rId9" Type="http://schemas.openxmlformats.org/officeDocument/2006/relationships/image" Target="../media/image-17-8.png"/><Relationship Id="rId10" Type="http://schemas.openxmlformats.org/officeDocument/2006/relationships/image" Target="../media/image-17-9.png"/><Relationship Id="rId11" Type="http://schemas.openxmlformats.org/officeDocument/2006/relationships/slideLayout" Target="../slideLayouts/slideLayout2.xml"/><Relationship Id="rId1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hyperlink" Target="https://github.com/Prasanna-Dat/HR-Analytics-Dashboard" TargetMode="External"/><Relationship Id="rId6" Type="http://schemas.openxmlformats.org/officeDocument/2006/relationships/hyperlink" Target="https://www.kaggle.com/datasets/justinlimyin/hr-employee-dataset" TargetMode="External"/><Relationship Id="rId9" Type="http://schemas.openxmlformats.org/officeDocument/2006/relationships/slide" Target="slide9.xml"/><Relationship Id="rId12" Type="http://schemas.openxmlformats.org/officeDocument/2006/relationships/slide" Target="slide1.xml"/><Relationship Id="rId1" Type="http://schemas.openxmlformats.org/officeDocument/2006/relationships/image" Target="../media/image-18-1.png"/><Relationship Id="rId2" Type="http://schemas.openxmlformats.org/officeDocument/2006/relationships/image" Target="../media/image-18-2.png"/><Relationship Id="rId4" Type="http://schemas.openxmlformats.org/officeDocument/2006/relationships/image" Target="../media/image-18-3.png"/><Relationship Id="rId5" Type="http://schemas.openxmlformats.org/officeDocument/2006/relationships/image" Target="../media/image-18-4.png"/><Relationship Id="rId7" Type="http://schemas.openxmlformats.org/officeDocument/2006/relationships/image" Target="../media/image-18-5.png"/><Relationship Id="rId8" Type="http://schemas.openxmlformats.org/officeDocument/2006/relationships/image" Target="../media/image-18-6.png"/><Relationship Id="rId10" Type="http://schemas.openxmlformats.org/officeDocument/2006/relationships/image" Target="../media/image-18-7.png"/><Relationship Id="rId11" Type="http://schemas.openxmlformats.org/officeDocument/2006/relationships/image" Target="../media/image-18-8.png"/><Relationship Id="rId13" Type="http://schemas.openxmlformats.org/officeDocument/2006/relationships/slideLayout" Target="../slideLayouts/slideLayout4.xml"/><Relationship Id="rId14"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868680"/>
            <a:ext cx="5943600" cy="320040"/>
          </a:xfrm>
          <a:prstGeom prst="rect">
            <a:avLst/>
          </a:prstGeom>
          <a:noFill/>
          <a:ln/>
        </p:spPr>
        <p:txBody>
          <a:bodyPr wrap="square" lIns="0" tIns="0" rIns="0" bIns="0" rtlCol="0" anchor="ctr"/>
          <a:lstStyle/>
          <a:p>
            <a:pPr indent="0" marL="0">
              <a:buNone/>
            </a:pPr>
            <a:r>
              <a:rPr lang="en-US" sz="1400" b="1" spc="400" kern="0" dirty="0">
                <a:solidFill>
                  <a:schemeClr val="accent2"/>
                </a:solidFill>
              </a:rPr>
              <a:t>POWER BI  ·  DATA ANALYTICS PROJECT</a:t>
            </a:r>
            <a:endParaRPr lang="en-US" sz="1400" dirty="0"/>
          </a:p>
        </p:txBody>
      </p:sp>
      <p:sp>
        <p:nvSpPr>
          <p:cNvPr id="3" name="Text 0"/>
          <p:cNvSpPr txBox="1"/>
          <p:nvPr>
            <p:ph idx="100" type="title" hasCustomPrompt="1"/>
          </p:nvPr>
        </p:nvSpPr>
        <p:spPr>
          <a:xfrm>
            <a:off x="640080" y="1371600"/>
            <a:ext cx="5943600" cy="2240280"/>
          </a:xfrm>
          <a:prstGeom prst="rect">
            <a:avLst/>
          </a:prstGeom>
          <a:noFill/>
          <a:ln/>
        </p:spPr>
        <p:txBody>
          <a:bodyPr wrap="square" lIns="0" tIns="0" rIns="0" bIns="0" rtlCol="0" anchor="t"/>
          <a:lstStyle/>
          <a:p>
            <a:pPr algn="l" indent="0" marL="0">
              <a:buNone/>
            </a:pPr>
            <a:r>
              <a:rPr lang="en-US" sz="5400" b="1" dirty="0">
                <a:solidFill>
                  <a:schemeClr val="bg1"/>
                </a:solidFill>
              </a:rPr>
              <a:t>HR Analytics –</a:t>
            </a:r>
            <a:endParaRPr lang="en-US" sz="5400" dirty="0"/>
          </a:p>
          <a:p>
            <a:pPr algn="l" indent="0" marL="0">
              <a:buNone/>
            </a:pPr>
            <a:r>
              <a:rPr lang="en-US" sz="2600" b="1" dirty="0">
                <a:solidFill>
                  <a:srgbClr val="BFE3F2"/>
                </a:solidFill>
              </a:rPr>
              <a:t>Employee Performance &amp; Payroll Dashboard</a:t>
            </a:r>
            <a:endParaRPr lang="en-US" sz="5400" dirty="0"/>
          </a:p>
        </p:txBody>
      </p:sp>
      <p:sp>
        <p:nvSpPr>
          <p:cNvPr id="4" name="Shape 2"/>
          <p:cNvSpPr/>
          <p:nvPr/>
        </p:nvSpPr>
        <p:spPr>
          <a:xfrm>
            <a:off x="640080" y="4069080"/>
            <a:ext cx="2743200" cy="731520"/>
          </a:xfrm>
          <a:prstGeom prst="roundRect">
            <a:avLst>
              <a:gd name="adj" fmla="val 15000"/>
            </a:avLst>
          </a:prstGeom>
          <a:solidFill>
            <a:schemeClr val="bg1">
              <a:alpha val="12000"/>
            </a:schemeClr>
          </a:solidFill>
          <a:ln w="9525">
            <a:solidFill>
              <a:schemeClr val="bg1">
                <a:alpha val="30000"/>
              </a:schemeClr>
            </a:solidFill>
            <a:prstDash val="solid"/>
          </a:ln>
        </p:spPr>
      </p:sp>
      <p:sp>
        <p:nvSpPr>
          <p:cNvPr id="5" name="Text 3"/>
          <p:cNvSpPr txBox="1"/>
          <p:nvPr/>
        </p:nvSpPr>
        <p:spPr>
          <a:xfrm>
            <a:off x="822960" y="4160520"/>
            <a:ext cx="2377440" cy="201168"/>
          </a:xfrm>
          <a:prstGeom prst="rect">
            <a:avLst/>
          </a:prstGeom>
          <a:noFill/>
          <a:ln/>
        </p:spPr>
        <p:txBody>
          <a:bodyPr wrap="square" lIns="0" tIns="0" rIns="0" bIns="0" rtlCol="0" anchor="ctr"/>
          <a:lstStyle/>
          <a:p>
            <a:pPr indent="0" marL="0">
              <a:buNone/>
            </a:pPr>
            <a:r>
              <a:rPr lang="en-US" sz="1000" spc="200" kern="0" dirty="0">
                <a:solidFill>
                  <a:srgbClr val="BFE3F2"/>
                </a:solidFill>
              </a:rPr>
              <a:t>STUDENT NAME</a:t>
            </a:r>
            <a:endParaRPr lang="en-US" sz="1000" dirty="0"/>
          </a:p>
        </p:txBody>
      </p:sp>
      <p:sp>
        <p:nvSpPr>
          <p:cNvPr id="6" name="Text 4"/>
          <p:cNvSpPr txBox="1"/>
          <p:nvPr/>
        </p:nvSpPr>
        <p:spPr>
          <a:xfrm>
            <a:off x="822960" y="4370832"/>
            <a:ext cx="2377440" cy="329184"/>
          </a:xfrm>
          <a:prstGeom prst="rect">
            <a:avLst/>
          </a:prstGeom>
          <a:noFill/>
          <a:ln/>
        </p:spPr>
        <p:txBody>
          <a:bodyPr wrap="square" lIns="0" tIns="0" rIns="0" bIns="0" rtlCol="0" anchor="ctr"/>
          <a:lstStyle/>
          <a:p>
            <a:pPr indent="0" marL="0">
              <a:buNone/>
            </a:pPr>
            <a:r>
              <a:rPr lang="en-US" sz="1800" b="1" dirty="0">
                <a:solidFill>
                  <a:schemeClr val="bg1"/>
                </a:solidFill>
              </a:rPr>
              <a:t>Prasanna U N</a:t>
            </a:r>
            <a:endParaRPr lang="en-US" sz="1800" dirty="0"/>
          </a:p>
        </p:txBody>
      </p:sp>
      <p:sp>
        <p:nvSpPr>
          <p:cNvPr id="7" name="Shape 5"/>
          <p:cNvSpPr/>
          <p:nvPr/>
        </p:nvSpPr>
        <p:spPr>
          <a:xfrm>
            <a:off x="3520440" y="4069080"/>
            <a:ext cx="2743200" cy="731520"/>
          </a:xfrm>
          <a:prstGeom prst="roundRect">
            <a:avLst>
              <a:gd name="adj" fmla="val 15000"/>
            </a:avLst>
          </a:prstGeom>
          <a:solidFill>
            <a:schemeClr val="bg1">
              <a:alpha val="12000"/>
            </a:schemeClr>
          </a:solidFill>
          <a:ln w="9525">
            <a:solidFill>
              <a:schemeClr val="bg1">
                <a:alpha val="30000"/>
              </a:schemeClr>
            </a:solidFill>
            <a:prstDash val="solid"/>
          </a:ln>
        </p:spPr>
      </p:sp>
      <p:sp>
        <p:nvSpPr>
          <p:cNvPr id="8" name="Text 6"/>
          <p:cNvSpPr txBox="1"/>
          <p:nvPr/>
        </p:nvSpPr>
        <p:spPr>
          <a:xfrm>
            <a:off x="3703320" y="4160520"/>
            <a:ext cx="2377440" cy="201168"/>
          </a:xfrm>
          <a:prstGeom prst="rect">
            <a:avLst/>
          </a:prstGeom>
          <a:noFill/>
          <a:ln/>
        </p:spPr>
        <p:txBody>
          <a:bodyPr wrap="square" lIns="0" tIns="0" rIns="0" bIns="0" rtlCol="0" anchor="ctr"/>
          <a:lstStyle/>
          <a:p>
            <a:pPr indent="0" marL="0">
              <a:buNone/>
            </a:pPr>
            <a:r>
              <a:rPr lang="en-US" sz="1000" spc="200" kern="0" dirty="0">
                <a:solidFill>
                  <a:srgbClr val="BFE3F2"/>
                </a:solidFill>
              </a:rPr>
              <a:t>STUDENT ID</a:t>
            </a:r>
            <a:endParaRPr lang="en-US" sz="1000" dirty="0"/>
          </a:p>
        </p:txBody>
      </p:sp>
      <p:sp>
        <p:nvSpPr>
          <p:cNvPr id="9" name="Text 7"/>
          <p:cNvSpPr txBox="1"/>
          <p:nvPr/>
        </p:nvSpPr>
        <p:spPr>
          <a:xfrm>
            <a:off x="3703320" y="4370832"/>
            <a:ext cx="2377440" cy="329184"/>
          </a:xfrm>
          <a:prstGeom prst="rect">
            <a:avLst/>
          </a:prstGeom>
          <a:noFill/>
          <a:ln/>
        </p:spPr>
        <p:txBody>
          <a:bodyPr wrap="square" lIns="0" tIns="0" rIns="0" bIns="0" rtlCol="0" anchor="ctr"/>
          <a:lstStyle/>
          <a:p>
            <a:pPr indent="0" marL="0">
              <a:buNone/>
            </a:pPr>
            <a:r>
              <a:rPr lang="en-US" sz="1800" b="1" dirty="0">
                <a:solidFill>
                  <a:schemeClr val="bg1"/>
                </a:solidFill>
              </a:rPr>
              <a:t>AF05331531</a:t>
            </a:r>
            <a:endParaRPr lang="en-US" sz="1800" dirty="0"/>
          </a:p>
        </p:txBody>
      </p:sp>
      <p:sp>
        <p:nvSpPr>
          <p:cNvPr id="10" name="Shape 8"/>
          <p:cNvSpPr/>
          <p:nvPr/>
        </p:nvSpPr>
        <p:spPr>
          <a:xfrm>
            <a:off x="640080" y="4937760"/>
            <a:ext cx="2743200" cy="731520"/>
          </a:xfrm>
          <a:prstGeom prst="roundRect">
            <a:avLst>
              <a:gd name="adj" fmla="val 15000"/>
            </a:avLst>
          </a:prstGeom>
          <a:solidFill>
            <a:schemeClr val="bg1">
              <a:alpha val="12000"/>
            </a:schemeClr>
          </a:solidFill>
          <a:ln w="9525">
            <a:solidFill>
              <a:schemeClr val="bg1">
                <a:alpha val="30000"/>
              </a:schemeClr>
            </a:solidFill>
            <a:prstDash val="solid"/>
          </a:ln>
        </p:spPr>
      </p:sp>
      <p:sp>
        <p:nvSpPr>
          <p:cNvPr id="11" name="Text 9"/>
          <p:cNvSpPr txBox="1"/>
          <p:nvPr/>
        </p:nvSpPr>
        <p:spPr>
          <a:xfrm>
            <a:off x="822960" y="5029200"/>
            <a:ext cx="2377440" cy="201168"/>
          </a:xfrm>
          <a:prstGeom prst="rect">
            <a:avLst/>
          </a:prstGeom>
          <a:noFill/>
          <a:ln/>
        </p:spPr>
        <p:txBody>
          <a:bodyPr wrap="square" lIns="0" tIns="0" rIns="0" bIns="0" rtlCol="0" anchor="ctr"/>
          <a:lstStyle/>
          <a:p>
            <a:pPr indent="0" marL="0">
              <a:buNone/>
            </a:pPr>
            <a:r>
              <a:rPr lang="en-US" sz="1000" spc="200" kern="0" dirty="0">
                <a:solidFill>
                  <a:srgbClr val="BFE3F2"/>
                </a:solidFill>
              </a:rPr>
              <a:t>BATCH CODE</a:t>
            </a:r>
            <a:endParaRPr lang="en-US" sz="1000" dirty="0"/>
          </a:p>
        </p:txBody>
      </p:sp>
      <p:sp>
        <p:nvSpPr>
          <p:cNvPr id="12" name="Text 10"/>
          <p:cNvSpPr txBox="1"/>
          <p:nvPr/>
        </p:nvSpPr>
        <p:spPr>
          <a:xfrm>
            <a:off x="822960" y="5239512"/>
            <a:ext cx="2377440" cy="329184"/>
          </a:xfrm>
          <a:prstGeom prst="rect">
            <a:avLst/>
          </a:prstGeom>
          <a:noFill/>
          <a:ln/>
        </p:spPr>
        <p:txBody>
          <a:bodyPr wrap="square" lIns="0" tIns="0" rIns="0" bIns="0" rtlCol="0" anchor="ctr"/>
          <a:lstStyle/>
          <a:p>
            <a:pPr indent="0" marL="0">
              <a:buNone/>
            </a:pPr>
            <a:r>
              <a:rPr lang="en-US" sz="1800" b="1" dirty="0">
                <a:solidFill>
                  <a:schemeClr val="bg1"/>
                </a:solidFill>
              </a:rPr>
              <a:t>ANP-D7635</a:t>
            </a:r>
            <a:endParaRPr lang="en-US" sz="1800" dirty="0"/>
          </a:p>
        </p:txBody>
      </p:sp>
      <p:sp>
        <p:nvSpPr>
          <p:cNvPr id="13" name="Shape 11"/>
          <p:cNvSpPr/>
          <p:nvPr/>
        </p:nvSpPr>
        <p:spPr>
          <a:xfrm>
            <a:off x="3520440" y="4937760"/>
            <a:ext cx="2743200" cy="731520"/>
          </a:xfrm>
          <a:prstGeom prst="roundRect">
            <a:avLst>
              <a:gd name="adj" fmla="val 15000"/>
            </a:avLst>
          </a:prstGeom>
          <a:solidFill>
            <a:schemeClr val="bg1">
              <a:alpha val="12000"/>
            </a:schemeClr>
          </a:solidFill>
          <a:ln w="9525">
            <a:solidFill>
              <a:schemeClr val="bg1">
                <a:alpha val="30000"/>
              </a:schemeClr>
            </a:solidFill>
            <a:prstDash val="solid"/>
          </a:ln>
        </p:spPr>
      </p:sp>
      <p:sp>
        <p:nvSpPr>
          <p:cNvPr id="14" name="Text 12"/>
          <p:cNvSpPr txBox="1"/>
          <p:nvPr/>
        </p:nvSpPr>
        <p:spPr>
          <a:xfrm>
            <a:off x="3703320" y="5029200"/>
            <a:ext cx="2377440" cy="201168"/>
          </a:xfrm>
          <a:prstGeom prst="rect">
            <a:avLst/>
          </a:prstGeom>
          <a:noFill/>
          <a:ln/>
        </p:spPr>
        <p:txBody>
          <a:bodyPr wrap="square" lIns="0" tIns="0" rIns="0" bIns="0" rtlCol="0" anchor="ctr"/>
          <a:lstStyle/>
          <a:p>
            <a:pPr indent="0" marL="0">
              <a:buNone/>
            </a:pPr>
            <a:r>
              <a:rPr lang="en-US" sz="1000" spc="200" kern="0" dirty="0">
                <a:solidFill>
                  <a:srgbClr val="BFE3F2"/>
                </a:solidFill>
              </a:rPr>
              <a:t>CENTER ID</a:t>
            </a:r>
            <a:endParaRPr lang="en-US" sz="1000" dirty="0"/>
          </a:p>
        </p:txBody>
      </p:sp>
      <p:sp>
        <p:nvSpPr>
          <p:cNvPr id="15" name="Text 13"/>
          <p:cNvSpPr txBox="1"/>
          <p:nvPr/>
        </p:nvSpPr>
        <p:spPr>
          <a:xfrm>
            <a:off x="3703320" y="5239512"/>
            <a:ext cx="2377440" cy="329184"/>
          </a:xfrm>
          <a:prstGeom prst="rect">
            <a:avLst/>
          </a:prstGeom>
          <a:noFill/>
          <a:ln/>
        </p:spPr>
        <p:txBody>
          <a:bodyPr wrap="square" lIns="0" tIns="0" rIns="0" bIns="0" rtlCol="0" anchor="ctr"/>
          <a:lstStyle/>
          <a:p>
            <a:pPr indent="0" marL="0">
              <a:buNone/>
            </a:pPr>
            <a:r>
              <a:rPr lang="en-US" sz="1800" b="1" dirty="0">
                <a:solidFill>
                  <a:schemeClr val="bg1"/>
                </a:solidFill>
              </a:rPr>
              <a:t>TNJPM</a:t>
            </a:r>
            <a:endParaRPr lang="en-US" sz="1800" dirty="0"/>
          </a:p>
        </p:txBody>
      </p:sp>
      <p:sp>
        <p:nvSpPr>
          <p:cNvPr id="16" name="Text 14"/>
          <p:cNvSpPr txBox="1"/>
          <p:nvPr/>
        </p:nvSpPr>
        <p:spPr>
          <a:xfrm>
            <a:off x="640080" y="6080760"/>
            <a:ext cx="5943600" cy="274320"/>
          </a:xfrm>
          <a:prstGeom prst="rect">
            <a:avLst/>
          </a:prstGeom>
          <a:noFill/>
          <a:ln/>
        </p:spPr>
        <p:txBody>
          <a:bodyPr wrap="square" lIns="0" tIns="0" rIns="0" bIns="0" rtlCol="0" anchor="ctr"/>
          <a:lstStyle/>
          <a:p>
            <a:pPr indent="0" marL="0">
              <a:buNone/>
            </a:pPr>
            <a:r>
              <a:rPr lang="en-US" sz="1400" b="1" dirty="0">
                <a:solidFill>
                  <a:schemeClr val="accent3"/>
                </a:solidFill>
              </a:rPr>
              <a:t>Attrition  ·  Payroll  ·  Performance  ·  Engagement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txBox="1"/>
          <p:nvPr>
            <p:ph idx="101" type="title" hasCustomPrompt="1"/>
          </p:nvPr>
        </p:nvSpPr>
        <p:spPr>
          <a:xfrm>
            <a:off x="548640" y="621792"/>
            <a:ext cx="11091672" cy="731520"/>
          </a:xfrm>
          <a:prstGeom prst="rect">
            <a:avLst/>
          </a:prstGeom>
          <a:noFill/>
          <a:ln/>
        </p:spPr>
        <p:txBody>
          <a:bodyPr wrap="square" lIns="0" tIns="0" rIns="0" bIns="0" rtlCol="0" anchor="ctr"/>
          <a:lstStyle/>
          <a:p>
            <a:pPr algn="l" indent="0" marL="0">
              <a:buNone/>
            </a:pPr>
            <a:r>
              <a:rPr lang="en-US" sz="3600" b="1" dirty="0">
                <a:solidFill>
                  <a:schemeClr val="tx1"/>
                </a:solidFill>
              </a:rPr>
              <a:t>Industry Selection</a:t>
            </a:r>
            <a:endParaRPr lang="en-US" sz="3600" dirty="0"/>
          </a:p>
        </p:txBody>
      </p:sp>
      <p:sp>
        <p:nvSpPr>
          <p:cNvPr id="3" name="Text 1"/>
          <p:cNvSpPr txBox="1"/>
          <p:nvPr/>
        </p:nvSpPr>
        <p:spPr>
          <a:xfrm>
            <a:off x="548640" y="329184"/>
            <a:ext cx="77724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STEP 01 OF 11  ·  INDUSTRY SELECTION</a:t>
            </a:r>
            <a:endParaRPr lang="en-US" sz="1200" dirty="0"/>
          </a:p>
        </p:txBody>
      </p:sp>
      <p:sp>
        <p:nvSpPr>
          <p:cNvPr id="4" name="Shape 2"/>
          <p:cNvSpPr/>
          <p:nvPr/>
        </p:nvSpPr>
        <p:spPr>
          <a:xfrm>
            <a:off x="9134856" y="374904"/>
            <a:ext cx="182880" cy="182880"/>
          </a:xfrm>
          <a:prstGeom prst="ellipse">
            <a:avLst/>
          </a:prstGeom>
          <a:solidFill>
            <a:schemeClr val="accent3"/>
          </a:solidFill>
          <a:ln w="3175">
            <a:solidFill>
              <a:schemeClr val="accent3"/>
            </a:solidFill>
            <a:prstDash val="solid"/>
          </a:ln>
        </p:spPr>
      </p:sp>
      <p:sp>
        <p:nvSpPr>
          <p:cNvPr id="5" name="Shape 3"/>
          <p:cNvSpPr/>
          <p:nvPr/>
        </p:nvSpPr>
        <p:spPr>
          <a:xfrm>
            <a:off x="9399118" y="406908"/>
            <a:ext cx="118872" cy="118872"/>
          </a:xfrm>
          <a:prstGeom prst="ellipse">
            <a:avLst/>
          </a:prstGeom>
          <a:solidFill>
            <a:srgbClr val="C4D3DF"/>
          </a:solidFill>
          <a:ln w="3175">
            <a:solidFill>
              <a:srgbClr val="C4D3DF"/>
            </a:solidFill>
            <a:prstDash val="solid"/>
          </a:ln>
        </p:spPr>
      </p:sp>
      <p:sp>
        <p:nvSpPr>
          <p:cNvPr id="6" name="Shape 4"/>
          <p:cNvSpPr/>
          <p:nvPr/>
        </p:nvSpPr>
        <p:spPr>
          <a:xfrm>
            <a:off x="9631375" y="406908"/>
            <a:ext cx="118872" cy="118872"/>
          </a:xfrm>
          <a:prstGeom prst="ellipse">
            <a:avLst/>
          </a:prstGeom>
          <a:solidFill>
            <a:srgbClr val="C4D3DF"/>
          </a:solidFill>
          <a:ln w="3175">
            <a:solidFill>
              <a:srgbClr val="C4D3DF"/>
            </a:solidFill>
            <a:prstDash val="solid"/>
          </a:ln>
        </p:spPr>
      </p:sp>
      <p:sp>
        <p:nvSpPr>
          <p:cNvPr id="7" name="Shape 5"/>
          <p:cNvSpPr/>
          <p:nvPr/>
        </p:nvSpPr>
        <p:spPr>
          <a:xfrm>
            <a:off x="9863633" y="406908"/>
            <a:ext cx="118872" cy="118872"/>
          </a:xfrm>
          <a:prstGeom prst="ellipse">
            <a:avLst/>
          </a:prstGeom>
          <a:solidFill>
            <a:srgbClr val="C4D3DF"/>
          </a:solidFill>
          <a:ln w="3175">
            <a:solidFill>
              <a:srgbClr val="C4D3DF"/>
            </a:solidFill>
            <a:prstDash val="solid"/>
          </a:ln>
        </p:spPr>
      </p:sp>
      <p:sp>
        <p:nvSpPr>
          <p:cNvPr id="8" name="Shape 6"/>
          <p:cNvSpPr/>
          <p:nvPr/>
        </p:nvSpPr>
        <p:spPr>
          <a:xfrm>
            <a:off x="10095890" y="406908"/>
            <a:ext cx="118872" cy="118872"/>
          </a:xfrm>
          <a:prstGeom prst="ellipse">
            <a:avLst/>
          </a:prstGeom>
          <a:solidFill>
            <a:srgbClr val="C4D3DF"/>
          </a:solidFill>
          <a:ln w="3175">
            <a:solidFill>
              <a:srgbClr val="C4D3DF"/>
            </a:solidFill>
            <a:prstDash val="solid"/>
          </a:ln>
        </p:spPr>
      </p:sp>
      <p:sp>
        <p:nvSpPr>
          <p:cNvPr id="9" name="Shape 7"/>
          <p:cNvSpPr/>
          <p:nvPr/>
        </p:nvSpPr>
        <p:spPr>
          <a:xfrm>
            <a:off x="10328148" y="406908"/>
            <a:ext cx="118872" cy="118872"/>
          </a:xfrm>
          <a:prstGeom prst="ellipse">
            <a:avLst/>
          </a:prstGeom>
          <a:solidFill>
            <a:srgbClr val="C4D3DF"/>
          </a:solidFill>
          <a:ln w="3175">
            <a:solidFill>
              <a:srgbClr val="C4D3DF"/>
            </a:solidFill>
            <a:prstDash val="solid"/>
          </a:ln>
        </p:spPr>
      </p:sp>
      <p:sp>
        <p:nvSpPr>
          <p:cNvPr id="10" name="Shape 8"/>
          <p:cNvSpPr/>
          <p:nvPr/>
        </p:nvSpPr>
        <p:spPr>
          <a:xfrm>
            <a:off x="10560406" y="406908"/>
            <a:ext cx="118872" cy="118872"/>
          </a:xfrm>
          <a:prstGeom prst="ellipse">
            <a:avLst/>
          </a:prstGeom>
          <a:solidFill>
            <a:srgbClr val="C4D3DF"/>
          </a:solidFill>
          <a:ln w="3175">
            <a:solidFill>
              <a:srgbClr val="C4D3DF"/>
            </a:solidFill>
            <a:prstDash val="solid"/>
          </a:ln>
        </p:spPr>
      </p:sp>
      <p:sp>
        <p:nvSpPr>
          <p:cNvPr id="11" name="Shape 9"/>
          <p:cNvSpPr/>
          <p:nvPr/>
        </p:nvSpPr>
        <p:spPr>
          <a:xfrm>
            <a:off x="10792663" y="406908"/>
            <a:ext cx="118872" cy="118872"/>
          </a:xfrm>
          <a:prstGeom prst="ellipse">
            <a:avLst/>
          </a:prstGeom>
          <a:solidFill>
            <a:srgbClr val="C4D3DF"/>
          </a:solidFill>
          <a:ln w="3175">
            <a:solidFill>
              <a:srgbClr val="C4D3DF"/>
            </a:solidFill>
            <a:prstDash val="solid"/>
          </a:ln>
        </p:spPr>
      </p:sp>
      <p:sp>
        <p:nvSpPr>
          <p:cNvPr id="12" name="Shape 10"/>
          <p:cNvSpPr/>
          <p:nvPr/>
        </p:nvSpPr>
        <p:spPr>
          <a:xfrm>
            <a:off x="11024921" y="406908"/>
            <a:ext cx="118872" cy="118872"/>
          </a:xfrm>
          <a:prstGeom prst="ellipse">
            <a:avLst/>
          </a:prstGeom>
          <a:solidFill>
            <a:srgbClr val="C4D3DF"/>
          </a:solidFill>
          <a:ln w="3175">
            <a:solidFill>
              <a:srgbClr val="C4D3DF"/>
            </a:solidFill>
            <a:prstDash val="solid"/>
          </a:ln>
        </p:spPr>
      </p:sp>
      <p:sp>
        <p:nvSpPr>
          <p:cNvPr id="13" name="Shape 11"/>
          <p:cNvSpPr/>
          <p:nvPr/>
        </p:nvSpPr>
        <p:spPr>
          <a:xfrm>
            <a:off x="11257178" y="406908"/>
            <a:ext cx="118872" cy="118872"/>
          </a:xfrm>
          <a:prstGeom prst="ellipse">
            <a:avLst/>
          </a:prstGeom>
          <a:solidFill>
            <a:srgbClr val="C4D3DF"/>
          </a:solidFill>
          <a:ln w="3175">
            <a:solidFill>
              <a:srgbClr val="C4D3DF"/>
            </a:solidFill>
            <a:prstDash val="solid"/>
          </a:ln>
        </p:spPr>
      </p:sp>
      <p:sp>
        <p:nvSpPr>
          <p:cNvPr id="14" name="Shape 12"/>
          <p:cNvSpPr/>
          <p:nvPr/>
        </p:nvSpPr>
        <p:spPr>
          <a:xfrm>
            <a:off x="11489436" y="406908"/>
            <a:ext cx="118872" cy="118872"/>
          </a:xfrm>
          <a:prstGeom prst="ellipse">
            <a:avLst/>
          </a:prstGeom>
          <a:solidFill>
            <a:srgbClr val="C4D3DF"/>
          </a:solidFill>
          <a:ln w="3175">
            <a:solidFill>
              <a:srgbClr val="C4D3DF"/>
            </a:solidFill>
            <a:prstDash val="solid"/>
          </a:ln>
        </p:spPr>
      </p:sp>
      <p:sp>
        <p:nvSpPr>
          <p:cNvPr id="16" name="Text 13"/>
          <p:cNvSpPr txBox="1"/>
          <p:nvPr/>
        </p:nvSpPr>
        <p:spPr>
          <a:xfrm>
            <a:off x="548640" y="1554480"/>
            <a:ext cx="5852160" cy="502920"/>
          </a:xfrm>
          <a:prstGeom prst="rect">
            <a:avLst/>
          </a:prstGeom>
          <a:noFill/>
          <a:ln/>
        </p:spPr>
        <p:txBody>
          <a:bodyPr wrap="square" lIns="0" tIns="0" rIns="0" bIns="0" rtlCol="0" anchor="ctr"/>
          <a:lstStyle/>
          <a:p>
            <a:pPr indent="0" marL="0">
              <a:buNone/>
            </a:pPr>
            <a:r>
              <a:rPr lang="en-US" sz="2600" b="1" dirty="0">
                <a:solidFill>
                  <a:schemeClr val="tx2"/>
                </a:solidFill>
              </a:rPr>
              <a:t>Human Resources (HR) Analytics</a:t>
            </a:r>
            <a:endParaRPr lang="en-US" sz="2600" dirty="0"/>
          </a:p>
        </p:txBody>
      </p:sp>
      <p:sp>
        <p:nvSpPr>
          <p:cNvPr id="17" name="Text 14"/>
          <p:cNvSpPr txBox="1"/>
          <p:nvPr/>
        </p:nvSpPr>
        <p:spPr>
          <a:xfrm>
            <a:off x="548640" y="2103120"/>
            <a:ext cx="5760720" cy="731520"/>
          </a:xfrm>
          <a:prstGeom prst="rect">
            <a:avLst/>
          </a:prstGeom>
          <a:noFill/>
          <a:ln/>
        </p:spPr>
        <p:txBody>
          <a:bodyPr wrap="square" lIns="0" tIns="0" rIns="0" bIns="0" rtlCol="0" anchor="ctr"/>
          <a:lstStyle/>
          <a:p>
            <a:pPr indent="0" marL="0">
              <a:buNone/>
            </a:pPr>
            <a:r>
              <a:rPr lang="en-US" sz="1600" dirty="0">
                <a:solidFill>
                  <a:srgbClr val="3E566B"/>
                </a:solidFill>
              </a:rPr>
              <a:t>Every company runs on people. HR analytics turns employee data into clear answers.</a:t>
            </a:r>
            <a:endParaRPr lang="en-US" sz="1600" dirty="0"/>
          </a:p>
        </p:txBody>
      </p:sp>
      <p:sp>
        <p:nvSpPr>
          <p:cNvPr id="18" name="Shape 15"/>
          <p:cNvSpPr/>
          <p:nvPr/>
        </p:nvSpPr>
        <p:spPr>
          <a:xfrm>
            <a:off x="548640" y="3017520"/>
            <a:ext cx="5760720" cy="914400"/>
          </a:xfrm>
          <a:prstGeom prst="roundRect">
            <a:avLst>
              <a:gd name="adj" fmla="val 14000"/>
            </a:avLst>
          </a:prstGeom>
          <a:solidFill>
            <a:schemeClr val="bg1"/>
          </a:solidFill>
          <a:ln w="9525">
            <a:solidFill>
              <a:srgbClr val="D5E3EE"/>
            </a:solidFill>
            <a:prstDash val="solid"/>
          </a:ln>
          <a:effectLst>
            <a:outerShdw sx="100000" sy="100000" kx="0" ky="0" algn="bl" rotWithShape="0" blurRad="127000" dist="38100" dir="5400000">
              <a:srgbClr val="0B2545">
                <a:alpha val="14000"/>
              </a:srgbClr>
            </a:outerShdw>
          </a:effectLst>
        </p:spPr>
      </p:sp>
      <p:sp>
        <p:nvSpPr>
          <p:cNvPr id="19" name="Shape 16"/>
          <p:cNvSpPr/>
          <p:nvPr/>
        </p:nvSpPr>
        <p:spPr>
          <a:xfrm>
            <a:off x="731520" y="3154680"/>
            <a:ext cx="640080" cy="640080"/>
          </a:xfrm>
          <a:prstGeom prst="ellipse">
            <a:avLst/>
          </a:prstGeom>
          <a:solidFill>
            <a:schemeClr val="accent1"/>
          </a:solidFill>
          <a:ln w="6350">
            <a:solidFill>
              <a:schemeClr val="accent1"/>
            </a:solidFill>
            <a:prstDash val="solid"/>
          </a:ln>
        </p:spPr>
      </p:sp>
      <p:pic>
        <p:nvPicPr>
          <p:cNvPr id="20" name="Image 0" descr="preencoded.png">    </p:cNvPr>
          <p:cNvPicPr>
            <a:picLocks noChangeAspect="1"/>
          </p:cNvPicPr>
          <p:nvPr/>
        </p:nvPicPr>
        <p:blipFill>
          <a:blip r:embed="rId1"/>
          <a:stretch>
            <a:fillRect/>
          </a:stretch>
        </p:blipFill>
        <p:spPr>
          <a:xfrm>
            <a:off x="885139" y="3308299"/>
            <a:ext cx="332842" cy="332842"/>
          </a:xfrm>
          <a:prstGeom prst="rect">
            <a:avLst/>
          </a:prstGeom>
        </p:spPr>
      </p:pic>
      <p:sp>
        <p:nvSpPr>
          <p:cNvPr id="21" name="Text 17"/>
          <p:cNvSpPr txBox="1"/>
          <p:nvPr/>
        </p:nvSpPr>
        <p:spPr>
          <a:xfrm>
            <a:off x="1554480" y="3154680"/>
            <a:ext cx="4572000" cy="347472"/>
          </a:xfrm>
          <a:prstGeom prst="rect">
            <a:avLst/>
          </a:prstGeom>
          <a:noFill/>
          <a:ln/>
        </p:spPr>
        <p:txBody>
          <a:bodyPr wrap="square" lIns="0" tIns="0" rIns="0" bIns="0" rtlCol="0" anchor="ctr"/>
          <a:lstStyle/>
          <a:p>
            <a:pPr indent="0" marL="0">
              <a:buNone/>
            </a:pPr>
            <a:r>
              <a:rPr lang="en-US" sz="1800" b="1" dirty="0">
                <a:solidFill>
                  <a:schemeClr val="tx1"/>
                </a:solidFill>
              </a:rPr>
              <a:t>People are the biggest asset</a:t>
            </a:r>
            <a:endParaRPr lang="en-US" sz="1800" dirty="0"/>
          </a:p>
        </p:txBody>
      </p:sp>
      <p:sp>
        <p:nvSpPr>
          <p:cNvPr id="22" name="Text 18"/>
          <p:cNvSpPr txBox="1"/>
          <p:nvPr/>
        </p:nvSpPr>
        <p:spPr>
          <a:xfrm>
            <a:off x="1554480" y="3511296"/>
            <a:ext cx="4572000" cy="292608"/>
          </a:xfrm>
          <a:prstGeom prst="rect">
            <a:avLst/>
          </a:prstGeom>
          <a:noFill/>
          <a:ln/>
        </p:spPr>
        <p:txBody>
          <a:bodyPr wrap="square" lIns="0" tIns="0" rIns="0" bIns="0" rtlCol="0" anchor="ctr"/>
          <a:lstStyle/>
          <a:p>
            <a:pPr indent="0" marL="0">
              <a:buNone/>
            </a:pPr>
            <a:r>
              <a:rPr lang="en-US" sz="1400" dirty="0">
                <a:solidFill>
                  <a:srgbClr val="5B7083"/>
                </a:solidFill>
              </a:rPr>
              <a:t>Hiring, paying and keeping staff costs a lot.</a:t>
            </a:r>
            <a:endParaRPr lang="en-US" sz="1400" dirty="0"/>
          </a:p>
        </p:txBody>
      </p:sp>
      <p:sp>
        <p:nvSpPr>
          <p:cNvPr id="23" name="Shape 19"/>
          <p:cNvSpPr/>
          <p:nvPr/>
        </p:nvSpPr>
        <p:spPr>
          <a:xfrm>
            <a:off x="548640" y="4096512"/>
            <a:ext cx="5760720" cy="914400"/>
          </a:xfrm>
          <a:prstGeom prst="roundRect">
            <a:avLst>
              <a:gd name="adj" fmla="val 14000"/>
            </a:avLst>
          </a:prstGeom>
          <a:solidFill>
            <a:schemeClr val="bg1"/>
          </a:solidFill>
          <a:ln w="9525">
            <a:solidFill>
              <a:srgbClr val="D5E3EE"/>
            </a:solidFill>
            <a:prstDash val="solid"/>
          </a:ln>
          <a:effectLst>
            <a:outerShdw sx="100000" sy="100000" kx="0" ky="0" algn="bl" rotWithShape="0" blurRad="127000" dist="38100" dir="5400000">
              <a:srgbClr val="0B2545">
                <a:alpha val="14000"/>
              </a:srgbClr>
            </a:outerShdw>
          </a:effectLst>
        </p:spPr>
      </p:sp>
      <p:sp>
        <p:nvSpPr>
          <p:cNvPr id="24" name="Shape 20"/>
          <p:cNvSpPr/>
          <p:nvPr/>
        </p:nvSpPr>
        <p:spPr>
          <a:xfrm>
            <a:off x="731520" y="4233672"/>
            <a:ext cx="640080" cy="640080"/>
          </a:xfrm>
          <a:prstGeom prst="ellipse">
            <a:avLst/>
          </a:prstGeom>
          <a:solidFill>
            <a:schemeClr val="accent1"/>
          </a:solidFill>
          <a:ln w="6350">
            <a:solidFill>
              <a:schemeClr val="accent1"/>
            </a:solidFill>
            <a:prstDash val="solid"/>
          </a:ln>
        </p:spPr>
      </p:sp>
      <p:pic>
        <p:nvPicPr>
          <p:cNvPr id="25" name="Image 1" descr="preencoded.png">    </p:cNvPr>
          <p:cNvPicPr>
            <a:picLocks noChangeAspect="1"/>
          </p:cNvPicPr>
          <p:nvPr/>
        </p:nvPicPr>
        <p:blipFill>
          <a:blip r:embed="rId2"/>
          <a:stretch>
            <a:fillRect/>
          </a:stretch>
        </p:blipFill>
        <p:spPr>
          <a:xfrm>
            <a:off x="885139" y="4387291"/>
            <a:ext cx="332842" cy="332842"/>
          </a:xfrm>
          <a:prstGeom prst="rect">
            <a:avLst/>
          </a:prstGeom>
        </p:spPr>
      </p:pic>
      <p:sp>
        <p:nvSpPr>
          <p:cNvPr id="26" name="Text 21"/>
          <p:cNvSpPr txBox="1"/>
          <p:nvPr/>
        </p:nvSpPr>
        <p:spPr>
          <a:xfrm>
            <a:off x="1554480" y="4233672"/>
            <a:ext cx="4572000" cy="347472"/>
          </a:xfrm>
          <a:prstGeom prst="rect">
            <a:avLst/>
          </a:prstGeom>
          <a:noFill/>
          <a:ln/>
        </p:spPr>
        <p:txBody>
          <a:bodyPr wrap="square" lIns="0" tIns="0" rIns="0" bIns="0" rtlCol="0" anchor="ctr"/>
          <a:lstStyle/>
          <a:p>
            <a:pPr indent="0" marL="0">
              <a:buNone/>
            </a:pPr>
            <a:r>
              <a:rPr lang="en-US" sz="1800" b="1" dirty="0">
                <a:solidFill>
                  <a:schemeClr val="tx1"/>
                </a:solidFill>
              </a:rPr>
              <a:t>Attrition is expensive</a:t>
            </a:r>
            <a:endParaRPr lang="en-US" sz="1800" dirty="0"/>
          </a:p>
        </p:txBody>
      </p:sp>
      <p:sp>
        <p:nvSpPr>
          <p:cNvPr id="27" name="Text 22"/>
          <p:cNvSpPr txBox="1"/>
          <p:nvPr/>
        </p:nvSpPr>
        <p:spPr>
          <a:xfrm>
            <a:off x="1554480" y="4590288"/>
            <a:ext cx="4572000" cy="292608"/>
          </a:xfrm>
          <a:prstGeom prst="rect">
            <a:avLst/>
          </a:prstGeom>
          <a:noFill/>
          <a:ln/>
        </p:spPr>
        <p:txBody>
          <a:bodyPr wrap="square" lIns="0" tIns="0" rIns="0" bIns="0" rtlCol="0" anchor="ctr"/>
          <a:lstStyle/>
          <a:p>
            <a:pPr indent="0" marL="0">
              <a:buNone/>
            </a:pPr>
            <a:r>
              <a:rPr lang="en-US" sz="1400" dirty="0">
                <a:solidFill>
                  <a:srgbClr val="5B7083"/>
                </a:solidFill>
              </a:rPr>
              <a:t>When people leave, skills and money leave too.</a:t>
            </a:r>
            <a:endParaRPr lang="en-US" sz="1400" dirty="0"/>
          </a:p>
        </p:txBody>
      </p:sp>
      <p:sp>
        <p:nvSpPr>
          <p:cNvPr id="28" name="Shape 23"/>
          <p:cNvSpPr/>
          <p:nvPr/>
        </p:nvSpPr>
        <p:spPr>
          <a:xfrm>
            <a:off x="548640" y="5175504"/>
            <a:ext cx="5760720" cy="914400"/>
          </a:xfrm>
          <a:prstGeom prst="roundRect">
            <a:avLst>
              <a:gd name="adj" fmla="val 14000"/>
            </a:avLst>
          </a:prstGeom>
          <a:solidFill>
            <a:schemeClr val="bg1"/>
          </a:solidFill>
          <a:ln w="9525">
            <a:solidFill>
              <a:srgbClr val="D5E3EE"/>
            </a:solidFill>
            <a:prstDash val="solid"/>
          </a:ln>
          <a:effectLst>
            <a:outerShdw sx="100000" sy="100000" kx="0" ky="0" algn="bl" rotWithShape="0" blurRad="127000" dist="38100" dir="5400000">
              <a:srgbClr val="0B2545">
                <a:alpha val="14000"/>
              </a:srgbClr>
            </a:outerShdw>
          </a:effectLst>
        </p:spPr>
      </p:sp>
      <p:sp>
        <p:nvSpPr>
          <p:cNvPr id="29" name="Shape 24"/>
          <p:cNvSpPr/>
          <p:nvPr/>
        </p:nvSpPr>
        <p:spPr>
          <a:xfrm>
            <a:off x="731520" y="5312664"/>
            <a:ext cx="640080" cy="640080"/>
          </a:xfrm>
          <a:prstGeom prst="ellipse">
            <a:avLst/>
          </a:prstGeom>
          <a:solidFill>
            <a:schemeClr val="accent1"/>
          </a:solidFill>
          <a:ln w="6350">
            <a:solidFill>
              <a:schemeClr val="accent1"/>
            </a:solidFill>
            <a:prstDash val="solid"/>
          </a:ln>
        </p:spPr>
      </p:sp>
      <p:pic>
        <p:nvPicPr>
          <p:cNvPr id="30" name="Image 2" descr="preencoded.png">    </p:cNvPr>
          <p:cNvPicPr>
            <a:picLocks noChangeAspect="1"/>
          </p:cNvPicPr>
          <p:nvPr/>
        </p:nvPicPr>
        <p:blipFill>
          <a:blip r:embed="rId3"/>
          <a:stretch>
            <a:fillRect/>
          </a:stretch>
        </p:blipFill>
        <p:spPr>
          <a:xfrm>
            <a:off x="885139" y="5466283"/>
            <a:ext cx="332842" cy="332842"/>
          </a:xfrm>
          <a:prstGeom prst="rect">
            <a:avLst/>
          </a:prstGeom>
        </p:spPr>
      </p:pic>
      <p:sp>
        <p:nvSpPr>
          <p:cNvPr id="31" name="Text 25"/>
          <p:cNvSpPr txBox="1"/>
          <p:nvPr/>
        </p:nvSpPr>
        <p:spPr>
          <a:xfrm>
            <a:off x="1554480" y="5312664"/>
            <a:ext cx="4572000" cy="347472"/>
          </a:xfrm>
          <a:prstGeom prst="rect">
            <a:avLst/>
          </a:prstGeom>
          <a:noFill/>
          <a:ln/>
        </p:spPr>
        <p:txBody>
          <a:bodyPr wrap="square" lIns="0" tIns="0" rIns="0" bIns="0" rtlCol="0" anchor="ctr"/>
          <a:lstStyle/>
          <a:p>
            <a:pPr indent="0" marL="0">
              <a:buNone/>
            </a:pPr>
            <a:r>
              <a:rPr lang="en-US" sz="1800" b="1" dirty="0">
                <a:solidFill>
                  <a:schemeClr val="tx1"/>
                </a:solidFill>
              </a:rPr>
              <a:t>Data guides decisions</a:t>
            </a:r>
            <a:endParaRPr lang="en-US" sz="1800" dirty="0"/>
          </a:p>
        </p:txBody>
      </p:sp>
      <p:sp>
        <p:nvSpPr>
          <p:cNvPr id="32" name="Text 26"/>
          <p:cNvSpPr txBox="1"/>
          <p:nvPr/>
        </p:nvSpPr>
        <p:spPr>
          <a:xfrm>
            <a:off x="1554480" y="5669280"/>
            <a:ext cx="4572000" cy="292608"/>
          </a:xfrm>
          <a:prstGeom prst="rect">
            <a:avLst/>
          </a:prstGeom>
          <a:noFill/>
          <a:ln/>
        </p:spPr>
        <p:txBody>
          <a:bodyPr wrap="square" lIns="0" tIns="0" rIns="0" bIns="0" rtlCol="0" anchor="ctr"/>
          <a:lstStyle/>
          <a:p>
            <a:pPr indent="0" marL="0">
              <a:buNone/>
            </a:pPr>
            <a:r>
              <a:rPr lang="en-US" sz="1400" dirty="0">
                <a:solidFill>
                  <a:srgbClr val="5B7083"/>
                </a:solidFill>
              </a:rPr>
              <a:t>Dashboards show HR where to act.</a:t>
            </a:r>
            <a:endParaRPr lang="en-US" sz="1400" dirty="0"/>
          </a:p>
        </p:txBody>
      </p:sp>
      <p:sp>
        <p:nvSpPr>
          <p:cNvPr id="33" name="Shape 27"/>
          <p:cNvSpPr/>
          <p:nvPr/>
        </p:nvSpPr>
        <p:spPr>
          <a:xfrm>
            <a:off x="6766560" y="1554480"/>
            <a:ext cx="4873752" cy="4663440"/>
          </a:xfrm>
          <a:prstGeom prst="roundRect">
            <a:avLst>
              <a:gd name="adj" fmla="val 3137"/>
            </a:avLst>
          </a:prstGeom>
          <a:solidFill>
            <a:schemeClr val="tx1"/>
          </a:solidFill>
          <a:ln w="9525">
            <a:solidFill>
              <a:schemeClr val="tx2"/>
            </a:solidFill>
            <a:prstDash val="solid"/>
          </a:ln>
          <a:effectLst>
            <a:outerShdw sx="100000" sy="100000" kx="0" ky="0" algn="bl" rotWithShape="0" blurRad="127000" dist="38100" dir="5400000">
              <a:srgbClr val="0B2545">
                <a:alpha val="14000"/>
              </a:srgbClr>
            </a:outerShdw>
          </a:effectLst>
        </p:spPr>
      </p:sp>
      <p:sp>
        <p:nvSpPr>
          <p:cNvPr id="34" name="Shape 28"/>
          <p:cNvSpPr/>
          <p:nvPr/>
        </p:nvSpPr>
        <p:spPr>
          <a:xfrm>
            <a:off x="7040880" y="1828800"/>
            <a:ext cx="2103120" cy="1965960"/>
          </a:xfrm>
          <a:prstGeom prst="roundRect">
            <a:avLst>
              <a:gd name="adj" fmla="val 6512"/>
            </a:avLst>
          </a:prstGeom>
          <a:solidFill>
            <a:schemeClr val="tx2"/>
          </a:solidFill>
          <a:ln w="9525">
            <a:solidFill>
              <a:schemeClr val="accent1"/>
            </a:solidFill>
            <a:prstDash val="solid"/>
          </a:ln>
        </p:spPr>
      </p:sp>
      <p:sp>
        <p:nvSpPr>
          <p:cNvPr id="35" name="Shape 29"/>
          <p:cNvSpPr/>
          <p:nvPr/>
        </p:nvSpPr>
        <p:spPr>
          <a:xfrm>
            <a:off x="7223760" y="2011680"/>
            <a:ext cx="502920" cy="502920"/>
          </a:xfrm>
          <a:prstGeom prst="ellipse">
            <a:avLst/>
          </a:prstGeom>
          <a:solidFill>
            <a:schemeClr val="accent3"/>
          </a:solidFill>
          <a:ln w="6350">
            <a:solidFill>
              <a:schemeClr val="accent3"/>
            </a:solidFill>
            <a:prstDash val="solid"/>
          </a:ln>
        </p:spPr>
      </p:sp>
      <p:pic>
        <p:nvPicPr>
          <p:cNvPr id="36" name="Image 3" descr="preencoded.png">    </p:cNvPr>
          <p:cNvPicPr>
            <a:picLocks noChangeAspect="1"/>
          </p:cNvPicPr>
          <p:nvPr/>
        </p:nvPicPr>
        <p:blipFill>
          <a:blip r:embed="rId4"/>
          <a:stretch>
            <a:fillRect/>
          </a:stretch>
        </p:blipFill>
        <p:spPr>
          <a:xfrm>
            <a:off x="7344461" y="2132381"/>
            <a:ext cx="261518" cy="261518"/>
          </a:xfrm>
          <a:prstGeom prst="rect">
            <a:avLst/>
          </a:prstGeom>
        </p:spPr>
      </p:pic>
      <p:sp>
        <p:nvSpPr>
          <p:cNvPr id="37" name="Text 30"/>
          <p:cNvSpPr txBox="1"/>
          <p:nvPr/>
        </p:nvSpPr>
        <p:spPr>
          <a:xfrm>
            <a:off x="7223760" y="2633472"/>
            <a:ext cx="1783080" cy="640080"/>
          </a:xfrm>
          <a:prstGeom prst="rect">
            <a:avLst/>
          </a:prstGeom>
          <a:noFill/>
          <a:ln/>
        </p:spPr>
        <p:txBody>
          <a:bodyPr wrap="square" lIns="0" tIns="0" rIns="0" bIns="0" rtlCol="0" anchor="ctr"/>
          <a:lstStyle/>
          <a:p>
            <a:pPr indent="0" marL="0">
              <a:buNone/>
            </a:pPr>
            <a:r>
              <a:rPr lang="en-US" sz="4000" b="1" dirty="0">
                <a:solidFill>
                  <a:schemeClr val="bg1"/>
                </a:solidFill>
              </a:rPr>
              <a:t>3,400</a:t>
            </a:r>
            <a:endParaRPr lang="en-US" sz="4000" dirty="0"/>
          </a:p>
        </p:txBody>
      </p:sp>
      <p:sp>
        <p:nvSpPr>
          <p:cNvPr id="38" name="Text 31"/>
          <p:cNvSpPr txBox="1"/>
          <p:nvPr/>
        </p:nvSpPr>
        <p:spPr>
          <a:xfrm>
            <a:off x="7223760" y="3246120"/>
            <a:ext cx="1783080" cy="274320"/>
          </a:xfrm>
          <a:prstGeom prst="rect">
            <a:avLst/>
          </a:prstGeom>
          <a:noFill/>
          <a:ln/>
        </p:spPr>
        <p:txBody>
          <a:bodyPr wrap="square" lIns="0" tIns="0" rIns="0" bIns="0" rtlCol="0" anchor="ctr"/>
          <a:lstStyle/>
          <a:p>
            <a:pPr indent="0" marL="0">
              <a:buNone/>
            </a:pPr>
            <a:r>
              <a:rPr lang="en-US" sz="1400" dirty="0">
                <a:solidFill>
                  <a:srgbClr val="BFE3F2"/>
                </a:solidFill>
              </a:rPr>
              <a:t>Employees</a:t>
            </a:r>
            <a:endParaRPr lang="en-US" sz="1400" dirty="0"/>
          </a:p>
        </p:txBody>
      </p:sp>
      <p:sp>
        <p:nvSpPr>
          <p:cNvPr id="39" name="Shape 32"/>
          <p:cNvSpPr/>
          <p:nvPr/>
        </p:nvSpPr>
        <p:spPr>
          <a:xfrm>
            <a:off x="9326880" y="1828800"/>
            <a:ext cx="2103120" cy="1965960"/>
          </a:xfrm>
          <a:prstGeom prst="roundRect">
            <a:avLst>
              <a:gd name="adj" fmla="val 6512"/>
            </a:avLst>
          </a:prstGeom>
          <a:solidFill>
            <a:schemeClr val="tx2"/>
          </a:solidFill>
          <a:ln w="9525">
            <a:solidFill>
              <a:schemeClr val="accent1"/>
            </a:solidFill>
            <a:prstDash val="solid"/>
          </a:ln>
        </p:spPr>
      </p:sp>
      <p:sp>
        <p:nvSpPr>
          <p:cNvPr id="40" name="Shape 33"/>
          <p:cNvSpPr/>
          <p:nvPr/>
        </p:nvSpPr>
        <p:spPr>
          <a:xfrm>
            <a:off x="9509760" y="2011680"/>
            <a:ext cx="502920" cy="502920"/>
          </a:xfrm>
          <a:prstGeom prst="ellipse">
            <a:avLst/>
          </a:prstGeom>
          <a:solidFill>
            <a:schemeClr val="accent3"/>
          </a:solidFill>
          <a:ln w="6350">
            <a:solidFill>
              <a:schemeClr val="accent3"/>
            </a:solidFill>
            <a:prstDash val="solid"/>
          </a:ln>
        </p:spPr>
      </p:sp>
      <p:pic>
        <p:nvPicPr>
          <p:cNvPr id="41" name="Image 4" descr="preencoded.png">    </p:cNvPr>
          <p:cNvPicPr>
            <a:picLocks noChangeAspect="1"/>
          </p:cNvPicPr>
          <p:nvPr/>
        </p:nvPicPr>
        <p:blipFill>
          <a:blip r:embed="rId5"/>
          <a:stretch>
            <a:fillRect/>
          </a:stretch>
        </p:blipFill>
        <p:spPr>
          <a:xfrm>
            <a:off x="9630461" y="2132381"/>
            <a:ext cx="261518" cy="261518"/>
          </a:xfrm>
          <a:prstGeom prst="rect">
            <a:avLst/>
          </a:prstGeom>
        </p:spPr>
      </p:pic>
      <p:sp>
        <p:nvSpPr>
          <p:cNvPr id="42" name="Text 34"/>
          <p:cNvSpPr txBox="1"/>
          <p:nvPr/>
        </p:nvSpPr>
        <p:spPr>
          <a:xfrm>
            <a:off x="9509760" y="2633472"/>
            <a:ext cx="1783080" cy="640080"/>
          </a:xfrm>
          <a:prstGeom prst="rect">
            <a:avLst/>
          </a:prstGeom>
          <a:noFill/>
          <a:ln/>
        </p:spPr>
        <p:txBody>
          <a:bodyPr wrap="square" lIns="0" tIns="0" rIns="0" bIns="0" rtlCol="0" anchor="ctr"/>
          <a:lstStyle/>
          <a:p>
            <a:pPr indent="0" marL="0">
              <a:buNone/>
            </a:pPr>
            <a:r>
              <a:rPr lang="en-US" sz="4000" b="1" dirty="0">
                <a:solidFill>
                  <a:schemeClr val="bg1"/>
                </a:solidFill>
              </a:rPr>
              <a:t>5</a:t>
            </a:r>
            <a:endParaRPr lang="en-US" sz="4000" dirty="0"/>
          </a:p>
        </p:txBody>
      </p:sp>
      <p:sp>
        <p:nvSpPr>
          <p:cNvPr id="43" name="Text 35"/>
          <p:cNvSpPr txBox="1"/>
          <p:nvPr/>
        </p:nvSpPr>
        <p:spPr>
          <a:xfrm>
            <a:off x="9509760" y="3246120"/>
            <a:ext cx="1783080" cy="274320"/>
          </a:xfrm>
          <a:prstGeom prst="rect">
            <a:avLst/>
          </a:prstGeom>
          <a:noFill/>
          <a:ln/>
        </p:spPr>
        <p:txBody>
          <a:bodyPr wrap="square" lIns="0" tIns="0" rIns="0" bIns="0" rtlCol="0" anchor="ctr"/>
          <a:lstStyle/>
          <a:p>
            <a:pPr indent="0" marL="0">
              <a:buNone/>
            </a:pPr>
            <a:r>
              <a:rPr lang="en-US" sz="1400" dirty="0">
                <a:solidFill>
                  <a:srgbClr val="BFE3F2"/>
                </a:solidFill>
              </a:rPr>
              <a:t>Departments</a:t>
            </a:r>
            <a:endParaRPr lang="en-US" sz="1400" dirty="0"/>
          </a:p>
        </p:txBody>
      </p:sp>
      <p:sp>
        <p:nvSpPr>
          <p:cNvPr id="44" name="Shape 36"/>
          <p:cNvSpPr/>
          <p:nvPr/>
        </p:nvSpPr>
        <p:spPr>
          <a:xfrm>
            <a:off x="7040880" y="3977640"/>
            <a:ext cx="2103120" cy="1965960"/>
          </a:xfrm>
          <a:prstGeom prst="roundRect">
            <a:avLst>
              <a:gd name="adj" fmla="val 6512"/>
            </a:avLst>
          </a:prstGeom>
          <a:solidFill>
            <a:schemeClr val="tx2"/>
          </a:solidFill>
          <a:ln w="9525">
            <a:solidFill>
              <a:schemeClr val="accent1"/>
            </a:solidFill>
            <a:prstDash val="solid"/>
          </a:ln>
        </p:spPr>
      </p:sp>
      <p:sp>
        <p:nvSpPr>
          <p:cNvPr id="45" name="Shape 37"/>
          <p:cNvSpPr/>
          <p:nvPr/>
        </p:nvSpPr>
        <p:spPr>
          <a:xfrm>
            <a:off x="7223760" y="4160520"/>
            <a:ext cx="502920" cy="502920"/>
          </a:xfrm>
          <a:prstGeom prst="ellipse">
            <a:avLst/>
          </a:prstGeom>
          <a:solidFill>
            <a:schemeClr val="accent3"/>
          </a:solidFill>
          <a:ln w="6350">
            <a:solidFill>
              <a:schemeClr val="accent3"/>
            </a:solidFill>
            <a:prstDash val="solid"/>
          </a:ln>
        </p:spPr>
      </p:sp>
      <p:pic>
        <p:nvPicPr>
          <p:cNvPr id="46" name="Image 5" descr="preencoded.png">    </p:cNvPr>
          <p:cNvPicPr>
            <a:picLocks noChangeAspect="1"/>
          </p:cNvPicPr>
          <p:nvPr/>
        </p:nvPicPr>
        <p:blipFill>
          <a:blip r:embed="rId6"/>
          <a:stretch>
            <a:fillRect/>
          </a:stretch>
        </p:blipFill>
        <p:spPr>
          <a:xfrm>
            <a:off x="7344461" y="4281221"/>
            <a:ext cx="261518" cy="261518"/>
          </a:xfrm>
          <a:prstGeom prst="rect">
            <a:avLst/>
          </a:prstGeom>
        </p:spPr>
      </p:pic>
      <p:sp>
        <p:nvSpPr>
          <p:cNvPr id="47" name="Text 38"/>
          <p:cNvSpPr txBox="1"/>
          <p:nvPr/>
        </p:nvSpPr>
        <p:spPr>
          <a:xfrm>
            <a:off x="7223760" y="4782312"/>
            <a:ext cx="1783080" cy="640080"/>
          </a:xfrm>
          <a:prstGeom prst="rect">
            <a:avLst/>
          </a:prstGeom>
          <a:noFill/>
          <a:ln/>
        </p:spPr>
        <p:txBody>
          <a:bodyPr wrap="square" lIns="0" tIns="0" rIns="0" bIns="0" rtlCol="0" anchor="ctr"/>
          <a:lstStyle/>
          <a:p>
            <a:pPr indent="0" marL="0">
              <a:buNone/>
            </a:pPr>
            <a:r>
              <a:rPr lang="en-US" sz="4000" b="1" dirty="0">
                <a:solidFill>
                  <a:schemeClr val="bg1"/>
                </a:solidFill>
              </a:rPr>
              <a:t>5</a:t>
            </a:r>
            <a:endParaRPr lang="en-US" sz="4000" dirty="0"/>
          </a:p>
        </p:txBody>
      </p:sp>
      <p:sp>
        <p:nvSpPr>
          <p:cNvPr id="48" name="Text 39"/>
          <p:cNvSpPr txBox="1"/>
          <p:nvPr/>
        </p:nvSpPr>
        <p:spPr>
          <a:xfrm>
            <a:off x="7223760" y="5394960"/>
            <a:ext cx="1783080" cy="274320"/>
          </a:xfrm>
          <a:prstGeom prst="rect">
            <a:avLst/>
          </a:prstGeom>
          <a:noFill/>
          <a:ln/>
        </p:spPr>
        <p:txBody>
          <a:bodyPr wrap="square" lIns="0" tIns="0" rIns="0" bIns="0" rtlCol="0" anchor="ctr"/>
          <a:lstStyle/>
          <a:p>
            <a:pPr indent="0" marL="0">
              <a:buNone/>
            </a:pPr>
            <a:r>
              <a:rPr lang="en-US" sz="1400" dirty="0">
                <a:solidFill>
                  <a:srgbClr val="BFE3F2"/>
                </a:solidFill>
              </a:rPr>
              <a:t>Job Roles</a:t>
            </a:r>
            <a:endParaRPr lang="en-US" sz="1400" dirty="0"/>
          </a:p>
        </p:txBody>
      </p:sp>
      <p:sp>
        <p:nvSpPr>
          <p:cNvPr id="49" name="Shape 40"/>
          <p:cNvSpPr/>
          <p:nvPr/>
        </p:nvSpPr>
        <p:spPr>
          <a:xfrm>
            <a:off x="9326880" y="3977640"/>
            <a:ext cx="2103120" cy="1965960"/>
          </a:xfrm>
          <a:prstGeom prst="roundRect">
            <a:avLst>
              <a:gd name="adj" fmla="val 6512"/>
            </a:avLst>
          </a:prstGeom>
          <a:solidFill>
            <a:schemeClr val="tx2"/>
          </a:solidFill>
          <a:ln w="9525">
            <a:solidFill>
              <a:schemeClr val="accent1"/>
            </a:solidFill>
            <a:prstDash val="solid"/>
          </a:ln>
        </p:spPr>
      </p:sp>
      <p:sp>
        <p:nvSpPr>
          <p:cNvPr id="50" name="Shape 41"/>
          <p:cNvSpPr/>
          <p:nvPr/>
        </p:nvSpPr>
        <p:spPr>
          <a:xfrm>
            <a:off x="9509760" y="4160520"/>
            <a:ext cx="502920" cy="502920"/>
          </a:xfrm>
          <a:prstGeom prst="ellipse">
            <a:avLst/>
          </a:prstGeom>
          <a:solidFill>
            <a:schemeClr val="accent3"/>
          </a:solidFill>
          <a:ln w="6350">
            <a:solidFill>
              <a:schemeClr val="accent3"/>
            </a:solidFill>
            <a:prstDash val="solid"/>
          </a:ln>
        </p:spPr>
      </p:sp>
      <p:pic>
        <p:nvPicPr>
          <p:cNvPr id="51" name="Image 6" descr="preencoded.png">    </p:cNvPr>
          <p:cNvPicPr>
            <a:picLocks noChangeAspect="1"/>
          </p:cNvPicPr>
          <p:nvPr/>
        </p:nvPicPr>
        <p:blipFill>
          <a:blip r:embed="rId7"/>
          <a:stretch>
            <a:fillRect/>
          </a:stretch>
        </p:blipFill>
        <p:spPr>
          <a:xfrm>
            <a:off x="9630461" y="4281221"/>
            <a:ext cx="261518" cy="261518"/>
          </a:xfrm>
          <a:prstGeom prst="rect">
            <a:avLst/>
          </a:prstGeom>
        </p:spPr>
      </p:pic>
      <p:sp>
        <p:nvSpPr>
          <p:cNvPr id="52" name="Text 42"/>
          <p:cNvSpPr txBox="1"/>
          <p:nvPr/>
        </p:nvSpPr>
        <p:spPr>
          <a:xfrm>
            <a:off x="9509760" y="4782312"/>
            <a:ext cx="1783080" cy="640080"/>
          </a:xfrm>
          <a:prstGeom prst="rect">
            <a:avLst/>
          </a:prstGeom>
          <a:noFill/>
          <a:ln/>
        </p:spPr>
        <p:txBody>
          <a:bodyPr wrap="square" lIns="0" tIns="0" rIns="0" bIns="0" rtlCol="0" anchor="ctr"/>
          <a:lstStyle/>
          <a:p>
            <a:pPr indent="0" marL="0">
              <a:buNone/>
            </a:pPr>
            <a:r>
              <a:rPr lang="en-US" sz="4000" b="1" dirty="0">
                <a:solidFill>
                  <a:schemeClr val="bg1"/>
                </a:solidFill>
              </a:rPr>
              <a:t>5</a:t>
            </a:r>
            <a:endParaRPr lang="en-US" sz="4000" dirty="0"/>
          </a:p>
        </p:txBody>
      </p:sp>
      <p:sp>
        <p:nvSpPr>
          <p:cNvPr id="53" name="Text 43"/>
          <p:cNvSpPr txBox="1"/>
          <p:nvPr/>
        </p:nvSpPr>
        <p:spPr>
          <a:xfrm>
            <a:off x="9509760" y="5394960"/>
            <a:ext cx="1783080" cy="274320"/>
          </a:xfrm>
          <a:prstGeom prst="rect">
            <a:avLst/>
          </a:prstGeom>
          <a:noFill/>
          <a:ln/>
        </p:spPr>
        <p:txBody>
          <a:bodyPr wrap="square" lIns="0" tIns="0" rIns="0" bIns="0" rtlCol="0" anchor="ctr"/>
          <a:lstStyle/>
          <a:p>
            <a:pPr indent="0" marL="0">
              <a:buNone/>
            </a:pPr>
            <a:r>
              <a:rPr lang="en-US" sz="1400" dirty="0">
                <a:solidFill>
                  <a:srgbClr val="BFE3F2"/>
                </a:solidFill>
              </a:rPr>
              <a:t>Education Levels</a:t>
            </a:r>
            <a:endParaRPr lang="en-US" sz="14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9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txBox="1"/>
          <p:nvPr>
            <p:ph idx="101" type="title" hasCustomPrompt="1"/>
          </p:nvPr>
        </p:nvSpPr>
        <p:spPr>
          <a:xfrm>
            <a:off x="548640" y="621792"/>
            <a:ext cx="11091672" cy="731520"/>
          </a:xfrm>
          <a:prstGeom prst="rect">
            <a:avLst/>
          </a:prstGeom>
          <a:noFill/>
          <a:ln/>
        </p:spPr>
        <p:txBody>
          <a:bodyPr wrap="square" lIns="0" tIns="0" rIns="0" bIns="0" rtlCol="0" anchor="ctr"/>
          <a:lstStyle/>
          <a:p>
            <a:pPr algn="l" indent="0" marL="0">
              <a:buNone/>
            </a:pPr>
            <a:r>
              <a:rPr lang="en-US" sz="3600" b="1" dirty="0">
                <a:solidFill>
                  <a:schemeClr val="tx1"/>
                </a:solidFill>
              </a:rPr>
              <a:t>Problem Statement</a:t>
            </a:r>
            <a:endParaRPr lang="en-US" sz="3600" dirty="0"/>
          </a:p>
        </p:txBody>
      </p:sp>
      <p:sp>
        <p:nvSpPr>
          <p:cNvPr id="3" name="Text 1"/>
          <p:cNvSpPr txBox="1"/>
          <p:nvPr/>
        </p:nvSpPr>
        <p:spPr>
          <a:xfrm>
            <a:off x="548640" y="329184"/>
            <a:ext cx="77724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STEP 02 OF 11  ·  PROBLEM STATEMENT</a:t>
            </a:r>
            <a:endParaRPr lang="en-US" sz="1200" dirty="0"/>
          </a:p>
        </p:txBody>
      </p:sp>
      <p:sp>
        <p:nvSpPr>
          <p:cNvPr id="4" name="Shape 2"/>
          <p:cNvSpPr/>
          <p:nvPr/>
        </p:nvSpPr>
        <p:spPr>
          <a:xfrm>
            <a:off x="9166860" y="406908"/>
            <a:ext cx="118872" cy="118872"/>
          </a:xfrm>
          <a:prstGeom prst="ellipse">
            <a:avLst/>
          </a:prstGeom>
          <a:solidFill>
            <a:schemeClr val="accent1"/>
          </a:solidFill>
          <a:ln w="3175">
            <a:solidFill>
              <a:schemeClr val="accent1"/>
            </a:solidFill>
            <a:prstDash val="solid"/>
          </a:ln>
        </p:spPr>
      </p:sp>
      <p:sp>
        <p:nvSpPr>
          <p:cNvPr id="5" name="Shape 3"/>
          <p:cNvSpPr/>
          <p:nvPr/>
        </p:nvSpPr>
        <p:spPr>
          <a:xfrm>
            <a:off x="9367114" y="374904"/>
            <a:ext cx="182880" cy="182880"/>
          </a:xfrm>
          <a:prstGeom prst="ellipse">
            <a:avLst/>
          </a:prstGeom>
          <a:solidFill>
            <a:schemeClr val="accent3"/>
          </a:solidFill>
          <a:ln w="3175">
            <a:solidFill>
              <a:schemeClr val="accent3"/>
            </a:solidFill>
            <a:prstDash val="solid"/>
          </a:ln>
        </p:spPr>
      </p:sp>
      <p:sp>
        <p:nvSpPr>
          <p:cNvPr id="6" name="Shape 4"/>
          <p:cNvSpPr/>
          <p:nvPr/>
        </p:nvSpPr>
        <p:spPr>
          <a:xfrm>
            <a:off x="9631375" y="406908"/>
            <a:ext cx="118872" cy="118872"/>
          </a:xfrm>
          <a:prstGeom prst="ellipse">
            <a:avLst/>
          </a:prstGeom>
          <a:solidFill>
            <a:srgbClr val="C4D3DF"/>
          </a:solidFill>
          <a:ln w="3175">
            <a:solidFill>
              <a:srgbClr val="C4D3DF"/>
            </a:solidFill>
            <a:prstDash val="solid"/>
          </a:ln>
        </p:spPr>
      </p:sp>
      <p:sp>
        <p:nvSpPr>
          <p:cNvPr id="7" name="Shape 5"/>
          <p:cNvSpPr/>
          <p:nvPr/>
        </p:nvSpPr>
        <p:spPr>
          <a:xfrm>
            <a:off x="9863633" y="406908"/>
            <a:ext cx="118872" cy="118872"/>
          </a:xfrm>
          <a:prstGeom prst="ellipse">
            <a:avLst/>
          </a:prstGeom>
          <a:solidFill>
            <a:srgbClr val="C4D3DF"/>
          </a:solidFill>
          <a:ln w="3175">
            <a:solidFill>
              <a:srgbClr val="C4D3DF"/>
            </a:solidFill>
            <a:prstDash val="solid"/>
          </a:ln>
        </p:spPr>
      </p:sp>
      <p:sp>
        <p:nvSpPr>
          <p:cNvPr id="8" name="Shape 6"/>
          <p:cNvSpPr/>
          <p:nvPr/>
        </p:nvSpPr>
        <p:spPr>
          <a:xfrm>
            <a:off x="10095890" y="406908"/>
            <a:ext cx="118872" cy="118872"/>
          </a:xfrm>
          <a:prstGeom prst="ellipse">
            <a:avLst/>
          </a:prstGeom>
          <a:solidFill>
            <a:srgbClr val="C4D3DF"/>
          </a:solidFill>
          <a:ln w="3175">
            <a:solidFill>
              <a:srgbClr val="C4D3DF"/>
            </a:solidFill>
            <a:prstDash val="solid"/>
          </a:ln>
        </p:spPr>
      </p:sp>
      <p:sp>
        <p:nvSpPr>
          <p:cNvPr id="9" name="Shape 7"/>
          <p:cNvSpPr/>
          <p:nvPr/>
        </p:nvSpPr>
        <p:spPr>
          <a:xfrm>
            <a:off x="10328148" y="406908"/>
            <a:ext cx="118872" cy="118872"/>
          </a:xfrm>
          <a:prstGeom prst="ellipse">
            <a:avLst/>
          </a:prstGeom>
          <a:solidFill>
            <a:srgbClr val="C4D3DF"/>
          </a:solidFill>
          <a:ln w="3175">
            <a:solidFill>
              <a:srgbClr val="C4D3DF"/>
            </a:solidFill>
            <a:prstDash val="solid"/>
          </a:ln>
        </p:spPr>
      </p:sp>
      <p:sp>
        <p:nvSpPr>
          <p:cNvPr id="10" name="Shape 8"/>
          <p:cNvSpPr/>
          <p:nvPr/>
        </p:nvSpPr>
        <p:spPr>
          <a:xfrm>
            <a:off x="10560406" y="406908"/>
            <a:ext cx="118872" cy="118872"/>
          </a:xfrm>
          <a:prstGeom prst="ellipse">
            <a:avLst/>
          </a:prstGeom>
          <a:solidFill>
            <a:srgbClr val="C4D3DF"/>
          </a:solidFill>
          <a:ln w="3175">
            <a:solidFill>
              <a:srgbClr val="C4D3DF"/>
            </a:solidFill>
            <a:prstDash val="solid"/>
          </a:ln>
        </p:spPr>
      </p:sp>
      <p:sp>
        <p:nvSpPr>
          <p:cNvPr id="11" name="Shape 9"/>
          <p:cNvSpPr/>
          <p:nvPr/>
        </p:nvSpPr>
        <p:spPr>
          <a:xfrm>
            <a:off x="10792663" y="406908"/>
            <a:ext cx="118872" cy="118872"/>
          </a:xfrm>
          <a:prstGeom prst="ellipse">
            <a:avLst/>
          </a:prstGeom>
          <a:solidFill>
            <a:srgbClr val="C4D3DF"/>
          </a:solidFill>
          <a:ln w="3175">
            <a:solidFill>
              <a:srgbClr val="C4D3DF"/>
            </a:solidFill>
            <a:prstDash val="solid"/>
          </a:ln>
        </p:spPr>
      </p:sp>
      <p:sp>
        <p:nvSpPr>
          <p:cNvPr id="12" name="Shape 10"/>
          <p:cNvSpPr/>
          <p:nvPr/>
        </p:nvSpPr>
        <p:spPr>
          <a:xfrm>
            <a:off x="11024921" y="406908"/>
            <a:ext cx="118872" cy="118872"/>
          </a:xfrm>
          <a:prstGeom prst="ellipse">
            <a:avLst/>
          </a:prstGeom>
          <a:solidFill>
            <a:srgbClr val="C4D3DF"/>
          </a:solidFill>
          <a:ln w="3175">
            <a:solidFill>
              <a:srgbClr val="C4D3DF"/>
            </a:solidFill>
            <a:prstDash val="solid"/>
          </a:ln>
        </p:spPr>
      </p:sp>
      <p:sp>
        <p:nvSpPr>
          <p:cNvPr id="13" name="Shape 11"/>
          <p:cNvSpPr/>
          <p:nvPr/>
        </p:nvSpPr>
        <p:spPr>
          <a:xfrm>
            <a:off x="11257178" y="406908"/>
            <a:ext cx="118872" cy="118872"/>
          </a:xfrm>
          <a:prstGeom prst="ellipse">
            <a:avLst/>
          </a:prstGeom>
          <a:solidFill>
            <a:srgbClr val="C4D3DF"/>
          </a:solidFill>
          <a:ln w="3175">
            <a:solidFill>
              <a:srgbClr val="C4D3DF"/>
            </a:solidFill>
            <a:prstDash val="solid"/>
          </a:ln>
        </p:spPr>
      </p:sp>
      <p:sp>
        <p:nvSpPr>
          <p:cNvPr id="14" name="Shape 12"/>
          <p:cNvSpPr/>
          <p:nvPr/>
        </p:nvSpPr>
        <p:spPr>
          <a:xfrm>
            <a:off x="11489436" y="406908"/>
            <a:ext cx="118872" cy="118872"/>
          </a:xfrm>
          <a:prstGeom prst="ellipse">
            <a:avLst/>
          </a:prstGeom>
          <a:solidFill>
            <a:srgbClr val="C4D3DF"/>
          </a:solidFill>
          <a:ln w="3175">
            <a:solidFill>
              <a:srgbClr val="C4D3DF"/>
            </a:solidFill>
            <a:prstDash val="solid"/>
          </a:ln>
        </p:spPr>
      </p:sp>
      <p:sp>
        <p:nvSpPr>
          <p:cNvPr id="16" name="Shape 13"/>
          <p:cNvSpPr/>
          <p:nvPr/>
        </p:nvSpPr>
        <p:spPr>
          <a:xfrm>
            <a:off x="548640" y="1554480"/>
            <a:ext cx="5943600" cy="1691640"/>
          </a:xfrm>
          <a:prstGeom prst="roundRect">
            <a:avLst>
              <a:gd name="adj" fmla="val 8649"/>
            </a:avLst>
          </a:prstGeom>
          <a:solidFill>
            <a:schemeClr val="tx1"/>
          </a:solidFill>
          <a:ln w="9525">
            <a:solidFill>
              <a:schemeClr val="tx2"/>
            </a:solidFill>
            <a:prstDash val="solid"/>
          </a:ln>
          <a:effectLst>
            <a:outerShdw sx="100000" sy="100000" kx="0" ky="0" algn="bl" rotWithShape="0" blurRad="127000" dist="38100" dir="5400000">
              <a:srgbClr val="0B2545">
                <a:alpha val="14000"/>
              </a:srgbClr>
            </a:outerShdw>
          </a:effectLst>
        </p:spPr>
      </p:sp>
      <p:sp>
        <p:nvSpPr>
          <p:cNvPr id="17" name="Text 14"/>
          <p:cNvSpPr txBox="1"/>
          <p:nvPr/>
        </p:nvSpPr>
        <p:spPr>
          <a:xfrm>
            <a:off x="822960" y="1691640"/>
            <a:ext cx="5394960" cy="1417320"/>
          </a:xfrm>
          <a:prstGeom prst="rect">
            <a:avLst/>
          </a:prstGeom>
          <a:noFill/>
          <a:ln/>
        </p:spPr>
        <p:txBody>
          <a:bodyPr wrap="square" lIns="0" tIns="0" rIns="0" bIns="0" rtlCol="0" anchor="ctr"/>
          <a:lstStyle/>
          <a:p>
            <a:pPr indent="0" marL="0">
              <a:buNone/>
            </a:pPr>
            <a:r>
              <a:rPr lang="en-US" sz="1800" dirty="0">
                <a:solidFill>
                  <a:schemeClr val="bg1"/>
                </a:solidFill>
              </a:rPr>
              <a:t>The company has HR data in a flat CSV file but no clear picture. We need to find out who is leaving, where the payroll goes, and how employees perform.</a:t>
            </a:r>
            <a:endParaRPr lang="en-US" sz="1800" dirty="0"/>
          </a:p>
        </p:txBody>
      </p:sp>
      <p:sp>
        <p:nvSpPr>
          <p:cNvPr id="18" name="Shape 15"/>
          <p:cNvSpPr/>
          <p:nvPr/>
        </p:nvSpPr>
        <p:spPr>
          <a:xfrm>
            <a:off x="548640" y="3474720"/>
            <a:ext cx="5943600" cy="777240"/>
          </a:xfrm>
          <a:prstGeom prst="roundRect">
            <a:avLst>
              <a:gd name="adj" fmla="val 16471"/>
            </a:avLst>
          </a:prstGeom>
          <a:solidFill>
            <a:schemeClr val="bg1"/>
          </a:solidFill>
          <a:ln w="9525">
            <a:solidFill>
              <a:srgbClr val="D5E3EE"/>
            </a:solidFill>
            <a:prstDash val="solid"/>
          </a:ln>
          <a:effectLst>
            <a:outerShdw sx="100000" sy="100000" kx="0" ky="0" algn="bl" rotWithShape="0" blurRad="127000" dist="38100" dir="5400000">
              <a:srgbClr val="0B2545">
                <a:alpha val="14000"/>
              </a:srgbClr>
            </a:outerShdw>
          </a:effectLst>
        </p:spPr>
      </p:sp>
      <p:sp>
        <p:nvSpPr>
          <p:cNvPr id="19" name="Shape 16"/>
          <p:cNvSpPr/>
          <p:nvPr/>
        </p:nvSpPr>
        <p:spPr>
          <a:xfrm>
            <a:off x="713232" y="3584448"/>
            <a:ext cx="548640" cy="548640"/>
          </a:xfrm>
          <a:prstGeom prst="ellipse">
            <a:avLst/>
          </a:prstGeom>
          <a:solidFill>
            <a:schemeClr val="accent3"/>
          </a:solidFill>
          <a:ln w="6350">
            <a:solidFill>
              <a:schemeClr val="accent3"/>
            </a:solidFill>
            <a:prstDash val="solid"/>
          </a:ln>
        </p:spPr>
      </p:sp>
      <p:pic>
        <p:nvPicPr>
          <p:cNvPr id="20" name="Image 0" descr="preencoded.png">    </p:cNvPr>
          <p:cNvPicPr>
            <a:picLocks noChangeAspect="1"/>
          </p:cNvPicPr>
          <p:nvPr/>
        </p:nvPicPr>
        <p:blipFill>
          <a:blip r:embed="rId1"/>
          <a:stretch>
            <a:fillRect/>
          </a:stretch>
        </p:blipFill>
        <p:spPr>
          <a:xfrm>
            <a:off x="844906" y="3716122"/>
            <a:ext cx="285293" cy="285293"/>
          </a:xfrm>
          <a:prstGeom prst="rect">
            <a:avLst/>
          </a:prstGeom>
        </p:spPr>
      </p:pic>
      <p:sp>
        <p:nvSpPr>
          <p:cNvPr id="21" name="Text 17"/>
          <p:cNvSpPr txBox="1"/>
          <p:nvPr/>
        </p:nvSpPr>
        <p:spPr>
          <a:xfrm>
            <a:off x="1463040" y="3566160"/>
            <a:ext cx="4846320" cy="310896"/>
          </a:xfrm>
          <a:prstGeom prst="rect">
            <a:avLst/>
          </a:prstGeom>
          <a:noFill/>
          <a:ln/>
        </p:spPr>
        <p:txBody>
          <a:bodyPr wrap="square" lIns="0" tIns="0" rIns="0" bIns="0" rtlCol="0" anchor="ctr"/>
          <a:lstStyle/>
          <a:p>
            <a:pPr indent="0" marL="0">
              <a:buNone/>
            </a:pPr>
            <a:r>
              <a:rPr lang="en-US" sz="1800" b="1" dirty="0">
                <a:solidFill>
                  <a:schemeClr val="tx1"/>
                </a:solidFill>
              </a:rPr>
              <a:t>Who is leaving?</a:t>
            </a:r>
            <a:endParaRPr lang="en-US" sz="1800" dirty="0"/>
          </a:p>
        </p:txBody>
      </p:sp>
      <p:sp>
        <p:nvSpPr>
          <p:cNvPr id="22" name="Text 18"/>
          <p:cNvSpPr txBox="1"/>
          <p:nvPr/>
        </p:nvSpPr>
        <p:spPr>
          <a:xfrm>
            <a:off x="1463040" y="3895344"/>
            <a:ext cx="4846320" cy="256032"/>
          </a:xfrm>
          <a:prstGeom prst="rect">
            <a:avLst/>
          </a:prstGeom>
          <a:noFill/>
          <a:ln/>
        </p:spPr>
        <p:txBody>
          <a:bodyPr wrap="square" lIns="0" tIns="0" rIns="0" bIns="0" rtlCol="0" anchor="ctr"/>
          <a:lstStyle/>
          <a:p>
            <a:pPr indent="0" marL="0">
              <a:buNone/>
            </a:pPr>
            <a:r>
              <a:rPr lang="en-US" sz="1400" dirty="0">
                <a:solidFill>
                  <a:srgbClr val="5B7083"/>
                </a:solidFill>
              </a:rPr>
              <a:t>Attrition by role, age, tenure and overtime</a:t>
            </a:r>
            <a:endParaRPr lang="en-US" sz="1400" dirty="0"/>
          </a:p>
        </p:txBody>
      </p:sp>
      <p:sp>
        <p:nvSpPr>
          <p:cNvPr id="23" name="Shape 19"/>
          <p:cNvSpPr/>
          <p:nvPr/>
        </p:nvSpPr>
        <p:spPr>
          <a:xfrm>
            <a:off x="548640" y="4407408"/>
            <a:ext cx="5943600" cy="777240"/>
          </a:xfrm>
          <a:prstGeom prst="roundRect">
            <a:avLst>
              <a:gd name="adj" fmla="val 16471"/>
            </a:avLst>
          </a:prstGeom>
          <a:solidFill>
            <a:schemeClr val="bg1"/>
          </a:solidFill>
          <a:ln w="9525">
            <a:solidFill>
              <a:srgbClr val="D5E3EE"/>
            </a:solidFill>
            <a:prstDash val="solid"/>
          </a:ln>
          <a:effectLst>
            <a:outerShdw sx="100000" sy="100000" kx="0" ky="0" algn="bl" rotWithShape="0" blurRad="127000" dist="38100" dir="5400000">
              <a:srgbClr val="0B2545">
                <a:alpha val="14000"/>
              </a:srgbClr>
            </a:outerShdw>
          </a:effectLst>
        </p:spPr>
      </p:sp>
      <p:sp>
        <p:nvSpPr>
          <p:cNvPr id="24" name="Shape 20"/>
          <p:cNvSpPr/>
          <p:nvPr/>
        </p:nvSpPr>
        <p:spPr>
          <a:xfrm>
            <a:off x="713232" y="4517136"/>
            <a:ext cx="548640" cy="548640"/>
          </a:xfrm>
          <a:prstGeom prst="ellipse">
            <a:avLst/>
          </a:prstGeom>
          <a:solidFill>
            <a:schemeClr val="accent1"/>
          </a:solidFill>
          <a:ln w="6350">
            <a:solidFill>
              <a:schemeClr val="accent1"/>
            </a:solidFill>
            <a:prstDash val="solid"/>
          </a:ln>
        </p:spPr>
      </p:sp>
      <p:pic>
        <p:nvPicPr>
          <p:cNvPr id="25" name="Image 1" descr="preencoded.png">    </p:cNvPr>
          <p:cNvPicPr>
            <a:picLocks noChangeAspect="1"/>
          </p:cNvPicPr>
          <p:nvPr/>
        </p:nvPicPr>
        <p:blipFill>
          <a:blip r:embed="rId2"/>
          <a:stretch>
            <a:fillRect/>
          </a:stretch>
        </p:blipFill>
        <p:spPr>
          <a:xfrm>
            <a:off x="844906" y="4648810"/>
            <a:ext cx="285293" cy="285293"/>
          </a:xfrm>
          <a:prstGeom prst="rect">
            <a:avLst/>
          </a:prstGeom>
        </p:spPr>
      </p:pic>
      <p:sp>
        <p:nvSpPr>
          <p:cNvPr id="26" name="Text 21"/>
          <p:cNvSpPr txBox="1"/>
          <p:nvPr/>
        </p:nvSpPr>
        <p:spPr>
          <a:xfrm>
            <a:off x="1463040" y="4498848"/>
            <a:ext cx="4846320" cy="310896"/>
          </a:xfrm>
          <a:prstGeom prst="rect">
            <a:avLst/>
          </a:prstGeom>
          <a:noFill/>
          <a:ln/>
        </p:spPr>
        <p:txBody>
          <a:bodyPr wrap="square" lIns="0" tIns="0" rIns="0" bIns="0" rtlCol="0" anchor="ctr"/>
          <a:lstStyle/>
          <a:p>
            <a:pPr indent="0" marL="0">
              <a:buNone/>
            </a:pPr>
            <a:r>
              <a:rPr lang="en-US" sz="1800" b="1" dirty="0">
                <a:solidFill>
                  <a:schemeClr val="tx1"/>
                </a:solidFill>
              </a:rPr>
              <a:t>Where does the money go?</a:t>
            </a:r>
            <a:endParaRPr lang="en-US" sz="1800" dirty="0"/>
          </a:p>
        </p:txBody>
      </p:sp>
      <p:sp>
        <p:nvSpPr>
          <p:cNvPr id="27" name="Text 22"/>
          <p:cNvSpPr txBox="1"/>
          <p:nvPr/>
        </p:nvSpPr>
        <p:spPr>
          <a:xfrm>
            <a:off x="1463040" y="4828032"/>
            <a:ext cx="4846320" cy="256032"/>
          </a:xfrm>
          <a:prstGeom prst="rect">
            <a:avLst/>
          </a:prstGeom>
          <a:noFill/>
          <a:ln/>
        </p:spPr>
        <p:txBody>
          <a:bodyPr wrap="square" lIns="0" tIns="0" rIns="0" bIns="0" rtlCol="0" anchor="ctr"/>
          <a:lstStyle/>
          <a:p>
            <a:pPr indent="0" marL="0">
              <a:buNone/>
            </a:pPr>
            <a:r>
              <a:rPr lang="en-US" sz="1400" dirty="0">
                <a:solidFill>
                  <a:srgbClr val="5B7083"/>
                </a:solidFill>
              </a:rPr>
              <a:t>Payroll by department, role and education</a:t>
            </a:r>
            <a:endParaRPr lang="en-US" sz="1400" dirty="0"/>
          </a:p>
        </p:txBody>
      </p:sp>
      <p:sp>
        <p:nvSpPr>
          <p:cNvPr id="28" name="Shape 23"/>
          <p:cNvSpPr/>
          <p:nvPr/>
        </p:nvSpPr>
        <p:spPr>
          <a:xfrm>
            <a:off x="548640" y="5340096"/>
            <a:ext cx="5943600" cy="777240"/>
          </a:xfrm>
          <a:prstGeom prst="roundRect">
            <a:avLst>
              <a:gd name="adj" fmla="val 16471"/>
            </a:avLst>
          </a:prstGeom>
          <a:solidFill>
            <a:schemeClr val="bg1"/>
          </a:solidFill>
          <a:ln w="9525">
            <a:solidFill>
              <a:srgbClr val="D5E3EE"/>
            </a:solidFill>
            <a:prstDash val="solid"/>
          </a:ln>
          <a:effectLst>
            <a:outerShdw sx="100000" sy="100000" kx="0" ky="0" algn="bl" rotWithShape="0" blurRad="127000" dist="38100" dir="5400000">
              <a:srgbClr val="0B2545">
                <a:alpha val="14000"/>
              </a:srgbClr>
            </a:outerShdw>
          </a:effectLst>
        </p:spPr>
      </p:sp>
      <p:sp>
        <p:nvSpPr>
          <p:cNvPr id="29" name="Shape 24"/>
          <p:cNvSpPr/>
          <p:nvPr/>
        </p:nvSpPr>
        <p:spPr>
          <a:xfrm>
            <a:off x="713232" y="5449824"/>
            <a:ext cx="548640" cy="548640"/>
          </a:xfrm>
          <a:prstGeom prst="ellipse">
            <a:avLst/>
          </a:prstGeom>
          <a:solidFill>
            <a:schemeClr val="accent1"/>
          </a:solidFill>
          <a:ln w="6350">
            <a:solidFill>
              <a:schemeClr val="accent1"/>
            </a:solidFill>
            <a:prstDash val="solid"/>
          </a:ln>
        </p:spPr>
      </p:sp>
      <p:pic>
        <p:nvPicPr>
          <p:cNvPr id="30" name="Image 2" descr="preencoded.png">    </p:cNvPr>
          <p:cNvPicPr>
            <a:picLocks noChangeAspect="1"/>
          </p:cNvPicPr>
          <p:nvPr/>
        </p:nvPicPr>
        <p:blipFill>
          <a:blip r:embed="rId3"/>
          <a:stretch>
            <a:fillRect/>
          </a:stretch>
        </p:blipFill>
        <p:spPr>
          <a:xfrm>
            <a:off x="844906" y="5581498"/>
            <a:ext cx="285293" cy="285293"/>
          </a:xfrm>
          <a:prstGeom prst="rect">
            <a:avLst/>
          </a:prstGeom>
        </p:spPr>
      </p:pic>
      <p:sp>
        <p:nvSpPr>
          <p:cNvPr id="31" name="Text 25"/>
          <p:cNvSpPr txBox="1"/>
          <p:nvPr/>
        </p:nvSpPr>
        <p:spPr>
          <a:xfrm>
            <a:off x="1463040" y="5431536"/>
            <a:ext cx="4846320" cy="310896"/>
          </a:xfrm>
          <a:prstGeom prst="rect">
            <a:avLst/>
          </a:prstGeom>
          <a:noFill/>
          <a:ln/>
        </p:spPr>
        <p:txBody>
          <a:bodyPr wrap="square" lIns="0" tIns="0" rIns="0" bIns="0" rtlCol="0" anchor="ctr"/>
          <a:lstStyle/>
          <a:p>
            <a:pPr indent="0" marL="0">
              <a:buNone/>
            </a:pPr>
            <a:r>
              <a:rPr lang="en-US" sz="1800" b="1" dirty="0">
                <a:solidFill>
                  <a:schemeClr val="tx1"/>
                </a:solidFill>
              </a:rPr>
              <a:t>How are employees doing?</a:t>
            </a:r>
            <a:endParaRPr lang="en-US" sz="1800" dirty="0"/>
          </a:p>
        </p:txBody>
      </p:sp>
      <p:sp>
        <p:nvSpPr>
          <p:cNvPr id="32" name="Text 26"/>
          <p:cNvSpPr txBox="1"/>
          <p:nvPr/>
        </p:nvSpPr>
        <p:spPr>
          <a:xfrm>
            <a:off x="1463040" y="5760720"/>
            <a:ext cx="4846320" cy="256032"/>
          </a:xfrm>
          <a:prstGeom prst="rect">
            <a:avLst/>
          </a:prstGeom>
          <a:noFill/>
          <a:ln/>
        </p:spPr>
        <p:txBody>
          <a:bodyPr wrap="square" lIns="0" tIns="0" rIns="0" bIns="0" rtlCol="0" anchor="ctr"/>
          <a:lstStyle/>
          <a:p>
            <a:pPr indent="0" marL="0">
              <a:buNone/>
            </a:pPr>
            <a:r>
              <a:rPr lang="en-US" sz="1400" dirty="0">
                <a:solidFill>
                  <a:srgbClr val="5B7083"/>
                </a:solidFill>
              </a:rPr>
              <a:t>Performance, satisfaction and work-life balance</a:t>
            </a:r>
            <a:endParaRPr lang="en-US" sz="1400" dirty="0"/>
          </a:p>
        </p:txBody>
      </p:sp>
      <p:sp>
        <p:nvSpPr>
          <p:cNvPr id="33" name="Shape 27"/>
          <p:cNvSpPr/>
          <p:nvPr/>
        </p:nvSpPr>
        <p:spPr>
          <a:xfrm>
            <a:off x="6766560" y="1554480"/>
            <a:ext cx="4873752" cy="4663440"/>
          </a:xfrm>
          <a:prstGeom prst="roundRect">
            <a:avLst>
              <a:gd name="adj" fmla="val 2745"/>
            </a:avLst>
          </a:prstGeom>
          <a:solidFill>
            <a:schemeClr val="bg1"/>
          </a:solidFill>
          <a:ln w="9525">
            <a:solidFill>
              <a:srgbClr val="D5E3EE"/>
            </a:solidFill>
            <a:prstDash val="solid"/>
          </a:ln>
          <a:effectLst>
            <a:outerShdw sx="100000" sy="100000" kx="0" ky="0" algn="bl" rotWithShape="0" blurRad="127000" dist="38100" dir="5400000">
              <a:srgbClr val="0B2545">
                <a:alpha val="14000"/>
              </a:srgbClr>
            </a:outerShdw>
          </a:effectLst>
        </p:spPr>
      </p:sp>
      <p:sp>
        <p:nvSpPr>
          <p:cNvPr id="34" name="Text 28"/>
          <p:cNvSpPr txBox="1"/>
          <p:nvPr/>
        </p:nvSpPr>
        <p:spPr>
          <a:xfrm>
            <a:off x="7040880" y="1737360"/>
            <a:ext cx="4297680" cy="365760"/>
          </a:xfrm>
          <a:prstGeom prst="rect">
            <a:avLst/>
          </a:prstGeom>
          <a:noFill/>
          <a:ln/>
        </p:spPr>
        <p:txBody>
          <a:bodyPr wrap="square" lIns="0" tIns="0" rIns="0" bIns="0" rtlCol="0" anchor="ctr"/>
          <a:lstStyle/>
          <a:p>
            <a:pPr indent="0" marL="0">
              <a:buNone/>
            </a:pPr>
            <a:r>
              <a:rPr lang="en-US" sz="2000" b="1" dirty="0">
                <a:solidFill>
                  <a:schemeClr val="tx1"/>
                </a:solidFill>
              </a:rPr>
              <a:t>Employees who left</a:t>
            </a:r>
            <a:endParaRPr lang="en-US" sz="2000" dirty="0"/>
          </a:p>
        </p:txBody>
      </p:sp>
      <p:graphicFrame>
        <p:nvGraphicFramePr>
          <p:cNvPr id="35" name="Chart 0" descr=""/>
          <p:cNvGraphicFramePr/>
          <p:nvPr/>
        </p:nvGraphicFramePr>
        <p:xfrm>
          <a:off x="6949440" y="2148840"/>
          <a:ext cx="4507992" cy="3246120"/>
        </p:xfrm>
        <a:graphic xmlns:a="http://schemas.openxmlformats.org/drawingml/2006/main">
          <a:graphicData uri="http://schemas.openxmlformats.org/drawingml/2006/chart">
            <c:chart xmlns:c="http://schemas.openxmlformats.org/drawingml/2006/chart" r:id="rId4"/>
          </a:graphicData>
        </a:graphic>
      </p:graphicFrame>
      <p:sp>
        <p:nvSpPr>
          <p:cNvPr id="36" name="Text 29"/>
          <p:cNvSpPr txBox="1"/>
          <p:nvPr/>
        </p:nvSpPr>
        <p:spPr>
          <a:xfrm>
            <a:off x="8229600" y="3246120"/>
            <a:ext cx="1965960" cy="1051560"/>
          </a:xfrm>
          <a:prstGeom prst="rect">
            <a:avLst/>
          </a:prstGeom>
          <a:noFill/>
          <a:ln/>
        </p:spPr>
        <p:txBody>
          <a:bodyPr wrap="square" lIns="0" tIns="0" rIns="0" bIns="0" rtlCol="0" anchor="ctr"/>
          <a:lstStyle/>
          <a:p>
            <a:pPr algn="ctr" indent="0" marL="0">
              <a:buNone/>
            </a:pPr>
            <a:r>
              <a:rPr lang="en-US" sz="3800" b="1" dirty="0">
                <a:solidFill>
                  <a:schemeClr val="tx1"/>
                </a:solidFill>
              </a:rPr>
              <a:t>50.7%</a:t>
            </a:r>
            <a:endParaRPr lang="en-US" sz="3800" dirty="0"/>
          </a:p>
          <a:p>
            <a:pPr algn="ctr" indent="0" marL="0">
              <a:buNone/>
            </a:pPr>
            <a:r>
              <a:rPr lang="en-US" sz="1400" dirty="0">
                <a:solidFill>
                  <a:srgbClr val="5B7083"/>
                </a:solidFill>
              </a:rPr>
              <a:t>1,724 of 3,400</a:t>
            </a:r>
            <a:endParaRPr lang="en-US" sz="3800" dirty="0"/>
          </a:p>
        </p:txBody>
      </p:sp>
      <p:sp>
        <p:nvSpPr>
          <p:cNvPr id="37" name="Shape 30"/>
          <p:cNvSpPr/>
          <p:nvPr/>
        </p:nvSpPr>
        <p:spPr>
          <a:xfrm>
            <a:off x="7818120" y="5669280"/>
            <a:ext cx="182880" cy="182880"/>
          </a:xfrm>
          <a:prstGeom prst="ellipse">
            <a:avLst/>
          </a:prstGeom>
          <a:solidFill>
            <a:schemeClr val="accent3"/>
          </a:solidFill>
          <a:ln w="3175">
            <a:solidFill>
              <a:schemeClr val="accent3"/>
            </a:solidFill>
            <a:prstDash val="solid"/>
          </a:ln>
        </p:spPr>
      </p:sp>
      <p:sp>
        <p:nvSpPr>
          <p:cNvPr id="38" name="Text 31"/>
          <p:cNvSpPr txBox="1"/>
          <p:nvPr/>
        </p:nvSpPr>
        <p:spPr>
          <a:xfrm>
            <a:off x="8092440" y="5614416"/>
            <a:ext cx="1371600" cy="292608"/>
          </a:xfrm>
          <a:prstGeom prst="rect">
            <a:avLst/>
          </a:prstGeom>
          <a:noFill/>
          <a:ln/>
        </p:spPr>
        <p:txBody>
          <a:bodyPr wrap="square" lIns="0" tIns="0" rIns="0" bIns="0" rtlCol="0" anchor="ctr"/>
          <a:lstStyle/>
          <a:p>
            <a:pPr indent="0" marL="0">
              <a:buNone/>
            </a:pPr>
            <a:r>
              <a:rPr lang="en-US" sz="1400" dirty="0">
                <a:solidFill>
                  <a:schemeClr val="tx1"/>
                </a:solidFill>
              </a:rPr>
              <a:t>Left (1,724)</a:t>
            </a:r>
            <a:endParaRPr lang="en-US" sz="1400" dirty="0"/>
          </a:p>
        </p:txBody>
      </p:sp>
      <p:sp>
        <p:nvSpPr>
          <p:cNvPr id="39" name="Shape 32"/>
          <p:cNvSpPr/>
          <p:nvPr/>
        </p:nvSpPr>
        <p:spPr>
          <a:xfrm>
            <a:off x="9601200" y="5669280"/>
            <a:ext cx="182880" cy="182880"/>
          </a:xfrm>
          <a:prstGeom prst="ellipse">
            <a:avLst/>
          </a:prstGeom>
          <a:solidFill>
            <a:schemeClr val="tx2"/>
          </a:solidFill>
          <a:ln w="3175">
            <a:solidFill>
              <a:schemeClr val="tx2"/>
            </a:solidFill>
            <a:prstDash val="solid"/>
          </a:ln>
        </p:spPr>
      </p:sp>
      <p:sp>
        <p:nvSpPr>
          <p:cNvPr id="40" name="Text 33"/>
          <p:cNvSpPr txBox="1"/>
          <p:nvPr/>
        </p:nvSpPr>
        <p:spPr>
          <a:xfrm>
            <a:off x="9875520" y="5614416"/>
            <a:ext cx="1463040" cy="292608"/>
          </a:xfrm>
          <a:prstGeom prst="rect">
            <a:avLst/>
          </a:prstGeom>
          <a:noFill/>
          <a:ln/>
        </p:spPr>
        <p:txBody>
          <a:bodyPr wrap="square" lIns="0" tIns="0" rIns="0" bIns="0" rtlCol="0" anchor="ctr"/>
          <a:lstStyle/>
          <a:p>
            <a:pPr indent="0" marL="0">
              <a:buNone/>
            </a:pPr>
            <a:r>
              <a:rPr lang="en-US" sz="1400" dirty="0">
                <a:solidFill>
                  <a:schemeClr val="tx1"/>
                </a:solidFill>
              </a:rPr>
              <a:t>Stayed (1,676)</a:t>
            </a:r>
            <a:endParaRPr lang="en-US" sz="14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9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txBox="1"/>
          <p:nvPr>
            <p:ph idx="101" type="title" hasCustomPrompt="1"/>
          </p:nvPr>
        </p:nvSpPr>
        <p:spPr>
          <a:xfrm>
            <a:off x="548640" y="621792"/>
            <a:ext cx="11091672" cy="731520"/>
          </a:xfrm>
          <a:prstGeom prst="rect">
            <a:avLst/>
          </a:prstGeom>
          <a:noFill/>
          <a:ln/>
        </p:spPr>
        <p:txBody>
          <a:bodyPr wrap="square" lIns="0" tIns="0" rIns="0" bIns="0" rtlCol="0" anchor="ctr"/>
          <a:lstStyle/>
          <a:p>
            <a:pPr algn="l" indent="0" marL="0">
              <a:buNone/>
            </a:pPr>
            <a:r>
              <a:rPr lang="en-US" sz="3600" b="1" dirty="0">
                <a:solidFill>
                  <a:schemeClr val="tx1"/>
                </a:solidFill>
              </a:rPr>
              <a:t>Dataset Collection (CSV)</a:t>
            </a:r>
            <a:endParaRPr lang="en-US" sz="3600" dirty="0"/>
          </a:p>
        </p:txBody>
      </p:sp>
      <p:sp>
        <p:nvSpPr>
          <p:cNvPr id="3" name="Text 1"/>
          <p:cNvSpPr txBox="1"/>
          <p:nvPr/>
        </p:nvSpPr>
        <p:spPr>
          <a:xfrm>
            <a:off x="548640" y="329184"/>
            <a:ext cx="77724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STEP 03 OF 11  ·  DATASET COLLECTION</a:t>
            </a:r>
            <a:endParaRPr lang="en-US" sz="1200" dirty="0"/>
          </a:p>
        </p:txBody>
      </p:sp>
      <p:sp>
        <p:nvSpPr>
          <p:cNvPr id="4" name="Shape 2"/>
          <p:cNvSpPr/>
          <p:nvPr/>
        </p:nvSpPr>
        <p:spPr>
          <a:xfrm>
            <a:off x="9166860" y="406908"/>
            <a:ext cx="118872" cy="118872"/>
          </a:xfrm>
          <a:prstGeom prst="ellipse">
            <a:avLst/>
          </a:prstGeom>
          <a:solidFill>
            <a:schemeClr val="accent1"/>
          </a:solidFill>
          <a:ln w="3175">
            <a:solidFill>
              <a:schemeClr val="accent1"/>
            </a:solidFill>
            <a:prstDash val="solid"/>
          </a:ln>
        </p:spPr>
      </p:sp>
      <p:sp>
        <p:nvSpPr>
          <p:cNvPr id="5" name="Shape 3"/>
          <p:cNvSpPr/>
          <p:nvPr/>
        </p:nvSpPr>
        <p:spPr>
          <a:xfrm>
            <a:off x="9399118" y="406908"/>
            <a:ext cx="118872" cy="118872"/>
          </a:xfrm>
          <a:prstGeom prst="ellipse">
            <a:avLst/>
          </a:prstGeom>
          <a:solidFill>
            <a:schemeClr val="accent1"/>
          </a:solidFill>
          <a:ln w="3175">
            <a:solidFill>
              <a:schemeClr val="accent1"/>
            </a:solidFill>
            <a:prstDash val="solid"/>
          </a:ln>
        </p:spPr>
      </p:sp>
      <p:sp>
        <p:nvSpPr>
          <p:cNvPr id="6" name="Shape 4"/>
          <p:cNvSpPr/>
          <p:nvPr/>
        </p:nvSpPr>
        <p:spPr>
          <a:xfrm>
            <a:off x="9599371" y="374904"/>
            <a:ext cx="182880" cy="182880"/>
          </a:xfrm>
          <a:prstGeom prst="ellipse">
            <a:avLst/>
          </a:prstGeom>
          <a:solidFill>
            <a:schemeClr val="accent3"/>
          </a:solidFill>
          <a:ln w="3175">
            <a:solidFill>
              <a:schemeClr val="accent3"/>
            </a:solidFill>
            <a:prstDash val="solid"/>
          </a:ln>
        </p:spPr>
      </p:sp>
      <p:sp>
        <p:nvSpPr>
          <p:cNvPr id="7" name="Shape 5"/>
          <p:cNvSpPr/>
          <p:nvPr/>
        </p:nvSpPr>
        <p:spPr>
          <a:xfrm>
            <a:off x="9863633" y="406908"/>
            <a:ext cx="118872" cy="118872"/>
          </a:xfrm>
          <a:prstGeom prst="ellipse">
            <a:avLst/>
          </a:prstGeom>
          <a:solidFill>
            <a:srgbClr val="C4D3DF"/>
          </a:solidFill>
          <a:ln w="3175">
            <a:solidFill>
              <a:srgbClr val="C4D3DF"/>
            </a:solidFill>
            <a:prstDash val="solid"/>
          </a:ln>
        </p:spPr>
      </p:sp>
      <p:sp>
        <p:nvSpPr>
          <p:cNvPr id="8" name="Shape 6"/>
          <p:cNvSpPr/>
          <p:nvPr/>
        </p:nvSpPr>
        <p:spPr>
          <a:xfrm>
            <a:off x="10095890" y="406908"/>
            <a:ext cx="118872" cy="118872"/>
          </a:xfrm>
          <a:prstGeom prst="ellipse">
            <a:avLst/>
          </a:prstGeom>
          <a:solidFill>
            <a:srgbClr val="C4D3DF"/>
          </a:solidFill>
          <a:ln w="3175">
            <a:solidFill>
              <a:srgbClr val="C4D3DF"/>
            </a:solidFill>
            <a:prstDash val="solid"/>
          </a:ln>
        </p:spPr>
      </p:sp>
      <p:sp>
        <p:nvSpPr>
          <p:cNvPr id="9" name="Shape 7"/>
          <p:cNvSpPr/>
          <p:nvPr/>
        </p:nvSpPr>
        <p:spPr>
          <a:xfrm>
            <a:off x="10328148" y="406908"/>
            <a:ext cx="118872" cy="118872"/>
          </a:xfrm>
          <a:prstGeom prst="ellipse">
            <a:avLst/>
          </a:prstGeom>
          <a:solidFill>
            <a:srgbClr val="C4D3DF"/>
          </a:solidFill>
          <a:ln w="3175">
            <a:solidFill>
              <a:srgbClr val="C4D3DF"/>
            </a:solidFill>
            <a:prstDash val="solid"/>
          </a:ln>
        </p:spPr>
      </p:sp>
      <p:sp>
        <p:nvSpPr>
          <p:cNvPr id="10" name="Shape 8"/>
          <p:cNvSpPr/>
          <p:nvPr/>
        </p:nvSpPr>
        <p:spPr>
          <a:xfrm>
            <a:off x="10560406" y="406908"/>
            <a:ext cx="118872" cy="118872"/>
          </a:xfrm>
          <a:prstGeom prst="ellipse">
            <a:avLst/>
          </a:prstGeom>
          <a:solidFill>
            <a:srgbClr val="C4D3DF"/>
          </a:solidFill>
          <a:ln w="3175">
            <a:solidFill>
              <a:srgbClr val="C4D3DF"/>
            </a:solidFill>
            <a:prstDash val="solid"/>
          </a:ln>
        </p:spPr>
      </p:sp>
      <p:sp>
        <p:nvSpPr>
          <p:cNvPr id="11" name="Shape 9"/>
          <p:cNvSpPr/>
          <p:nvPr/>
        </p:nvSpPr>
        <p:spPr>
          <a:xfrm>
            <a:off x="10792663" y="406908"/>
            <a:ext cx="118872" cy="118872"/>
          </a:xfrm>
          <a:prstGeom prst="ellipse">
            <a:avLst/>
          </a:prstGeom>
          <a:solidFill>
            <a:srgbClr val="C4D3DF"/>
          </a:solidFill>
          <a:ln w="3175">
            <a:solidFill>
              <a:srgbClr val="C4D3DF"/>
            </a:solidFill>
            <a:prstDash val="solid"/>
          </a:ln>
        </p:spPr>
      </p:sp>
      <p:sp>
        <p:nvSpPr>
          <p:cNvPr id="12" name="Shape 10"/>
          <p:cNvSpPr/>
          <p:nvPr/>
        </p:nvSpPr>
        <p:spPr>
          <a:xfrm>
            <a:off x="11024921" y="406908"/>
            <a:ext cx="118872" cy="118872"/>
          </a:xfrm>
          <a:prstGeom prst="ellipse">
            <a:avLst/>
          </a:prstGeom>
          <a:solidFill>
            <a:srgbClr val="C4D3DF"/>
          </a:solidFill>
          <a:ln w="3175">
            <a:solidFill>
              <a:srgbClr val="C4D3DF"/>
            </a:solidFill>
            <a:prstDash val="solid"/>
          </a:ln>
        </p:spPr>
      </p:sp>
      <p:sp>
        <p:nvSpPr>
          <p:cNvPr id="13" name="Shape 11"/>
          <p:cNvSpPr/>
          <p:nvPr/>
        </p:nvSpPr>
        <p:spPr>
          <a:xfrm>
            <a:off x="11257178" y="406908"/>
            <a:ext cx="118872" cy="118872"/>
          </a:xfrm>
          <a:prstGeom prst="ellipse">
            <a:avLst/>
          </a:prstGeom>
          <a:solidFill>
            <a:srgbClr val="C4D3DF"/>
          </a:solidFill>
          <a:ln w="3175">
            <a:solidFill>
              <a:srgbClr val="C4D3DF"/>
            </a:solidFill>
            <a:prstDash val="solid"/>
          </a:ln>
        </p:spPr>
      </p:sp>
      <p:sp>
        <p:nvSpPr>
          <p:cNvPr id="14" name="Shape 12"/>
          <p:cNvSpPr/>
          <p:nvPr/>
        </p:nvSpPr>
        <p:spPr>
          <a:xfrm>
            <a:off x="11489436" y="406908"/>
            <a:ext cx="118872" cy="118872"/>
          </a:xfrm>
          <a:prstGeom prst="ellipse">
            <a:avLst/>
          </a:prstGeom>
          <a:solidFill>
            <a:srgbClr val="C4D3DF"/>
          </a:solidFill>
          <a:ln w="3175">
            <a:solidFill>
              <a:srgbClr val="C4D3DF"/>
            </a:solidFill>
            <a:prstDash val="solid"/>
          </a:ln>
        </p:spPr>
      </p:sp>
      <p:sp>
        <p:nvSpPr>
          <p:cNvPr id="16" name="Shape 13"/>
          <p:cNvSpPr/>
          <p:nvPr/>
        </p:nvSpPr>
        <p:spPr>
          <a:xfrm>
            <a:off x="548640" y="1554480"/>
            <a:ext cx="4937760" cy="4663440"/>
          </a:xfrm>
          <a:prstGeom prst="roundRect">
            <a:avLst>
              <a:gd name="adj" fmla="val 3137"/>
            </a:avLst>
          </a:prstGeom>
          <a:solidFill>
            <a:schemeClr val="tx1"/>
          </a:solidFill>
          <a:ln w="9525">
            <a:solidFill>
              <a:schemeClr val="tx2"/>
            </a:solidFill>
            <a:prstDash val="solid"/>
          </a:ln>
          <a:effectLst>
            <a:outerShdw sx="100000" sy="100000" kx="0" ky="0" algn="bl" rotWithShape="0" blurRad="127000" dist="38100" dir="5400000">
              <a:srgbClr val="0B2545">
                <a:alpha val="14000"/>
              </a:srgbClr>
            </a:outerShdw>
          </a:effectLst>
        </p:spPr>
      </p:sp>
      <p:sp>
        <p:nvSpPr>
          <p:cNvPr id="17" name="Shape 14"/>
          <p:cNvSpPr/>
          <p:nvPr/>
        </p:nvSpPr>
        <p:spPr>
          <a:xfrm>
            <a:off x="868680" y="1828800"/>
            <a:ext cx="868680" cy="868680"/>
          </a:xfrm>
          <a:prstGeom prst="ellipse">
            <a:avLst/>
          </a:prstGeom>
          <a:solidFill>
            <a:schemeClr val="accent2"/>
          </a:solidFill>
          <a:ln w="6350">
            <a:solidFill>
              <a:schemeClr val="accent2"/>
            </a:solidFill>
            <a:prstDash val="solid"/>
          </a:ln>
        </p:spPr>
      </p:sp>
      <p:pic>
        <p:nvPicPr>
          <p:cNvPr id="18" name="Image 0" descr="preencoded.png">    </p:cNvPr>
          <p:cNvPicPr>
            <a:picLocks noChangeAspect="1"/>
          </p:cNvPicPr>
          <p:nvPr/>
        </p:nvPicPr>
        <p:blipFill>
          <a:blip r:embed="rId1"/>
          <a:stretch>
            <a:fillRect/>
          </a:stretch>
        </p:blipFill>
        <p:spPr>
          <a:xfrm>
            <a:off x="1077163" y="2037283"/>
            <a:ext cx="451714" cy="451714"/>
          </a:xfrm>
          <a:prstGeom prst="rect">
            <a:avLst/>
          </a:prstGeom>
        </p:spPr>
      </p:pic>
      <p:sp>
        <p:nvSpPr>
          <p:cNvPr id="19" name="Text 15"/>
          <p:cNvSpPr txBox="1"/>
          <p:nvPr/>
        </p:nvSpPr>
        <p:spPr>
          <a:xfrm>
            <a:off x="868680" y="2834640"/>
            <a:ext cx="4389120" cy="457200"/>
          </a:xfrm>
          <a:prstGeom prst="rect">
            <a:avLst/>
          </a:prstGeom>
          <a:noFill/>
          <a:ln/>
        </p:spPr>
        <p:txBody>
          <a:bodyPr wrap="square" lIns="0" tIns="0" rIns="0" bIns="0" rtlCol="0" anchor="ctr"/>
          <a:lstStyle/>
          <a:p>
            <a:pPr indent="0" marL="0">
              <a:buNone/>
            </a:pPr>
            <a:r>
              <a:rPr lang="en-US" sz="2600" b="1" dirty="0">
                <a:solidFill>
                  <a:schemeClr val="bg1"/>
                </a:solidFill>
              </a:rPr>
              <a:t>HR Employee Dataset</a:t>
            </a:r>
            <a:endParaRPr lang="en-US" sz="2600" dirty="0"/>
          </a:p>
        </p:txBody>
      </p:sp>
      <p:sp>
        <p:nvSpPr>
          <p:cNvPr id="20" name="Text 16"/>
          <p:cNvSpPr txBox="1"/>
          <p:nvPr/>
        </p:nvSpPr>
        <p:spPr>
          <a:xfrm>
            <a:off x="868680" y="3337560"/>
            <a:ext cx="4389120" cy="320040"/>
          </a:xfrm>
          <a:prstGeom prst="rect">
            <a:avLst/>
          </a:prstGeom>
          <a:noFill/>
          <a:ln/>
        </p:spPr>
        <p:txBody>
          <a:bodyPr wrap="square" lIns="0" tIns="0" rIns="0" bIns="0" rtlCol="0" anchor="ctr"/>
          <a:lstStyle/>
          <a:p>
            <a:pPr indent="0" marL="0">
              <a:buNone/>
            </a:pPr>
            <a:r>
              <a:rPr lang="en-US" sz="1600" dirty="0">
                <a:solidFill>
                  <a:srgbClr val="BFE3F2"/>
                </a:solidFill>
              </a:rPr>
              <a:t>Source: Kaggle  ·  Format: CSV</a:t>
            </a:r>
            <a:endParaRPr lang="en-US" sz="1600" dirty="0"/>
          </a:p>
        </p:txBody>
      </p:sp>
      <p:sp>
        <p:nvSpPr>
          <p:cNvPr id="21" name="Shape 17"/>
          <p:cNvSpPr/>
          <p:nvPr/>
        </p:nvSpPr>
        <p:spPr>
          <a:xfrm>
            <a:off x="868680" y="3840480"/>
            <a:ext cx="1371600" cy="914400"/>
          </a:xfrm>
          <a:prstGeom prst="roundRect">
            <a:avLst>
              <a:gd name="adj" fmla="val 12000"/>
            </a:avLst>
          </a:prstGeom>
          <a:solidFill>
            <a:schemeClr val="tx2"/>
          </a:solidFill>
          <a:ln w="9525">
            <a:solidFill>
              <a:schemeClr val="accent1"/>
            </a:solidFill>
            <a:prstDash val="solid"/>
          </a:ln>
        </p:spPr>
      </p:sp>
      <p:sp>
        <p:nvSpPr>
          <p:cNvPr id="22" name="Text 18"/>
          <p:cNvSpPr txBox="1"/>
          <p:nvPr/>
        </p:nvSpPr>
        <p:spPr>
          <a:xfrm>
            <a:off x="868680" y="3913632"/>
            <a:ext cx="1371600" cy="457200"/>
          </a:xfrm>
          <a:prstGeom prst="rect">
            <a:avLst/>
          </a:prstGeom>
          <a:noFill/>
          <a:ln/>
        </p:spPr>
        <p:txBody>
          <a:bodyPr wrap="square" lIns="0" tIns="0" rIns="0" bIns="0" rtlCol="0" anchor="ctr"/>
          <a:lstStyle/>
          <a:p>
            <a:pPr algn="ctr" indent="0" marL="0">
              <a:buNone/>
            </a:pPr>
            <a:r>
              <a:rPr lang="en-US" sz="2800" b="1" dirty="0">
                <a:solidFill>
                  <a:schemeClr val="accent3"/>
                </a:solidFill>
              </a:rPr>
              <a:t>3,400</a:t>
            </a:r>
            <a:endParaRPr lang="en-US" sz="2800" dirty="0"/>
          </a:p>
        </p:txBody>
      </p:sp>
      <p:sp>
        <p:nvSpPr>
          <p:cNvPr id="23" name="Text 19"/>
          <p:cNvSpPr txBox="1"/>
          <p:nvPr/>
        </p:nvSpPr>
        <p:spPr>
          <a:xfrm>
            <a:off x="868680" y="4389120"/>
            <a:ext cx="1371600" cy="274320"/>
          </a:xfrm>
          <a:prstGeom prst="rect">
            <a:avLst/>
          </a:prstGeom>
          <a:noFill/>
          <a:ln/>
        </p:spPr>
        <p:txBody>
          <a:bodyPr wrap="square" lIns="0" tIns="0" rIns="0" bIns="0" rtlCol="0" anchor="ctr"/>
          <a:lstStyle/>
          <a:p>
            <a:pPr algn="ctr" indent="0" marL="0">
              <a:buNone/>
            </a:pPr>
            <a:r>
              <a:rPr lang="en-US" sz="1400" dirty="0">
                <a:solidFill>
                  <a:schemeClr val="bg1"/>
                </a:solidFill>
              </a:rPr>
              <a:t>Rows</a:t>
            </a:r>
            <a:endParaRPr lang="en-US" sz="1400" dirty="0"/>
          </a:p>
        </p:txBody>
      </p:sp>
      <p:sp>
        <p:nvSpPr>
          <p:cNvPr id="24" name="Shape 20"/>
          <p:cNvSpPr/>
          <p:nvPr/>
        </p:nvSpPr>
        <p:spPr>
          <a:xfrm>
            <a:off x="2377440" y="3840480"/>
            <a:ext cx="1371600" cy="914400"/>
          </a:xfrm>
          <a:prstGeom prst="roundRect">
            <a:avLst>
              <a:gd name="adj" fmla="val 12000"/>
            </a:avLst>
          </a:prstGeom>
          <a:solidFill>
            <a:schemeClr val="tx2"/>
          </a:solidFill>
          <a:ln w="9525">
            <a:solidFill>
              <a:schemeClr val="accent1"/>
            </a:solidFill>
            <a:prstDash val="solid"/>
          </a:ln>
        </p:spPr>
      </p:sp>
      <p:sp>
        <p:nvSpPr>
          <p:cNvPr id="25" name="Text 21"/>
          <p:cNvSpPr txBox="1"/>
          <p:nvPr/>
        </p:nvSpPr>
        <p:spPr>
          <a:xfrm>
            <a:off x="2377440" y="3913632"/>
            <a:ext cx="1371600" cy="457200"/>
          </a:xfrm>
          <a:prstGeom prst="rect">
            <a:avLst/>
          </a:prstGeom>
          <a:noFill/>
          <a:ln/>
        </p:spPr>
        <p:txBody>
          <a:bodyPr wrap="square" lIns="0" tIns="0" rIns="0" bIns="0" rtlCol="0" anchor="ctr"/>
          <a:lstStyle/>
          <a:p>
            <a:pPr algn="ctr" indent="0" marL="0">
              <a:buNone/>
            </a:pPr>
            <a:r>
              <a:rPr lang="en-US" sz="2800" b="1" dirty="0">
                <a:solidFill>
                  <a:schemeClr val="accent3"/>
                </a:solidFill>
              </a:rPr>
              <a:t>20</a:t>
            </a:r>
            <a:endParaRPr lang="en-US" sz="2800" dirty="0"/>
          </a:p>
        </p:txBody>
      </p:sp>
      <p:sp>
        <p:nvSpPr>
          <p:cNvPr id="26" name="Text 22"/>
          <p:cNvSpPr txBox="1"/>
          <p:nvPr/>
        </p:nvSpPr>
        <p:spPr>
          <a:xfrm>
            <a:off x="2377440" y="4389120"/>
            <a:ext cx="1371600" cy="274320"/>
          </a:xfrm>
          <a:prstGeom prst="rect">
            <a:avLst/>
          </a:prstGeom>
          <a:noFill/>
          <a:ln/>
        </p:spPr>
        <p:txBody>
          <a:bodyPr wrap="square" lIns="0" tIns="0" rIns="0" bIns="0" rtlCol="0" anchor="ctr"/>
          <a:lstStyle/>
          <a:p>
            <a:pPr algn="ctr" indent="0" marL="0">
              <a:buNone/>
            </a:pPr>
            <a:r>
              <a:rPr lang="en-US" sz="1400" dirty="0">
                <a:solidFill>
                  <a:schemeClr val="bg1"/>
                </a:solidFill>
              </a:rPr>
              <a:t>Columns</a:t>
            </a:r>
            <a:endParaRPr lang="en-US" sz="1400" dirty="0"/>
          </a:p>
        </p:txBody>
      </p:sp>
      <p:sp>
        <p:nvSpPr>
          <p:cNvPr id="27" name="Shape 23"/>
          <p:cNvSpPr/>
          <p:nvPr/>
        </p:nvSpPr>
        <p:spPr>
          <a:xfrm>
            <a:off x="3886200" y="3840480"/>
            <a:ext cx="1371600" cy="914400"/>
          </a:xfrm>
          <a:prstGeom prst="roundRect">
            <a:avLst>
              <a:gd name="adj" fmla="val 12000"/>
            </a:avLst>
          </a:prstGeom>
          <a:solidFill>
            <a:schemeClr val="tx2"/>
          </a:solidFill>
          <a:ln w="9525">
            <a:solidFill>
              <a:schemeClr val="accent1"/>
            </a:solidFill>
            <a:prstDash val="solid"/>
          </a:ln>
        </p:spPr>
      </p:sp>
      <p:sp>
        <p:nvSpPr>
          <p:cNvPr id="28" name="Text 24"/>
          <p:cNvSpPr txBox="1"/>
          <p:nvPr/>
        </p:nvSpPr>
        <p:spPr>
          <a:xfrm>
            <a:off x="3886200" y="3913632"/>
            <a:ext cx="1371600" cy="457200"/>
          </a:xfrm>
          <a:prstGeom prst="rect">
            <a:avLst/>
          </a:prstGeom>
          <a:noFill/>
          <a:ln/>
        </p:spPr>
        <p:txBody>
          <a:bodyPr wrap="square" lIns="0" tIns="0" rIns="0" bIns="0" rtlCol="0" anchor="ctr"/>
          <a:lstStyle/>
          <a:p>
            <a:pPr algn="ctr" indent="0" marL="0">
              <a:buNone/>
            </a:pPr>
            <a:r>
              <a:rPr lang="en-US" sz="2800" b="1" dirty="0">
                <a:solidFill>
                  <a:schemeClr val="accent3"/>
                </a:solidFill>
              </a:rPr>
              <a:t>1</a:t>
            </a:r>
            <a:endParaRPr lang="en-US" sz="2800" dirty="0"/>
          </a:p>
        </p:txBody>
      </p:sp>
      <p:sp>
        <p:nvSpPr>
          <p:cNvPr id="29" name="Text 25"/>
          <p:cNvSpPr txBox="1"/>
          <p:nvPr/>
        </p:nvSpPr>
        <p:spPr>
          <a:xfrm>
            <a:off x="3886200" y="4389120"/>
            <a:ext cx="1371600" cy="274320"/>
          </a:xfrm>
          <a:prstGeom prst="rect">
            <a:avLst/>
          </a:prstGeom>
          <a:noFill/>
          <a:ln/>
        </p:spPr>
        <p:txBody>
          <a:bodyPr wrap="square" lIns="0" tIns="0" rIns="0" bIns="0" rtlCol="0" anchor="ctr"/>
          <a:lstStyle/>
          <a:p>
            <a:pPr algn="ctr" indent="0" marL="0">
              <a:buNone/>
            </a:pPr>
            <a:r>
              <a:rPr lang="en-US" sz="1400" dirty="0">
                <a:solidFill>
                  <a:schemeClr val="bg1"/>
                </a:solidFill>
              </a:rPr>
              <a:t>CSV file</a:t>
            </a:r>
            <a:endParaRPr lang="en-US" sz="1400" dirty="0"/>
          </a:p>
        </p:txBody>
      </p:sp>
      <p:sp>
        <p:nvSpPr>
          <p:cNvPr id="30" name="Shape 26"/>
          <p:cNvSpPr/>
          <p:nvPr/>
        </p:nvSpPr>
        <p:spPr>
          <a:xfrm>
            <a:off x="868680" y="5029200"/>
            <a:ext cx="3931920" cy="548640"/>
          </a:xfrm>
          <a:prstGeom prst="roundRect">
            <a:avLst>
              <a:gd name="adj" fmla="val 50000"/>
            </a:avLst>
          </a:prstGeom>
          <a:solidFill>
            <a:schemeClr val="accent3"/>
          </a:solidFill>
          <a:ln w="6350">
            <a:solidFill>
              <a:schemeClr val="accent3"/>
            </a:solidFill>
            <a:prstDash val="solid"/>
          </a:ln>
          <a:effectLst>
            <a:outerShdw sx="100000" sy="100000" kx="0" ky="0" algn="bl" rotWithShape="0" blurRad="127000" dist="38100" dir="5400000">
              <a:srgbClr val="0B2545">
                <a:alpha val="14000"/>
              </a:srgbClr>
            </a:outerShdw>
          </a:effectLst>
        </p:spPr>
      </p:sp>
      <p:pic>
        <p:nvPicPr>
          <p:cNvPr id="31" name="Image 1" descr="preencoded.png">    </p:cNvPr>
          <p:cNvPicPr>
            <a:picLocks noChangeAspect="1"/>
          </p:cNvPicPr>
          <p:nvPr/>
        </p:nvPicPr>
        <p:blipFill>
          <a:blip r:embed="rId2"/>
          <a:stretch>
            <a:fillRect/>
          </a:stretch>
        </p:blipFill>
        <p:spPr>
          <a:xfrm>
            <a:off x="1069848" y="5175504"/>
            <a:ext cx="256032" cy="256032"/>
          </a:xfrm>
          <a:prstGeom prst="rect">
            <a:avLst/>
          </a:prstGeom>
        </p:spPr>
      </p:pic>
      <p:sp>
        <p:nvSpPr>
          <p:cNvPr id="32" name="Text 27"/>
          <p:cNvSpPr txBox="1"/>
          <p:nvPr/>
        </p:nvSpPr>
        <p:spPr>
          <a:xfrm>
            <a:off x="1435608" y="5029200"/>
            <a:ext cx="3200400" cy="548640"/>
          </a:xfrm>
          <a:prstGeom prst="rect">
            <a:avLst/>
          </a:prstGeom>
          <a:noFill/>
          <a:ln/>
        </p:spPr>
        <p:txBody>
          <a:bodyPr wrap="square" lIns="0" tIns="0" rIns="0" bIns="0" rtlCol="0" anchor="ctr"/>
          <a:lstStyle/>
          <a:p>
            <a:pPr indent="0" marL="0">
              <a:buNone/>
            </a:pPr>
            <a:r>
              <a:rPr lang="en-US" sz="1500" b="1" dirty="0">
                <a:solidFill>
                  <a:schemeClr val="tx1"/>
                </a:solidFill>
              </a:rPr>
              <a:t>Open dataset on Kaggle</a:t>
            </a:r>
            <a:endParaRPr lang="en-US" sz="1500" dirty="0"/>
          </a:p>
        </p:txBody>
      </p:sp>
      <p:pic>
        <p:nvPicPr>
          <p:cNvPr id="33" name="Image 2" descr="preencoded.png">
            <a:hlinkClick r:id="rId4" tooltip="Open dataset on Kaggle"/>
          </p:cNvPr>
          <p:cNvPicPr>
            <a:picLocks noChangeAspect="1"/>
          </p:cNvPicPr>
          <p:nvPr/>
        </p:nvPicPr>
        <p:blipFill>
          <a:blip r:embed="rId3"/>
          <a:stretch>
            <a:fillRect/>
          </a:stretch>
        </p:blipFill>
        <p:spPr>
          <a:xfrm>
            <a:off x="868680" y="5029200"/>
            <a:ext cx="3931920" cy="548640"/>
          </a:xfrm>
          <a:prstGeom prst="rect">
            <a:avLst/>
          </a:prstGeom>
        </p:spPr>
      </p:pic>
      <p:sp>
        <p:nvSpPr>
          <p:cNvPr id="34" name="Text 28"/>
          <p:cNvSpPr txBox="1"/>
          <p:nvPr/>
        </p:nvSpPr>
        <p:spPr>
          <a:xfrm>
            <a:off x="868680" y="5715000"/>
            <a:ext cx="4389120" cy="274320"/>
          </a:xfrm>
          <a:prstGeom prst="rect">
            <a:avLst/>
          </a:prstGeom>
          <a:noFill/>
          <a:ln/>
        </p:spPr>
        <p:txBody>
          <a:bodyPr wrap="square" lIns="0" tIns="0" rIns="0" bIns="0" rtlCol="0" anchor="ctr"/>
          <a:lstStyle/>
          <a:p>
            <a:pPr indent="0" marL="0">
              <a:buNone/>
            </a:pPr>
            <a:r>
              <a:rPr lang="en-US" sz="1100" dirty="0">
                <a:solidFill>
                  <a:srgbClr val="BFE3F2"/>
                </a:solidFill>
              </a:rPr>
              <a:t>kaggle.com/datasets/justinlimyin/hr-employee-dataset</a:t>
            </a:r>
            <a:endParaRPr lang="en-US" sz="1100" dirty="0"/>
          </a:p>
        </p:txBody>
      </p:sp>
      <p:pic>
        <p:nvPicPr>
          <p:cNvPr id="35" name="Image 3" descr="preencoded.png">
            <a:hlinkClick r:id="rId6" tooltip="Kaggle dataset"/>
          </p:cNvPr>
          <p:cNvPicPr>
            <a:picLocks noChangeAspect="1"/>
          </p:cNvPicPr>
          <p:nvPr/>
        </p:nvPicPr>
        <p:blipFill>
          <a:blip r:embed="rId5"/>
          <a:stretch>
            <a:fillRect/>
          </a:stretch>
        </p:blipFill>
        <p:spPr>
          <a:xfrm>
            <a:off x="868680" y="5669280"/>
            <a:ext cx="4389120" cy="365760"/>
          </a:xfrm>
          <a:prstGeom prst="rect">
            <a:avLst/>
          </a:prstGeom>
        </p:spPr>
      </p:pic>
      <p:sp>
        <p:nvSpPr>
          <p:cNvPr id="36" name="Shape 29"/>
          <p:cNvSpPr/>
          <p:nvPr/>
        </p:nvSpPr>
        <p:spPr>
          <a:xfrm>
            <a:off x="5852160" y="1554480"/>
            <a:ext cx="2788920" cy="2240280"/>
          </a:xfrm>
          <a:prstGeom prst="roundRect">
            <a:avLst>
              <a:gd name="adj" fmla="val 5714"/>
            </a:avLst>
          </a:prstGeom>
          <a:solidFill>
            <a:schemeClr val="bg1"/>
          </a:solidFill>
          <a:ln w="9525">
            <a:solidFill>
              <a:srgbClr val="D5E3EE"/>
            </a:solidFill>
            <a:prstDash val="solid"/>
          </a:ln>
          <a:effectLst>
            <a:outerShdw sx="100000" sy="100000" kx="0" ky="0" algn="bl" rotWithShape="0" blurRad="127000" dist="38100" dir="5400000">
              <a:srgbClr val="0B2545">
                <a:alpha val="14000"/>
              </a:srgbClr>
            </a:outerShdw>
          </a:effectLst>
        </p:spPr>
      </p:sp>
      <p:sp>
        <p:nvSpPr>
          <p:cNvPr id="37" name="Shape 30"/>
          <p:cNvSpPr/>
          <p:nvPr/>
        </p:nvSpPr>
        <p:spPr>
          <a:xfrm>
            <a:off x="6035040" y="1737360"/>
            <a:ext cx="502920" cy="502920"/>
          </a:xfrm>
          <a:prstGeom prst="ellipse">
            <a:avLst/>
          </a:prstGeom>
          <a:solidFill>
            <a:schemeClr val="tx2"/>
          </a:solidFill>
          <a:ln w="6350">
            <a:solidFill>
              <a:schemeClr val="tx2"/>
            </a:solidFill>
            <a:prstDash val="solid"/>
          </a:ln>
        </p:spPr>
      </p:sp>
      <p:pic>
        <p:nvPicPr>
          <p:cNvPr id="38" name="Image 4" descr="preencoded.png">    </p:cNvPr>
          <p:cNvPicPr>
            <a:picLocks noChangeAspect="1"/>
          </p:cNvPicPr>
          <p:nvPr/>
        </p:nvPicPr>
        <p:blipFill>
          <a:blip r:embed="rId7"/>
          <a:stretch>
            <a:fillRect/>
          </a:stretch>
        </p:blipFill>
        <p:spPr>
          <a:xfrm>
            <a:off x="6155741" y="1858061"/>
            <a:ext cx="261518" cy="261518"/>
          </a:xfrm>
          <a:prstGeom prst="rect">
            <a:avLst/>
          </a:prstGeom>
        </p:spPr>
      </p:pic>
      <p:sp>
        <p:nvSpPr>
          <p:cNvPr id="39" name="Text 31"/>
          <p:cNvSpPr txBox="1"/>
          <p:nvPr/>
        </p:nvSpPr>
        <p:spPr>
          <a:xfrm>
            <a:off x="6675120" y="1737360"/>
            <a:ext cx="1828800" cy="502920"/>
          </a:xfrm>
          <a:prstGeom prst="rect">
            <a:avLst/>
          </a:prstGeom>
          <a:noFill/>
          <a:ln/>
        </p:spPr>
        <p:txBody>
          <a:bodyPr wrap="square" lIns="0" tIns="0" rIns="0" bIns="0" rtlCol="0" anchor="ctr"/>
          <a:lstStyle/>
          <a:p>
            <a:pPr indent="0" marL="0">
              <a:buNone/>
            </a:pPr>
            <a:r>
              <a:rPr lang="en-US" sz="1800" b="1" dirty="0">
                <a:solidFill>
                  <a:schemeClr val="tx1"/>
                </a:solidFill>
              </a:rPr>
              <a:t>Employee</a:t>
            </a:r>
            <a:endParaRPr lang="en-US" sz="1800" dirty="0"/>
          </a:p>
        </p:txBody>
      </p:sp>
      <p:sp>
        <p:nvSpPr>
          <p:cNvPr id="40" name="Text 32"/>
          <p:cNvSpPr txBox="1"/>
          <p:nvPr/>
        </p:nvSpPr>
        <p:spPr>
          <a:xfrm>
            <a:off x="6080760" y="2423160"/>
            <a:ext cx="2423160" cy="1280160"/>
          </a:xfrm>
          <a:prstGeom prst="rect">
            <a:avLst/>
          </a:prstGeom>
          <a:noFill/>
          <a:ln/>
        </p:spPr>
        <p:txBody>
          <a:bodyPr wrap="square" lIns="0" tIns="0" rIns="0" bIns="0" rtlCol="0" anchor="ctr"/>
          <a:lstStyle/>
          <a:p>
            <a:pPr indent="0" marL="0">
              <a:spcAft>
                <a:spcPts val="300"/>
              </a:spcAft>
              <a:buNone/>
            </a:pPr>
            <a:r>
              <a:rPr lang="en-US" sz="1400" dirty="0">
                <a:solidFill>
                  <a:srgbClr val="3E566B"/>
                </a:solidFill>
              </a:rPr>
              <a:t>Age, Gender</a:t>
            </a:r>
            <a:endParaRPr lang="en-US" sz="1400" dirty="0"/>
          </a:p>
          <a:p>
            <a:pPr indent="0" marL="0">
              <a:spcAft>
                <a:spcPts val="300"/>
              </a:spcAft>
              <a:buNone/>
            </a:pPr>
            <a:r>
              <a:rPr lang="en-US" sz="1400" dirty="0">
                <a:solidFill>
                  <a:srgbClr val="3E566B"/>
                </a:solidFill>
              </a:rPr>
              <a:t>Education level</a:t>
            </a:r>
            <a:endParaRPr lang="en-US" sz="1400" dirty="0"/>
          </a:p>
          <a:p>
            <a:pPr indent="0" marL="0">
              <a:spcAft>
                <a:spcPts val="300"/>
              </a:spcAft>
              <a:buNone/>
            </a:pPr>
            <a:r>
              <a:rPr lang="en-US" sz="1400" dirty="0">
                <a:solidFill>
                  <a:srgbClr val="3E566B"/>
                </a:solidFill>
              </a:rPr>
              <a:t>Marital status</a:t>
            </a:r>
            <a:endParaRPr lang="en-US" sz="1400" dirty="0"/>
          </a:p>
          <a:p>
            <a:pPr indent="0" marL="0">
              <a:spcAft>
                <a:spcPts val="300"/>
              </a:spcAft>
              <a:buNone/>
            </a:pPr>
            <a:r>
              <a:rPr lang="en-US" sz="1400" dirty="0">
                <a:solidFill>
                  <a:srgbClr val="3E566B"/>
                </a:solidFill>
              </a:rPr>
              <a:t>Companies worked</a:t>
            </a:r>
            <a:endParaRPr lang="en-US" sz="1400" dirty="0"/>
          </a:p>
        </p:txBody>
      </p:sp>
      <p:sp>
        <p:nvSpPr>
          <p:cNvPr id="41" name="Shape 33"/>
          <p:cNvSpPr/>
          <p:nvPr/>
        </p:nvSpPr>
        <p:spPr>
          <a:xfrm>
            <a:off x="8851392" y="1554480"/>
            <a:ext cx="2788920" cy="2240280"/>
          </a:xfrm>
          <a:prstGeom prst="roundRect">
            <a:avLst>
              <a:gd name="adj" fmla="val 5714"/>
            </a:avLst>
          </a:prstGeom>
          <a:solidFill>
            <a:schemeClr val="bg1"/>
          </a:solidFill>
          <a:ln w="9525">
            <a:solidFill>
              <a:srgbClr val="D5E3EE"/>
            </a:solidFill>
            <a:prstDash val="solid"/>
          </a:ln>
          <a:effectLst>
            <a:outerShdw sx="100000" sy="100000" kx="0" ky="0" algn="bl" rotWithShape="0" blurRad="127000" dist="38100" dir="5400000">
              <a:srgbClr val="0B2545">
                <a:alpha val="14000"/>
              </a:srgbClr>
            </a:outerShdw>
          </a:effectLst>
        </p:spPr>
      </p:sp>
      <p:sp>
        <p:nvSpPr>
          <p:cNvPr id="42" name="Shape 34"/>
          <p:cNvSpPr/>
          <p:nvPr/>
        </p:nvSpPr>
        <p:spPr>
          <a:xfrm>
            <a:off x="9034272" y="1737360"/>
            <a:ext cx="502920" cy="502920"/>
          </a:xfrm>
          <a:prstGeom prst="ellipse">
            <a:avLst/>
          </a:prstGeom>
          <a:solidFill>
            <a:schemeClr val="accent1"/>
          </a:solidFill>
          <a:ln w="6350">
            <a:solidFill>
              <a:schemeClr val="accent1"/>
            </a:solidFill>
            <a:prstDash val="solid"/>
          </a:ln>
        </p:spPr>
      </p:sp>
      <p:pic>
        <p:nvPicPr>
          <p:cNvPr id="43" name="Image 5" descr="preencoded.png">    </p:cNvPr>
          <p:cNvPicPr>
            <a:picLocks noChangeAspect="1"/>
          </p:cNvPicPr>
          <p:nvPr/>
        </p:nvPicPr>
        <p:blipFill>
          <a:blip r:embed="rId8"/>
          <a:stretch>
            <a:fillRect/>
          </a:stretch>
        </p:blipFill>
        <p:spPr>
          <a:xfrm>
            <a:off x="9154973" y="1858061"/>
            <a:ext cx="261518" cy="261518"/>
          </a:xfrm>
          <a:prstGeom prst="rect">
            <a:avLst/>
          </a:prstGeom>
        </p:spPr>
      </p:pic>
      <p:sp>
        <p:nvSpPr>
          <p:cNvPr id="44" name="Text 35"/>
          <p:cNvSpPr txBox="1"/>
          <p:nvPr/>
        </p:nvSpPr>
        <p:spPr>
          <a:xfrm>
            <a:off x="9674352" y="1737360"/>
            <a:ext cx="1828800" cy="502920"/>
          </a:xfrm>
          <a:prstGeom prst="rect">
            <a:avLst/>
          </a:prstGeom>
          <a:noFill/>
          <a:ln/>
        </p:spPr>
        <p:txBody>
          <a:bodyPr wrap="square" lIns="0" tIns="0" rIns="0" bIns="0" rtlCol="0" anchor="ctr"/>
          <a:lstStyle/>
          <a:p>
            <a:pPr indent="0" marL="0">
              <a:buNone/>
            </a:pPr>
            <a:r>
              <a:rPr lang="en-US" sz="1800" b="1" dirty="0">
                <a:solidFill>
                  <a:schemeClr val="tx1"/>
                </a:solidFill>
              </a:rPr>
              <a:t>Job</a:t>
            </a:r>
            <a:endParaRPr lang="en-US" sz="1800" dirty="0"/>
          </a:p>
        </p:txBody>
      </p:sp>
      <p:sp>
        <p:nvSpPr>
          <p:cNvPr id="45" name="Text 36"/>
          <p:cNvSpPr txBox="1"/>
          <p:nvPr/>
        </p:nvSpPr>
        <p:spPr>
          <a:xfrm>
            <a:off x="9079992" y="2423160"/>
            <a:ext cx="2423160" cy="1280160"/>
          </a:xfrm>
          <a:prstGeom prst="rect">
            <a:avLst/>
          </a:prstGeom>
          <a:noFill/>
          <a:ln/>
        </p:spPr>
        <p:txBody>
          <a:bodyPr wrap="square" lIns="0" tIns="0" rIns="0" bIns="0" rtlCol="0" anchor="ctr"/>
          <a:lstStyle/>
          <a:p>
            <a:pPr indent="0" marL="0">
              <a:spcAft>
                <a:spcPts val="300"/>
              </a:spcAft>
              <a:buNone/>
            </a:pPr>
            <a:r>
              <a:rPr lang="en-US" sz="1400" dirty="0">
                <a:solidFill>
                  <a:srgbClr val="3E566B"/>
                </a:solidFill>
              </a:rPr>
              <a:t>Department, Job role</a:t>
            </a:r>
            <a:endParaRPr lang="en-US" sz="1400" dirty="0"/>
          </a:p>
          <a:p>
            <a:pPr indent="0" marL="0">
              <a:spcAft>
                <a:spcPts val="300"/>
              </a:spcAft>
              <a:buNone/>
            </a:pPr>
            <a:r>
              <a:rPr lang="en-US" sz="1400" dirty="0">
                <a:solidFill>
                  <a:srgbClr val="3E566B"/>
                </a:solidFill>
              </a:rPr>
              <a:t>Monthly income</a:t>
            </a:r>
            <a:endParaRPr lang="en-US" sz="1400" dirty="0"/>
          </a:p>
          <a:p>
            <a:pPr indent="0" marL="0">
              <a:spcAft>
                <a:spcPts val="300"/>
              </a:spcAft>
              <a:buNone/>
            </a:pPr>
            <a:r>
              <a:rPr lang="en-US" sz="1400" dirty="0">
                <a:solidFill>
                  <a:srgbClr val="3E566B"/>
                </a:solidFill>
              </a:rPr>
              <a:t>Years at company</a:t>
            </a:r>
            <a:endParaRPr lang="en-US" sz="1400" dirty="0"/>
          </a:p>
          <a:p>
            <a:pPr indent="0" marL="0">
              <a:spcAft>
                <a:spcPts val="300"/>
              </a:spcAft>
              <a:buNone/>
            </a:pPr>
            <a:r>
              <a:rPr lang="en-US" sz="1400" dirty="0">
                <a:solidFill>
                  <a:srgbClr val="3E566B"/>
                </a:solidFill>
              </a:rPr>
              <a:t>Years in role</a:t>
            </a:r>
            <a:endParaRPr lang="en-US" sz="1400" dirty="0"/>
          </a:p>
        </p:txBody>
      </p:sp>
      <p:sp>
        <p:nvSpPr>
          <p:cNvPr id="46" name="Shape 37"/>
          <p:cNvSpPr/>
          <p:nvPr/>
        </p:nvSpPr>
        <p:spPr>
          <a:xfrm>
            <a:off x="5852160" y="3977640"/>
            <a:ext cx="2788920" cy="2240280"/>
          </a:xfrm>
          <a:prstGeom prst="roundRect">
            <a:avLst>
              <a:gd name="adj" fmla="val 5714"/>
            </a:avLst>
          </a:prstGeom>
          <a:solidFill>
            <a:schemeClr val="bg1"/>
          </a:solidFill>
          <a:ln w="9525">
            <a:solidFill>
              <a:srgbClr val="D5E3EE"/>
            </a:solidFill>
            <a:prstDash val="solid"/>
          </a:ln>
          <a:effectLst>
            <a:outerShdw sx="100000" sy="100000" kx="0" ky="0" algn="bl" rotWithShape="0" blurRad="127000" dist="38100" dir="5400000">
              <a:srgbClr val="0B2545">
                <a:alpha val="14000"/>
              </a:srgbClr>
            </a:outerShdw>
          </a:effectLst>
        </p:spPr>
      </p:sp>
      <p:sp>
        <p:nvSpPr>
          <p:cNvPr id="47" name="Shape 38"/>
          <p:cNvSpPr/>
          <p:nvPr/>
        </p:nvSpPr>
        <p:spPr>
          <a:xfrm>
            <a:off x="6035040" y="4160520"/>
            <a:ext cx="502920" cy="502920"/>
          </a:xfrm>
          <a:prstGeom prst="ellipse">
            <a:avLst/>
          </a:prstGeom>
          <a:solidFill>
            <a:schemeClr val="tx2"/>
          </a:solidFill>
          <a:ln w="6350">
            <a:solidFill>
              <a:schemeClr val="tx2"/>
            </a:solidFill>
            <a:prstDash val="solid"/>
          </a:ln>
        </p:spPr>
      </p:sp>
      <p:pic>
        <p:nvPicPr>
          <p:cNvPr id="48" name="Image 6" descr="preencoded.png">    </p:cNvPr>
          <p:cNvPicPr>
            <a:picLocks noChangeAspect="1"/>
          </p:cNvPicPr>
          <p:nvPr/>
        </p:nvPicPr>
        <p:blipFill>
          <a:blip r:embed="rId9"/>
          <a:stretch>
            <a:fillRect/>
          </a:stretch>
        </p:blipFill>
        <p:spPr>
          <a:xfrm>
            <a:off x="6155741" y="4281221"/>
            <a:ext cx="261518" cy="261518"/>
          </a:xfrm>
          <a:prstGeom prst="rect">
            <a:avLst/>
          </a:prstGeom>
        </p:spPr>
      </p:pic>
      <p:sp>
        <p:nvSpPr>
          <p:cNvPr id="49" name="Text 39"/>
          <p:cNvSpPr txBox="1"/>
          <p:nvPr/>
        </p:nvSpPr>
        <p:spPr>
          <a:xfrm>
            <a:off x="6675120" y="4160520"/>
            <a:ext cx="1828800" cy="502920"/>
          </a:xfrm>
          <a:prstGeom prst="rect">
            <a:avLst/>
          </a:prstGeom>
          <a:noFill/>
          <a:ln/>
        </p:spPr>
        <p:txBody>
          <a:bodyPr wrap="square" lIns="0" tIns="0" rIns="0" bIns="0" rtlCol="0" anchor="ctr"/>
          <a:lstStyle/>
          <a:p>
            <a:pPr indent="0" marL="0">
              <a:buNone/>
            </a:pPr>
            <a:r>
              <a:rPr lang="en-US" sz="1800" b="1" dirty="0">
                <a:solidFill>
                  <a:schemeClr val="tx1"/>
                </a:solidFill>
              </a:rPr>
              <a:t>Performance</a:t>
            </a:r>
            <a:endParaRPr lang="en-US" sz="1800" dirty="0"/>
          </a:p>
        </p:txBody>
      </p:sp>
      <p:sp>
        <p:nvSpPr>
          <p:cNvPr id="50" name="Text 40"/>
          <p:cNvSpPr txBox="1"/>
          <p:nvPr/>
        </p:nvSpPr>
        <p:spPr>
          <a:xfrm>
            <a:off x="6080760" y="4846320"/>
            <a:ext cx="2423160" cy="1280160"/>
          </a:xfrm>
          <a:prstGeom prst="rect">
            <a:avLst/>
          </a:prstGeom>
          <a:noFill/>
          <a:ln/>
        </p:spPr>
        <p:txBody>
          <a:bodyPr wrap="square" lIns="0" tIns="0" rIns="0" bIns="0" rtlCol="0" anchor="ctr"/>
          <a:lstStyle/>
          <a:p>
            <a:pPr indent="0" marL="0">
              <a:spcAft>
                <a:spcPts val="300"/>
              </a:spcAft>
              <a:buNone/>
            </a:pPr>
            <a:r>
              <a:rPr lang="en-US" sz="1400" dirty="0">
                <a:solidFill>
                  <a:srgbClr val="3E566B"/>
                </a:solidFill>
              </a:rPr>
              <a:t>Performance rating</a:t>
            </a:r>
            <a:endParaRPr lang="en-US" sz="1400" dirty="0"/>
          </a:p>
          <a:p>
            <a:pPr indent="0" marL="0">
              <a:spcAft>
                <a:spcPts val="300"/>
              </a:spcAft>
              <a:buNone/>
            </a:pPr>
            <a:r>
              <a:rPr lang="en-US" sz="1400" dirty="0">
                <a:solidFill>
                  <a:srgbClr val="3E566B"/>
                </a:solidFill>
              </a:rPr>
              <a:t>Job satisfaction</a:t>
            </a:r>
            <a:endParaRPr lang="en-US" sz="1400" dirty="0"/>
          </a:p>
          <a:p>
            <a:pPr indent="0" marL="0">
              <a:spcAft>
                <a:spcPts val="300"/>
              </a:spcAft>
              <a:buNone/>
            </a:pPr>
            <a:r>
              <a:rPr lang="en-US" sz="1400" dirty="0">
                <a:solidFill>
                  <a:srgbClr val="3E566B"/>
                </a:solidFill>
              </a:rPr>
              <a:t>Work-life balance</a:t>
            </a:r>
            <a:endParaRPr lang="en-US" sz="1400" dirty="0"/>
          </a:p>
          <a:p>
            <a:pPr indent="0" marL="0">
              <a:spcAft>
                <a:spcPts val="300"/>
              </a:spcAft>
              <a:buNone/>
            </a:pPr>
            <a:r>
              <a:rPr lang="en-US" sz="1400" dirty="0">
                <a:solidFill>
                  <a:srgbClr val="3E566B"/>
                </a:solidFill>
              </a:rPr>
              <a:t>Training hours</a:t>
            </a:r>
            <a:endParaRPr lang="en-US" sz="1400" dirty="0"/>
          </a:p>
        </p:txBody>
      </p:sp>
      <p:sp>
        <p:nvSpPr>
          <p:cNvPr id="51" name="Shape 41"/>
          <p:cNvSpPr/>
          <p:nvPr/>
        </p:nvSpPr>
        <p:spPr>
          <a:xfrm>
            <a:off x="8851392" y="3977640"/>
            <a:ext cx="2788920" cy="2240280"/>
          </a:xfrm>
          <a:prstGeom prst="roundRect">
            <a:avLst>
              <a:gd name="adj" fmla="val 5714"/>
            </a:avLst>
          </a:prstGeom>
          <a:solidFill>
            <a:schemeClr val="bg1"/>
          </a:solidFill>
          <a:ln w="9525">
            <a:solidFill>
              <a:srgbClr val="D5E3EE"/>
            </a:solidFill>
            <a:prstDash val="solid"/>
          </a:ln>
          <a:effectLst>
            <a:outerShdw sx="100000" sy="100000" kx="0" ky="0" algn="bl" rotWithShape="0" blurRad="127000" dist="38100" dir="5400000">
              <a:srgbClr val="0B2545">
                <a:alpha val="14000"/>
              </a:srgbClr>
            </a:outerShdw>
          </a:effectLst>
        </p:spPr>
      </p:sp>
      <p:sp>
        <p:nvSpPr>
          <p:cNvPr id="52" name="Shape 42"/>
          <p:cNvSpPr/>
          <p:nvPr/>
        </p:nvSpPr>
        <p:spPr>
          <a:xfrm>
            <a:off x="9034272" y="4160520"/>
            <a:ext cx="502920" cy="502920"/>
          </a:xfrm>
          <a:prstGeom prst="ellipse">
            <a:avLst/>
          </a:prstGeom>
          <a:solidFill>
            <a:schemeClr val="accent1"/>
          </a:solidFill>
          <a:ln w="6350">
            <a:solidFill>
              <a:schemeClr val="accent1"/>
            </a:solidFill>
            <a:prstDash val="solid"/>
          </a:ln>
        </p:spPr>
      </p:sp>
      <p:pic>
        <p:nvPicPr>
          <p:cNvPr id="53" name="Image 7" descr="preencoded.png">    </p:cNvPr>
          <p:cNvPicPr>
            <a:picLocks noChangeAspect="1"/>
          </p:cNvPicPr>
          <p:nvPr/>
        </p:nvPicPr>
        <p:blipFill>
          <a:blip r:embed="rId10"/>
          <a:stretch>
            <a:fillRect/>
          </a:stretch>
        </p:blipFill>
        <p:spPr>
          <a:xfrm>
            <a:off x="9154973" y="4281221"/>
            <a:ext cx="261518" cy="261518"/>
          </a:xfrm>
          <a:prstGeom prst="rect">
            <a:avLst/>
          </a:prstGeom>
        </p:spPr>
      </p:pic>
      <p:sp>
        <p:nvSpPr>
          <p:cNvPr id="54" name="Text 43"/>
          <p:cNvSpPr txBox="1"/>
          <p:nvPr/>
        </p:nvSpPr>
        <p:spPr>
          <a:xfrm>
            <a:off x="9674352" y="4160520"/>
            <a:ext cx="1828800" cy="502920"/>
          </a:xfrm>
          <a:prstGeom prst="rect">
            <a:avLst/>
          </a:prstGeom>
          <a:noFill/>
          <a:ln/>
        </p:spPr>
        <p:txBody>
          <a:bodyPr wrap="square" lIns="0" tIns="0" rIns="0" bIns="0" rtlCol="0" anchor="ctr"/>
          <a:lstStyle/>
          <a:p>
            <a:pPr indent="0" marL="0">
              <a:buNone/>
            </a:pPr>
            <a:r>
              <a:rPr lang="en-US" sz="1800" b="1" dirty="0">
                <a:solidFill>
                  <a:schemeClr val="tx1"/>
                </a:solidFill>
              </a:rPr>
              <a:t>Exit &amp; Work</a:t>
            </a:r>
            <a:endParaRPr lang="en-US" sz="1800" dirty="0"/>
          </a:p>
        </p:txBody>
      </p:sp>
      <p:sp>
        <p:nvSpPr>
          <p:cNvPr id="55" name="Text 44"/>
          <p:cNvSpPr txBox="1"/>
          <p:nvPr/>
        </p:nvSpPr>
        <p:spPr>
          <a:xfrm>
            <a:off x="9079992" y="4846320"/>
            <a:ext cx="2423160" cy="1280160"/>
          </a:xfrm>
          <a:prstGeom prst="rect">
            <a:avLst/>
          </a:prstGeom>
          <a:noFill/>
          <a:ln/>
        </p:spPr>
        <p:txBody>
          <a:bodyPr wrap="square" lIns="0" tIns="0" rIns="0" bIns="0" rtlCol="0" anchor="ctr"/>
          <a:lstStyle/>
          <a:p>
            <a:pPr indent="0" marL="0">
              <a:spcAft>
                <a:spcPts val="300"/>
              </a:spcAft>
              <a:buNone/>
            </a:pPr>
            <a:r>
              <a:rPr lang="en-US" sz="1400" dirty="0">
                <a:solidFill>
                  <a:srgbClr val="3E566B"/>
                </a:solidFill>
              </a:rPr>
              <a:t>Attrition (Yes/No)</a:t>
            </a:r>
            <a:endParaRPr lang="en-US" sz="1400" dirty="0"/>
          </a:p>
          <a:p>
            <a:pPr indent="0" marL="0">
              <a:spcAft>
                <a:spcPts val="300"/>
              </a:spcAft>
              <a:buNone/>
            </a:pPr>
            <a:r>
              <a:rPr lang="en-US" sz="1400" dirty="0">
                <a:solidFill>
                  <a:srgbClr val="3E566B"/>
                </a:solidFill>
              </a:rPr>
              <a:t>Overtime</a:t>
            </a:r>
            <a:endParaRPr lang="en-US" sz="1400" dirty="0"/>
          </a:p>
          <a:p>
            <a:pPr indent="0" marL="0">
              <a:spcAft>
                <a:spcPts val="300"/>
              </a:spcAft>
              <a:buNone/>
            </a:pPr>
            <a:r>
              <a:rPr lang="en-US" sz="1400" dirty="0">
                <a:solidFill>
                  <a:srgbClr val="3E566B"/>
                </a:solidFill>
              </a:rPr>
              <a:t>Distance from home</a:t>
            </a:r>
            <a:endParaRPr lang="en-US" sz="1400" dirty="0"/>
          </a:p>
          <a:p>
            <a:pPr indent="0" marL="0">
              <a:spcAft>
                <a:spcPts val="300"/>
              </a:spcAft>
              <a:buNone/>
            </a:pPr>
            <a:r>
              <a:rPr lang="en-US" sz="1400" dirty="0">
                <a:solidFill>
                  <a:srgbClr val="3E566B"/>
                </a:solidFill>
              </a:rPr>
              <a:t>Stock option level</a:t>
            </a:r>
            <a:endParaRPr lang="en-US" sz="14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9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txBox="1"/>
          <p:nvPr>
            <p:ph idx="101" type="title" hasCustomPrompt="1"/>
          </p:nvPr>
        </p:nvSpPr>
        <p:spPr>
          <a:xfrm>
            <a:off x="548640" y="621792"/>
            <a:ext cx="11091672" cy="731520"/>
          </a:xfrm>
          <a:prstGeom prst="rect">
            <a:avLst/>
          </a:prstGeom>
          <a:noFill/>
          <a:ln/>
        </p:spPr>
        <p:txBody>
          <a:bodyPr wrap="square" lIns="0" tIns="0" rIns="0" bIns="0" rtlCol="0" anchor="ctr"/>
          <a:lstStyle/>
          <a:p>
            <a:pPr algn="l" indent="0" marL="0">
              <a:buNone/>
            </a:pPr>
            <a:r>
              <a:rPr lang="en-US" sz="3600" b="1" dirty="0">
                <a:solidFill>
                  <a:schemeClr val="tx1"/>
                </a:solidFill>
              </a:rPr>
              <a:t>Raw Dataset Backup</a:t>
            </a:r>
            <a:endParaRPr lang="en-US" sz="3600" dirty="0"/>
          </a:p>
        </p:txBody>
      </p:sp>
      <p:sp>
        <p:nvSpPr>
          <p:cNvPr id="3" name="Text 1"/>
          <p:cNvSpPr txBox="1"/>
          <p:nvPr/>
        </p:nvSpPr>
        <p:spPr>
          <a:xfrm>
            <a:off x="548640" y="329184"/>
            <a:ext cx="77724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STEP 04 OF 11  ·  RAW DATASET BACKUP</a:t>
            </a:r>
            <a:endParaRPr lang="en-US" sz="1200" dirty="0"/>
          </a:p>
        </p:txBody>
      </p:sp>
      <p:sp>
        <p:nvSpPr>
          <p:cNvPr id="4" name="Shape 2"/>
          <p:cNvSpPr/>
          <p:nvPr/>
        </p:nvSpPr>
        <p:spPr>
          <a:xfrm>
            <a:off x="9166860" y="406908"/>
            <a:ext cx="118872" cy="118872"/>
          </a:xfrm>
          <a:prstGeom prst="ellipse">
            <a:avLst/>
          </a:prstGeom>
          <a:solidFill>
            <a:schemeClr val="accent1"/>
          </a:solidFill>
          <a:ln w="3175">
            <a:solidFill>
              <a:schemeClr val="accent1"/>
            </a:solidFill>
            <a:prstDash val="solid"/>
          </a:ln>
        </p:spPr>
      </p:sp>
      <p:sp>
        <p:nvSpPr>
          <p:cNvPr id="5" name="Shape 3"/>
          <p:cNvSpPr/>
          <p:nvPr/>
        </p:nvSpPr>
        <p:spPr>
          <a:xfrm>
            <a:off x="9399118" y="406908"/>
            <a:ext cx="118872" cy="118872"/>
          </a:xfrm>
          <a:prstGeom prst="ellipse">
            <a:avLst/>
          </a:prstGeom>
          <a:solidFill>
            <a:schemeClr val="accent1"/>
          </a:solidFill>
          <a:ln w="3175">
            <a:solidFill>
              <a:schemeClr val="accent1"/>
            </a:solidFill>
            <a:prstDash val="solid"/>
          </a:ln>
        </p:spPr>
      </p:sp>
      <p:sp>
        <p:nvSpPr>
          <p:cNvPr id="6" name="Shape 4"/>
          <p:cNvSpPr/>
          <p:nvPr/>
        </p:nvSpPr>
        <p:spPr>
          <a:xfrm>
            <a:off x="9631375" y="406908"/>
            <a:ext cx="118872" cy="118872"/>
          </a:xfrm>
          <a:prstGeom prst="ellipse">
            <a:avLst/>
          </a:prstGeom>
          <a:solidFill>
            <a:schemeClr val="accent1"/>
          </a:solidFill>
          <a:ln w="3175">
            <a:solidFill>
              <a:schemeClr val="accent1"/>
            </a:solidFill>
            <a:prstDash val="solid"/>
          </a:ln>
        </p:spPr>
      </p:sp>
      <p:sp>
        <p:nvSpPr>
          <p:cNvPr id="7" name="Shape 5"/>
          <p:cNvSpPr/>
          <p:nvPr/>
        </p:nvSpPr>
        <p:spPr>
          <a:xfrm>
            <a:off x="9831629" y="374904"/>
            <a:ext cx="182880" cy="182880"/>
          </a:xfrm>
          <a:prstGeom prst="ellipse">
            <a:avLst/>
          </a:prstGeom>
          <a:solidFill>
            <a:schemeClr val="accent3"/>
          </a:solidFill>
          <a:ln w="3175">
            <a:solidFill>
              <a:schemeClr val="accent3"/>
            </a:solidFill>
            <a:prstDash val="solid"/>
          </a:ln>
        </p:spPr>
      </p:sp>
      <p:sp>
        <p:nvSpPr>
          <p:cNvPr id="8" name="Shape 6"/>
          <p:cNvSpPr/>
          <p:nvPr/>
        </p:nvSpPr>
        <p:spPr>
          <a:xfrm>
            <a:off x="10095890" y="406908"/>
            <a:ext cx="118872" cy="118872"/>
          </a:xfrm>
          <a:prstGeom prst="ellipse">
            <a:avLst/>
          </a:prstGeom>
          <a:solidFill>
            <a:srgbClr val="C4D3DF"/>
          </a:solidFill>
          <a:ln w="3175">
            <a:solidFill>
              <a:srgbClr val="C4D3DF"/>
            </a:solidFill>
            <a:prstDash val="solid"/>
          </a:ln>
        </p:spPr>
      </p:sp>
      <p:sp>
        <p:nvSpPr>
          <p:cNvPr id="9" name="Shape 7"/>
          <p:cNvSpPr/>
          <p:nvPr/>
        </p:nvSpPr>
        <p:spPr>
          <a:xfrm>
            <a:off x="10328148" y="406908"/>
            <a:ext cx="118872" cy="118872"/>
          </a:xfrm>
          <a:prstGeom prst="ellipse">
            <a:avLst/>
          </a:prstGeom>
          <a:solidFill>
            <a:srgbClr val="C4D3DF"/>
          </a:solidFill>
          <a:ln w="3175">
            <a:solidFill>
              <a:srgbClr val="C4D3DF"/>
            </a:solidFill>
            <a:prstDash val="solid"/>
          </a:ln>
        </p:spPr>
      </p:sp>
      <p:sp>
        <p:nvSpPr>
          <p:cNvPr id="10" name="Shape 8"/>
          <p:cNvSpPr/>
          <p:nvPr/>
        </p:nvSpPr>
        <p:spPr>
          <a:xfrm>
            <a:off x="10560406" y="406908"/>
            <a:ext cx="118872" cy="118872"/>
          </a:xfrm>
          <a:prstGeom prst="ellipse">
            <a:avLst/>
          </a:prstGeom>
          <a:solidFill>
            <a:srgbClr val="C4D3DF"/>
          </a:solidFill>
          <a:ln w="3175">
            <a:solidFill>
              <a:srgbClr val="C4D3DF"/>
            </a:solidFill>
            <a:prstDash val="solid"/>
          </a:ln>
        </p:spPr>
      </p:sp>
      <p:sp>
        <p:nvSpPr>
          <p:cNvPr id="11" name="Shape 9"/>
          <p:cNvSpPr/>
          <p:nvPr/>
        </p:nvSpPr>
        <p:spPr>
          <a:xfrm>
            <a:off x="10792663" y="406908"/>
            <a:ext cx="118872" cy="118872"/>
          </a:xfrm>
          <a:prstGeom prst="ellipse">
            <a:avLst/>
          </a:prstGeom>
          <a:solidFill>
            <a:srgbClr val="C4D3DF"/>
          </a:solidFill>
          <a:ln w="3175">
            <a:solidFill>
              <a:srgbClr val="C4D3DF"/>
            </a:solidFill>
            <a:prstDash val="solid"/>
          </a:ln>
        </p:spPr>
      </p:sp>
      <p:sp>
        <p:nvSpPr>
          <p:cNvPr id="12" name="Shape 10"/>
          <p:cNvSpPr/>
          <p:nvPr/>
        </p:nvSpPr>
        <p:spPr>
          <a:xfrm>
            <a:off x="11024921" y="406908"/>
            <a:ext cx="118872" cy="118872"/>
          </a:xfrm>
          <a:prstGeom prst="ellipse">
            <a:avLst/>
          </a:prstGeom>
          <a:solidFill>
            <a:srgbClr val="C4D3DF"/>
          </a:solidFill>
          <a:ln w="3175">
            <a:solidFill>
              <a:srgbClr val="C4D3DF"/>
            </a:solidFill>
            <a:prstDash val="solid"/>
          </a:ln>
        </p:spPr>
      </p:sp>
      <p:sp>
        <p:nvSpPr>
          <p:cNvPr id="13" name="Shape 11"/>
          <p:cNvSpPr/>
          <p:nvPr/>
        </p:nvSpPr>
        <p:spPr>
          <a:xfrm>
            <a:off x="11257178" y="406908"/>
            <a:ext cx="118872" cy="118872"/>
          </a:xfrm>
          <a:prstGeom prst="ellipse">
            <a:avLst/>
          </a:prstGeom>
          <a:solidFill>
            <a:srgbClr val="C4D3DF"/>
          </a:solidFill>
          <a:ln w="3175">
            <a:solidFill>
              <a:srgbClr val="C4D3DF"/>
            </a:solidFill>
            <a:prstDash val="solid"/>
          </a:ln>
        </p:spPr>
      </p:sp>
      <p:sp>
        <p:nvSpPr>
          <p:cNvPr id="14" name="Shape 12"/>
          <p:cNvSpPr/>
          <p:nvPr/>
        </p:nvSpPr>
        <p:spPr>
          <a:xfrm>
            <a:off x="11489436" y="406908"/>
            <a:ext cx="118872" cy="118872"/>
          </a:xfrm>
          <a:prstGeom prst="ellipse">
            <a:avLst/>
          </a:prstGeom>
          <a:solidFill>
            <a:srgbClr val="C4D3DF"/>
          </a:solidFill>
          <a:ln w="3175">
            <a:solidFill>
              <a:srgbClr val="C4D3DF"/>
            </a:solidFill>
            <a:prstDash val="solid"/>
          </a:ln>
        </p:spPr>
      </p:sp>
      <p:sp>
        <p:nvSpPr>
          <p:cNvPr id="16" name="Shape 13"/>
          <p:cNvSpPr/>
          <p:nvPr/>
        </p:nvSpPr>
        <p:spPr>
          <a:xfrm>
            <a:off x="548640" y="1554480"/>
            <a:ext cx="5120640" cy="1371600"/>
          </a:xfrm>
          <a:prstGeom prst="roundRect">
            <a:avLst>
              <a:gd name="adj" fmla="val 9333"/>
            </a:avLst>
          </a:prstGeom>
          <a:solidFill>
            <a:schemeClr val="bg1"/>
          </a:solidFill>
          <a:ln w="9525">
            <a:solidFill>
              <a:srgbClr val="D5E3EE"/>
            </a:solidFill>
            <a:prstDash val="solid"/>
          </a:ln>
          <a:effectLst>
            <a:outerShdw sx="100000" sy="100000" kx="0" ky="0" algn="bl" rotWithShape="0" blurRad="127000" dist="38100" dir="5400000">
              <a:srgbClr val="0B2545">
                <a:alpha val="14000"/>
              </a:srgbClr>
            </a:outerShdw>
          </a:effectLst>
        </p:spPr>
      </p:sp>
      <p:sp>
        <p:nvSpPr>
          <p:cNvPr id="17" name="Shape 14"/>
          <p:cNvSpPr/>
          <p:nvPr/>
        </p:nvSpPr>
        <p:spPr>
          <a:xfrm>
            <a:off x="777240" y="1901952"/>
            <a:ext cx="685800" cy="685800"/>
          </a:xfrm>
          <a:prstGeom prst="ellipse">
            <a:avLst/>
          </a:prstGeom>
          <a:solidFill>
            <a:schemeClr val="accent3"/>
          </a:solidFill>
          <a:ln w="6350">
            <a:solidFill>
              <a:schemeClr val="accent3"/>
            </a:solidFill>
            <a:prstDash val="solid"/>
          </a:ln>
        </p:spPr>
      </p:sp>
      <p:pic>
        <p:nvPicPr>
          <p:cNvPr id="18" name="Image 0" descr="preencoded.png">    </p:cNvPr>
          <p:cNvPicPr>
            <a:picLocks noChangeAspect="1"/>
          </p:cNvPicPr>
          <p:nvPr/>
        </p:nvPicPr>
        <p:blipFill>
          <a:blip r:embed="rId1"/>
          <a:stretch>
            <a:fillRect/>
          </a:stretch>
        </p:blipFill>
        <p:spPr>
          <a:xfrm>
            <a:off x="941832" y="2066544"/>
            <a:ext cx="356616" cy="356616"/>
          </a:xfrm>
          <a:prstGeom prst="rect">
            <a:avLst/>
          </a:prstGeom>
        </p:spPr>
      </p:pic>
      <p:sp>
        <p:nvSpPr>
          <p:cNvPr id="19" name="Text 15"/>
          <p:cNvSpPr txBox="1"/>
          <p:nvPr/>
        </p:nvSpPr>
        <p:spPr>
          <a:xfrm>
            <a:off x="1691640" y="1901952"/>
            <a:ext cx="3840480" cy="365760"/>
          </a:xfrm>
          <a:prstGeom prst="rect">
            <a:avLst/>
          </a:prstGeom>
          <a:noFill/>
          <a:ln/>
        </p:spPr>
        <p:txBody>
          <a:bodyPr wrap="square" lIns="0" tIns="0" rIns="0" bIns="0" rtlCol="0" anchor="ctr"/>
          <a:lstStyle/>
          <a:p>
            <a:pPr indent="0" marL="0">
              <a:buNone/>
            </a:pPr>
            <a:r>
              <a:rPr lang="en-US" sz="2000" b="1" dirty="0">
                <a:solidFill>
                  <a:schemeClr val="tx1"/>
                </a:solidFill>
              </a:rPr>
              <a:t>Keep the original safe</a:t>
            </a:r>
            <a:endParaRPr lang="en-US" sz="2000" dirty="0"/>
          </a:p>
        </p:txBody>
      </p:sp>
      <p:sp>
        <p:nvSpPr>
          <p:cNvPr id="20" name="Text 16"/>
          <p:cNvSpPr txBox="1"/>
          <p:nvPr/>
        </p:nvSpPr>
        <p:spPr>
          <a:xfrm>
            <a:off x="1691640" y="2304288"/>
            <a:ext cx="3840480" cy="320040"/>
          </a:xfrm>
          <a:prstGeom prst="rect">
            <a:avLst/>
          </a:prstGeom>
          <a:noFill/>
          <a:ln/>
        </p:spPr>
        <p:txBody>
          <a:bodyPr wrap="square" lIns="0" tIns="0" rIns="0" bIns="0" rtlCol="0" anchor="ctr"/>
          <a:lstStyle/>
          <a:p>
            <a:pPr indent="0" marL="0">
              <a:buNone/>
            </a:pPr>
            <a:r>
              <a:rPr lang="en-US" sz="1400" dirty="0">
                <a:solidFill>
                  <a:srgbClr val="5B7083"/>
                </a:solidFill>
              </a:rPr>
              <a:t>The raw file is never edited.</a:t>
            </a:r>
            <a:endParaRPr lang="en-US" sz="1400" dirty="0"/>
          </a:p>
        </p:txBody>
      </p:sp>
      <p:sp>
        <p:nvSpPr>
          <p:cNvPr id="21" name="Shape 17"/>
          <p:cNvSpPr/>
          <p:nvPr/>
        </p:nvSpPr>
        <p:spPr>
          <a:xfrm>
            <a:off x="548640" y="3108960"/>
            <a:ext cx="5120640" cy="1371600"/>
          </a:xfrm>
          <a:prstGeom prst="roundRect">
            <a:avLst>
              <a:gd name="adj" fmla="val 9333"/>
            </a:avLst>
          </a:prstGeom>
          <a:solidFill>
            <a:schemeClr val="bg1"/>
          </a:solidFill>
          <a:ln w="9525">
            <a:solidFill>
              <a:srgbClr val="D5E3EE"/>
            </a:solidFill>
            <a:prstDash val="solid"/>
          </a:ln>
          <a:effectLst>
            <a:outerShdw sx="100000" sy="100000" kx="0" ky="0" algn="bl" rotWithShape="0" blurRad="127000" dist="38100" dir="5400000">
              <a:srgbClr val="0B2545">
                <a:alpha val="14000"/>
              </a:srgbClr>
            </a:outerShdw>
          </a:effectLst>
        </p:spPr>
      </p:sp>
      <p:sp>
        <p:nvSpPr>
          <p:cNvPr id="22" name="Shape 18"/>
          <p:cNvSpPr/>
          <p:nvPr/>
        </p:nvSpPr>
        <p:spPr>
          <a:xfrm>
            <a:off x="777240" y="3456432"/>
            <a:ext cx="685800" cy="685800"/>
          </a:xfrm>
          <a:prstGeom prst="ellipse">
            <a:avLst/>
          </a:prstGeom>
          <a:solidFill>
            <a:schemeClr val="accent1"/>
          </a:solidFill>
          <a:ln w="6350">
            <a:solidFill>
              <a:schemeClr val="accent1"/>
            </a:solidFill>
            <a:prstDash val="solid"/>
          </a:ln>
        </p:spPr>
      </p:sp>
      <p:pic>
        <p:nvPicPr>
          <p:cNvPr id="23" name="Image 1" descr="preencoded.png">    </p:cNvPr>
          <p:cNvPicPr>
            <a:picLocks noChangeAspect="1"/>
          </p:cNvPicPr>
          <p:nvPr/>
        </p:nvPicPr>
        <p:blipFill>
          <a:blip r:embed="rId2"/>
          <a:stretch>
            <a:fillRect/>
          </a:stretch>
        </p:blipFill>
        <p:spPr>
          <a:xfrm>
            <a:off x="941832" y="3621024"/>
            <a:ext cx="356616" cy="356616"/>
          </a:xfrm>
          <a:prstGeom prst="rect">
            <a:avLst/>
          </a:prstGeom>
        </p:spPr>
      </p:pic>
      <p:sp>
        <p:nvSpPr>
          <p:cNvPr id="24" name="Text 19"/>
          <p:cNvSpPr txBox="1"/>
          <p:nvPr/>
        </p:nvSpPr>
        <p:spPr>
          <a:xfrm>
            <a:off x="1691640" y="3456432"/>
            <a:ext cx="3840480" cy="365760"/>
          </a:xfrm>
          <a:prstGeom prst="rect">
            <a:avLst/>
          </a:prstGeom>
          <a:noFill/>
          <a:ln/>
        </p:spPr>
        <p:txBody>
          <a:bodyPr wrap="square" lIns="0" tIns="0" rIns="0" bIns="0" rtlCol="0" anchor="ctr"/>
          <a:lstStyle/>
          <a:p>
            <a:pPr indent="0" marL="0">
              <a:buNone/>
            </a:pPr>
            <a:r>
              <a:rPr lang="en-US" sz="2000" b="1" dirty="0">
                <a:solidFill>
                  <a:schemeClr val="tx1"/>
                </a:solidFill>
              </a:rPr>
              <a:t>Compare before and after</a:t>
            </a:r>
            <a:endParaRPr lang="en-US" sz="2000" dirty="0"/>
          </a:p>
        </p:txBody>
      </p:sp>
      <p:sp>
        <p:nvSpPr>
          <p:cNvPr id="25" name="Text 20"/>
          <p:cNvSpPr txBox="1"/>
          <p:nvPr/>
        </p:nvSpPr>
        <p:spPr>
          <a:xfrm>
            <a:off x="1691640" y="3858768"/>
            <a:ext cx="3840480" cy="320040"/>
          </a:xfrm>
          <a:prstGeom prst="rect">
            <a:avLst/>
          </a:prstGeom>
          <a:noFill/>
          <a:ln/>
        </p:spPr>
        <p:txBody>
          <a:bodyPr wrap="square" lIns="0" tIns="0" rIns="0" bIns="0" rtlCol="0" anchor="ctr"/>
          <a:lstStyle/>
          <a:p>
            <a:pPr indent="0" marL="0">
              <a:buNone/>
            </a:pPr>
            <a:r>
              <a:rPr lang="en-US" sz="1400" dirty="0">
                <a:solidFill>
                  <a:srgbClr val="5B7083"/>
                </a:solidFill>
              </a:rPr>
              <a:t>Raw has 20 columns, clean has 28.</a:t>
            </a:r>
            <a:endParaRPr lang="en-US" sz="1400" dirty="0"/>
          </a:p>
        </p:txBody>
      </p:sp>
      <p:sp>
        <p:nvSpPr>
          <p:cNvPr id="26" name="Shape 21"/>
          <p:cNvSpPr/>
          <p:nvPr/>
        </p:nvSpPr>
        <p:spPr>
          <a:xfrm>
            <a:off x="548640" y="4663440"/>
            <a:ext cx="5120640" cy="1371600"/>
          </a:xfrm>
          <a:prstGeom prst="roundRect">
            <a:avLst>
              <a:gd name="adj" fmla="val 9333"/>
            </a:avLst>
          </a:prstGeom>
          <a:solidFill>
            <a:schemeClr val="bg1"/>
          </a:solidFill>
          <a:ln w="9525">
            <a:solidFill>
              <a:srgbClr val="D5E3EE"/>
            </a:solidFill>
            <a:prstDash val="solid"/>
          </a:ln>
          <a:effectLst>
            <a:outerShdw sx="100000" sy="100000" kx="0" ky="0" algn="bl" rotWithShape="0" blurRad="127000" dist="38100" dir="5400000">
              <a:srgbClr val="0B2545">
                <a:alpha val="14000"/>
              </a:srgbClr>
            </a:outerShdw>
          </a:effectLst>
        </p:spPr>
      </p:sp>
      <p:sp>
        <p:nvSpPr>
          <p:cNvPr id="27" name="Shape 22"/>
          <p:cNvSpPr/>
          <p:nvPr/>
        </p:nvSpPr>
        <p:spPr>
          <a:xfrm>
            <a:off x="777240" y="5010912"/>
            <a:ext cx="685800" cy="685800"/>
          </a:xfrm>
          <a:prstGeom prst="ellipse">
            <a:avLst/>
          </a:prstGeom>
          <a:solidFill>
            <a:schemeClr val="accent1"/>
          </a:solidFill>
          <a:ln w="6350">
            <a:solidFill>
              <a:schemeClr val="accent1"/>
            </a:solidFill>
            <a:prstDash val="solid"/>
          </a:ln>
        </p:spPr>
      </p:sp>
      <p:pic>
        <p:nvPicPr>
          <p:cNvPr id="28" name="Image 2" descr="preencoded.png">    </p:cNvPr>
          <p:cNvPicPr>
            <a:picLocks noChangeAspect="1"/>
          </p:cNvPicPr>
          <p:nvPr/>
        </p:nvPicPr>
        <p:blipFill>
          <a:blip r:embed="rId3"/>
          <a:stretch>
            <a:fillRect/>
          </a:stretch>
        </p:blipFill>
        <p:spPr>
          <a:xfrm>
            <a:off x="941832" y="5175504"/>
            <a:ext cx="356616" cy="356616"/>
          </a:xfrm>
          <a:prstGeom prst="rect">
            <a:avLst/>
          </a:prstGeom>
        </p:spPr>
      </p:pic>
      <p:sp>
        <p:nvSpPr>
          <p:cNvPr id="29" name="Text 23"/>
          <p:cNvSpPr txBox="1"/>
          <p:nvPr/>
        </p:nvSpPr>
        <p:spPr>
          <a:xfrm>
            <a:off x="1691640" y="5010912"/>
            <a:ext cx="3840480" cy="365760"/>
          </a:xfrm>
          <a:prstGeom prst="rect">
            <a:avLst/>
          </a:prstGeom>
          <a:noFill/>
          <a:ln/>
        </p:spPr>
        <p:txBody>
          <a:bodyPr wrap="square" lIns="0" tIns="0" rIns="0" bIns="0" rtlCol="0" anchor="ctr"/>
          <a:lstStyle/>
          <a:p>
            <a:pPr indent="0" marL="0">
              <a:buNone/>
            </a:pPr>
            <a:r>
              <a:rPr lang="en-US" sz="2000" b="1" dirty="0">
                <a:solidFill>
                  <a:schemeClr val="tx1"/>
                </a:solidFill>
              </a:rPr>
              <a:t>Repeat the work anytime</a:t>
            </a:r>
            <a:endParaRPr lang="en-US" sz="2000" dirty="0"/>
          </a:p>
        </p:txBody>
      </p:sp>
      <p:sp>
        <p:nvSpPr>
          <p:cNvPr id="30" name="Text 24"/>
          <p:cNvSpPr txBox="1"/>
          <p:nvPr/>
        </p:nvSpPr>
        <p:spPr>
          <a:xfrm>
            <a:off x="1691640" y="5413248"/>
            <a:ext cx="3840480" cy="320040"/>
          </a:xfrm>
          <a:prstGeom prst="rect">
            <a:avLst/>
          </a:prstGeom>
          <a:noFill/>
          <a:ln/>
        </p:spPr>
        <p:txBody>
          <a:bodyPr wrap="square" lIns="0" tIns="0" rIns="0" bIns="0" rtlCol="0" anchor="ctr"/>
          <a:lstStyle/>
          <a:p>
            <a:pPr indent="0" marL="0">
              <a:buNone/>
            </a:pPr>
            <a:r>
              <a:rPr lang="en-US" sz="1400" dirty="0">
                <a:solidFill>
                  <a:srgbClr val="5B7083"/>
                </a:solidFill>
              </a:rPr>
              <a:t>Cleaning can always start again.</a:t>
            </a:r>
            <a:endParaRPr lang="en-US" sz="1400" dirty="0"/>
          </a:p>
        </p:txBody>
      </p:sp>
      <p:sp>
        <p:nvSpPr>
          <p:cNvPr id="31" name="Shape 25"/>
          <p:cNvSpPr/>
          <p:nvPr/>
        </p:nvSpPr>
        <p:spPr>
          <a:xfrm>
            <a:off x="6035040" y="1554480"/>
            <a:ext cx="1554480" cy="1508760"/>
          </a:xfrm>
          <a:prstGeom prst="roundRect">
            <a:avLst>
              <a:gd name="adj" fmla="val 8485"/>
            </a:avLst>
          </a:prstGeom>
          <a:solidFill>
            <a:schemeClr val="bg1"/>
          </a:solidFill>
          <a:ln w="9525">
            <a:solidFill>
              <a:srgbClr val="D5E3EE"/>
            </a:solidFill>
            <a:prstDash val="solid"/>
          </a:ln>
          <a:effectLst>
            <a:outerShdw sx="100000" sy="100000" kx="0" ky="0" algn="bl" rotWithShape="0" blurRad="127000" dist="38100" dir="5400000">
              <a:srgbClr val="0B2545">
                <a:alpha val="14000"/>
              </a:srgbClr>
            </a:outerShdw>
          </a:effectLst>
        </p:spPr>
      </p:sp>
      <p:sp>
        <p:nvSpPr>
          <p:cNvPr id="32" name="Shape 26"/>
          <p:cNvSpPr/>
          <p:nvPr/>
        </p:nvSpPr>
        <p:spPr>
          <a:xfrm>
            <a:off x="6537960" y="1719072"/>
            <a:ext cx="548640" cy="548640"/>
          </a:xfrm>
          <a:prstGeom prst="ellipse">
            <a:avLst/>
          </a:prstGeom>
          <a:solidFill>
            <a:schemeClr val="tx2"/>
          </a:solidFill>
          <a:ln w="6350">
            <a:solidFill>
              <a:schemeClr val="tx2"/>
            </a:solidFill>
            <a:prstDash val="solid"/>
          </a:ln>
        </p:spPr>
      </p:sp>
      <p:pic>
        <p:nvPicPr>
          <p:cNvPr id="33" name="Image 3" descr="preencoded.png">    </p:cNvPr>
          <p:cNvPicPr>
            <a:picLocks noChangeAspect="1"/>
          </p:cNvPicPr>
          <p:nvPr/>
        </p:nvPicPr>
        <p:blipFill>
          <a:blip r:embed="rId4"/>
          <a:stretch>
            <a:fillRect/>
          </a:stretch>
        </p:blipFill>
        <p:spPr>
          <a:xfrm>
            <a:off x="6669634" y="1850746"/>
            <a:ext cx="285293" cy="285293"/>
          </a:xfrm>
          <a:prstGeom prst="rect">
            <a:avLst/>
          </a:prstGeom>
        </p:spPr>
      </p:pic>
      <p:sp>
        <p:nvSpPr>
          <p:cNvPr id="34" name="Text 27"/>
          <p:cNvSpPr txBox="1"/>
          <p:nvPr/>
        </p:nvSpPr>
        <p:spPr>
          <a:xfrm>
            <a:off x="6035040" y="2423160"/>
            <a:ext cx="1554480" cy="457200"/>
          </a:xfrm>
          <a:prstGeom prst="rect">
            <a:avLst/>
          </a:prstGeom>
          <a:noFill/>
          <a:ln/>
        </p:spPr>
        <p:txBody>
          <a:bodyPr wrap="square" lIns="0" tIns="0" rIns="0" bIns="0" rtlCol="0" anchor="ctr"/>
          <a:lstStyle/>
          <a:p>
            <a:pPr algn="ctr" indent="0" marL="0">
              <a:buNone/>
            </a:pPr>
            <a:r>
              <a:rPr lang="en-US" sz="1600" b="1" dirty="0">
                <a:solidFill>
                  <a:schemeClr val="tx1"/>
                </a:solidFill>
              </a:rPr>
              <a:t>Kaggle CSV</a:t>
            </a:r>
            <a:endParaRPr lang="en-US" sz="1600" dirty="0"/>
          </a:p>
        </p:txBody>
      </p:sp>
      <p:pic>
        <p:nvPicPr>
          <p:cNvPr id="35" name="Image 4" descr="preencoded.png">    </p:cNvPr>
          <p:cNvPicPr>
            <a:picLocks noChangeAspect="1"/>
          </p:cNvPicPr>
          <p:nvPr/>
        </p:nvPicPr>
        <p:blipFill>
          <a:blip r:embed="rId5"/>
          <a:stretch>
            <a:fillRect/>
          </a:stretch>
        </p:blipFill>
        <p:spPr>
          <a:xfrm>
            <a:off x="7662672" y="2176272"/>
            <a:ext cx="320040" cy="320040"/>
          </a:xfrm>
          <a:prstGeom prst="rect">
            <a:avLst/>
          </a:prstGeom>
        </p:spPr>
      </p:pic>
      <p:sp>
        <p:nvSpPr>
          <p:cNvPr id="36" name="Shape 28"/>
          <p:cNvSpPr/>
          <p:nvPr/>
        </p:nvSpPr>
        <p:spPr>
          <a:xfrm>
            <a:off x="8060436" y="1554480"/>
            <a:ext cx="1554480" cy="1508760"/>
          </a:xfrm>
          <a:prstGeom prst="roundRect">
            <a:avLst>
              <a:gd name="adj" fmla="val 8485"/>
            </a:avLst>
          </a:prstGeom>
          <a:solidFill>
            <a:schemeClr val="bg1"/>
          </a:solidFill>
          <a:ln w="9525">
            <a:solidFill>
              <a:srgbClr val="D5E3EE"/>
            </a:solidFill>
            <a:prstDash val="solid"/>
          </a:ln>
          <a:effectLst>
            <a:outerShdw sx="100000" sy="100000" kx="0" ky="0" algn="bl" rotWithShape="0" blurRad="127000" dist="38100" dir="5400000">
              <a:srgbClr val="0B2545">
                <a:alpha val="14000"/>
              </a:srgbClr>
            </a:outerShdw>
          </a:effectLst>
        </p:spPr>
      </p:sp>
      <p:sp>
        <p:nvSpPr>
          <p:cNvPr id="37" name="Shape 29"/>
          <p:cNvSpPr/>
          <p:nvPr/>
        </p:nvSpPr>
        <p:spPr>
          <a:xfrm>
            <a:off x="8563356" y="1719072"/>
            <a:ext cx="548640" cy="548640"/>
          </a:xfrm>
          <a:prstGeom prst="ellipse">
            <a:avLst/>
          </a:prstGeom>
          <a:solidFill>
            <a:schemeClr val="accent3"/>
          </a:solidFill>
          <a:ln w="6350">
            <a:solidFill>
              <a:schemeClr val="accent3"/>
            </a:solidFill>
            <a:prstDash val="solid"/>
          </a:ln>
        </p:spPr>
      </p:sp>
      <p:pic>
        <p:nvPicPr>
          <p:cNvPr id="38" name="Image 5" descr="preencoded.png">    </p:cNvPr>
          <p:cNvPicPr>
            <a:picLocks noChangeAspect="1"/>
          </p:cNvPicPr>
          <p:nvPr/>
        </p:nvPicPr>
        <p:blipFill>
          <a:blip r:embed="rId6"/>
          <a:stretch>
            <a:fillRect/>
          </a:stretch>
        </p:blipFill>
        <p:spPr>
          <a:xfrm>
            <a:off x="8695030" y="1850746"/>
            <a:ext cx="285293" cy="285293"/>
          </a:xfrm>
          <a:prstGeom prst="rect">
            <a:avLst/>
          </a:prstGeom>
        </p:spPr>
      </p:pic>
      <p:sp>
        <p:nvSpPr>
          <p:cNvPr id="39" name="Text 30"/>
          <p:cNvSpPr txBox="1"/>
          <p:nvPr/>
        </p:nvSpPr>
        <p:spPr>
          <a:xfrm>
            <a:off x="8060436" y="2423160"/>
            <a:ext cx="1554480" cy="457200"/>
          </a:xfrm>
          <a:prstGeom prst="rect">
            <a:avLst/>
          </a:prstGeom>
          <a:noFill/>
          <a:ln/>
        </p:spPr>
        <p:txBody>
          <a:bodyPr wrap="square" lIns="0" tIns="0" rIns="0" bIns="0" rtlCol="0" anchor="ctr"/>
          <a:lstStyle/>
          <a:p>
            <a:pPr algn="ctr" indent="0" marL="0">
              <a:buNone/>
            </a:pPr>
            <a:r>
              <a:rPr lang="en-US" sz="1600" b="1" dirty="0">
                <a:solidFill>
                  <a:schemeClr val="tx1"/>
                </a:solidFill>
              </a:rPr>
              <a:t>Raw backup</a:t>
            </a:r>
            <a:endParaRPr lang="en-US" sz="1600" dirty="0"/>
          </a:p>
        </p:txBody>
      </p:sp>
      <p:pic>
        <p:nvPicPr>
          <p:cNvPr id="40" name="Image 6" descr="preencoded.png">    </p:cNvPr>
          <p:cNvPicPr>
            <a:picLocks noChangeAspect="1"/>
          </p:cNvPicPr>
          <p:nvPr/>
        </p:nvPicPr>
        <p:blipFill>
          <a:blip r:embed="rId7"/>
          <a:stretch>
            <a:fillRect/>
          </a:stretch>
        </p:blipFill>
        <p:spPr>
          <a:xfrm>
            <a:off x="9688068" y="2176272"/>
            <a:ext cx="320040" cy="320040"/>
          </a:xfrm>
          <a:prstGeom prst="rect">
            <a:avLst/>
          </a:prstGeom>
        </p:spPr>
      </p:pic>
      <p:sp>
        <p:nvSpPr>
          <p:cNvPr id="41" name="Shape 31"/>
          <p:cNvSpPr/>
          <p:nvPr/>
        </p:nvSpPr>
        <p:spPr>
          <a:xfrm>
            <a:off x="10085832" y="1554480"/>
            <a:ext cx="1554480" cy="1508760"/>
          </a:xfrm>
          <a:prstGeom prst="roundRect">
            <a:avLst>
              <a:gd name="adj" fmla="val 8485"/>
            </a:avLst>
          </a:prstGeom>
          <a:solidFill>
            <a:schemeClr val="bg1"/>
          </a:solidFill>
          <a:ln w="9525">
            <a:solidFill>
              <a:srgbClr val="D5E3EE"/>
            </a:solidFill>
            <a:prstDash val="solid"/>
          </a:ln>
          <a:effectLst>
            <a:outerShdw sx="100000" sy="100000" kx="0" ky="0" algn="bl" rotWithShape="0" blurRad="127000" dist="38100" dir="5400000">
              <a:srgbClr val="0B2545">
                <a:alpha val="14000"/>
              </a:srgbClr>
            </a:outerShdw>
          </a:effectLst>
        </p:spPr>
      </p:sp>
      <p:sp>
        <p:nvSpPr>
          <p:cNvPr id="42" name="Shape 32"/>
          <p:cNvSpPr/>
          <p:nvPr/>
        </p:nvSpPr>
        <p:spPr>
          <a:xfrm>
            <a:off x="10588752" y="1719072"/>
            <a:ext cx="548640" cy="548640"/>
          </a:xfrm>
          <a:prstGeom prst="ellipse">
            <a:avLst/>
          </a:prstGeom>
          <a:solidFill>
            <a:schemeClr val="accent1"/>
          </a:solidFill>
          <a:ln w="6350">
            <a:solidFill>
              <a:schemeClr val="accent1"/>
            </a:solidFill>
            <a:prstDash val="solid"/>
          </a:ln>
        </p:spPr>
      </p:sp>
      <p:pic>
        <p:nvPicPr>
          <p:cNvPr id="43" name="Image 7" descr="preencoded.png">    </p:cNvPr>
          <p:cNvPicPr>
            <a:picLocks noChangeAspect="1"/>
          </p:cNvPicPr>
          <p:nvPr/>
        </p:nvPicPr>
        <p:blipFill>
          <a:blip r:embed="rId8"/>
          <a:stretch>
            <a:fillRect/>
          </a:stretch>
        </p:blipFill>
        <p:spPr>
          <a:xfrm>
            <a:off x="10720426" y="1850746"/>
            <a:ext cx="285293" cy="285293"/>
          </a:xfrm>
          <a:prstGeom prst="rect">
            <a:avLst/>
          </a:prstGeom>
        </p:spPr>
      </p:pic>
      <p:sp>
        <p:nvSpPr>
          <p:cNvPr id="44" name="Text 33"/>
          <p:cNvSpPr txBox="1"/>
          <p:nvPr/>
        </p:nvSpPr>
        <p:spPr>
          <a:xfrm>
            <a:off x="10085832" y="2423160"/>
            <a:ext cx="1554480" cy="457200"/>
          </a:xfrm>
          <a:prstGeom prst="rect">
            <a:avLst/>
          </a:prstGeom>
          <a:noFill/>
          <a:ln/>
        </p:spPr>
        <p:txBody>
          <a:bodyPr wrap="square" lIns="0" tIns="0" rIns="0" bIns="0" rtlCol="0" anchor="ctr"/>
          <a:lstStyle/>
          <a:p>
            <a:pPr algn="ctr" indent="0" marL="0">
              <a:buNone/>
            </a:pPr>
            <a:r>
              <a:rPr lang="en-US" sz="1600" b="1" dirty="0">
                <a:solidFill>
                  <a:schemeClr val="tx1"/>
                </a:solidFill>
              </a:rPr>
              <a:t>Clean copy</a:t>
            </a:r>
            <a:endParaRPr lang="en-US" sz="1600" dirty="0"/>
          </a:p>
        </p:txBody>
      </p:sp>
      <p:sp>
        <p:nvSpPr>
          <p:cNvPr id="45" name="Shape 34"/>
          <p:cNvSpPr/>
          <p:nvPr/>
        </p:nvSpPr>
        <p:spPr>
          <a:xfrm>
            <a:off x="6035040" y="3337560"/>
            <a:ext cx="5605272" cy="2880360"/>
          </a:xfrm>
          <a:prstGeom prst="roundRect">
            <a:avLst>
              <a:gd name="adj" fmla="val 4444"/>
            </a:avLst>
          </a:prstGeom>
          <a:solidFill>
            <a:schemeClr val="bg1"/>
          </a:solidFill>
          <a:ln w="9525">
            <a:solidFill>
              <a:srgbClr val="D5E3EE"/>
            </a:solidFill>
            <a:prstDash val="solid"/>
          </a:ln>
          <a:effectLst>
            <a:outerShdw sx="100000" sy="100000" kx="0" ky="0" algn="bl" rotWithShape="0" blurRad="127000" dist="38100" dir="5400000">
              <a:srgbClr val="0B2545">
                <a:alpha val="14000"/>
              </a:srgbClr>
            </a:outerShdw>
          </a:effectLst>
        </p:spPr>
      </p:sp>
      <p:sp>
        <p:nvSpPr>
          <p:cNvPr id="46" name="Text 35"/>
          <p:cNvSpPr txBox="1"/>
          <p:nvPr/>
        </p:nvSpPr>
        <p:spPr>
          <a:xfrm>
            <a:off x="6309360" y="3474720"/>
            <a:ext cx="5029200" cy="365760"/>
          </a:xfrm>
          <a:prstGeom prst="rect">
            <a:avLst/>
          </a:prstGeom>
          <a:noFill/>
          <a:ln/>
        </p:spPr>
        <p:txBody>
          <a:bodyPr wrap="square" lIns="0" tIns="0" rIns="0" bIns="0" rtlCol="0" anchor="ctr"/>
          <a:lstStyle/>
          <a:p>
            <a:pPr indent="0" marL="0">
              <a:buNone/>
            </a:pPr>
            <a:r>
              <a:rPr lang="en-US" sz="1800" b="1" dirty="0">
                <a:solidFill>
                  <a:schemeClr val="tx1"/>
                </a:solidFill>
              </a:rPr>
              <a:t>Dataset / folder</a:t>
            </a:r>
            <a:endParaRPr lang="en-US" sz="1800" dirty="0"/>
          </a:p>
        </p:txBody>
      </p:sp>
      <p:sp>
        <p:nvSpPr>
          <p:cNvPr id="47" name="Shape 36"/>
          <p:cNvSpPr/>
          <p:nvPr/>
        </p:nvSpPr>
        <p:spPr>
          <a:xfrm>
            <a:off x="6263640" y="3931920"/>
            <a:ext cx="5148072" cy="365760"/>
          </a:xfrm>
          <a:prstGeom prst="roundRect">
            <a:avLst>
              <a:gd name="adj" fmla="val 20000"/>
            </a:avLst>
          </a:prstGeom>
          <a:solidFill>
            <a:srgbClr val="FDEBDA"/>
          </a:solidFill>
          <a:ln w="6350">
            <a:solidFill>
              <a:schemeClr val="accent3"/>
            </a:solidFill>
            <a:prstDash val="solid"/>
          </a:ln>
        </p:spPr>
      </p:sp>
      <p:pic>
        <p:nvPicPr>
          <p:cNvPr id="48" name="Image 8" descr="preencoded.png">    </p:cNvPr>
          <p:cNvPicPr>
            <a:picLocks noChangeAspect="1"/>
          </p:cNvPicPr>
          <p:nvPr/>
        </p:nvPicPr>
        <p:blipFill>
          <a:blip r:embed="rId9"/>
          <a:stretch>
            <a:fillRect/>
          </a:stretch>
        </p:blipFill>
        <p:spPr>
          <a:xfrm>
            <a:off x="6373368" y="3995928"/>
            <a:ext cx="237744" cy="237744"/>
          </a:xfrm>
          <a:prstGeom prst="rect">
            <a:avLst/>
          </a:prstGeom>
        </p:spPr>
      </p:pic>
      <p:sp>
        <p:nvSpPr>
          <p:cNvPr id="49" name="Text 37"/>
          <p:cNvSpPr txBox="1"/>
          <p:nvPr/>
        </p:nvSpPr>
        <p:spPr>
          <a:xfrm>
            <a:off x="6720840" y="3931920"/>
            <a:ext cx="2651760" cy="365760"/>
          </a:xfrm>
          <a:prstGeom prst="rect">
            <a:avLst/>
          </a:prstGeom>
          <a:noFill/>
          <a:ln/>
        </p:spPr>
        <p:txBody>
          <a:bodyPr wrap="square" lIns="0" tIns="0" rIns="0" bIns="0" rtlCol="0" anchor="ctr"/>
          <a:lstStyle/>
          <a:p>
            <a:pPr indent="0" marL="0">
              <a:buNone/>
            </a:pPr>
            <a:r>
              <a:rPr lang="en-US" sz="1400" b="1" dirty="0">
                <a:solidFill>
                  <a:schemeClr val="tx1"/>
                </a:solidFill>
              </a:rPr>
              <a:t>HR_Dataset_raw.csv</a:t>
            </a:r>
            <a:endParaRPr lang="en-US" sz="1400" dirty="0"/>
          </a:p>
        </p:txBody>
      </p:sp>
      <p:sp>
        <p:nvSpPr>
          <p:cNvPr id="50" name="Text 38"/>
          <p:cNvSpPr txBox="1"/>
          <p:nvPr/>
        </p:nvSpPr>
        <p:spPr>
          <a:xfrm>
            <a:off x="9326880" y="3931920"/>
            <a:ext cx="731520" cy="365760"/>
          </a:xfrm>
          <a:prstGeom prst="rect">
            <a:avLst/>
          </a:prstGeom>
          <a:noFill/>
          <a:ln/>
        </p:spPr>
        <p:txBody>
          <a:bodyPr wrap="square" lIns="0" tIns="0" rIns="0" bIns="0" rtlCol="0" anchor="ctr"/>
          <a:lstStyle/>
          <a:p>
            <a:pPr indent="0" marL="0">
              <a:buNone/>
            </a:pPr>
            <a:r>
              <a:rPr lang="en-US" sz="1400" dirty="0">
                <a:solidFill>
                  <a:srgbClr val="5B7083"/>
                </a:solidFill>
              </a:rPr>
              <a:t>304 KB</a:t>
            </a:r>
            <a:endParaRPr lang="en-US" sz="1400" dirty="0"/>
          </a:p>
        </p:txBody>
      </p:sp>
      <p:sp>
        <p:nvSpPr>
          <p:cNvPr id="51" name="Text 39"/>
          <p:cNvSpPr txBox="1"/>
          <p:nvPr/>
        </p:nvSpPr>
        <p:spPr>
          <a:xfrm>
            <a:off x="10058400" y="3931920"/>
            <a:ext cx="1280160" cy="365760"/>
          </a:xfrm>
          <a:prstGeom prst="rect">
            <a:avLst/>
          </a:prstGeom>
          <a:noFill/>
          <a:ln/>
        </p:spPr>
        <p:txBody>
          <a:bodyPr wrap="square" lIns="0" tIns="0" rIns="0" bIns="0" rtlCol="0" anchor="ctr"/>
          <a:lstStyle/>
          <a:p>
            <a:pPr algn="r" indent="0" marL="0">
              <a:buNone/>
            </a:pPr>
            <a:r>
              <a:rPr lang="en-US" sz="1400" b="1" dirty="0">
                <a:solidFill>
                  <a:srgbClr val="B8651A"/>
                </a:solidFill>
              </a:rPr>
              <a:t>Original</a:t>
            </a:r>
            <a:endParaRPr lang="en-US" sz="1400" dirty="0"/>
          </a:p>
        </p:txBody>
      </p:sp>
      <p:sp>
        <p:nvSpPr>
          <p:cNvPr id="52" name="Shape 40"/>
          <p:cNvSpPr/>
          <p:nvPr/>
        </p:nvSpPr>
        <p:spPr>
          <a:xfrm>
            <a:off x="6263640" y="4361688"/>
            <a:ext cx="5148072" cy="365760"/>
          </a:xfrm>
          <a:prstGeom prst="roundRect">
            <a:avLst>
              <a:gd name="adj" fmla="val 20000"/>
            </a:avLst>
          </a:prstGeom>
          <a:solidFill>
            <a:schemeClr val="bg2"/>
          </a:solidFill>
          <a:ln w="6350">
            <a:solidFill>
              <a:srgbClr val="D5E3EE"/>
            </a:solidFill>
            <a:prstDash val="solid"/>
          </a:ln>
        </p:spPr>
      </p:sp>
      <p:pic>
        <p:nvPicPr>
          <p:cNvPr id="53" name="Image 9" descr="preencoded.png">    </p:cNvPr>
          <p:cNvPicPr>
            <a:picLocks noChangeAspect="1"/>
          </p:cNvPicPr>
          <p:nvPr/>
        </p:nvPicPr>
        <p:blipFill>
          <a:blip r:embed="rId10"/>
          <a:stretch>
            <a:fillRect/>
          </a:stretch>
        </p:blipFill>
        <p:spPr>
          <a:xfrm>
            <a:off x="6373368" y="4425696"/>
            <a:ext cx="237744" cy="237744"/>
          </a:xfrm>
          <a:prstGeom prst="rect">
            <a:avLst/>
          </a:prstGeom>
        </p:spPr>
      </p:pic>
      <p:sp>
        <p:nvSpPr>
          <p:cNvPr id="54" name="Text 41"/>
          <p:cNvSpPr txBox="1"/>
          <p:nvPr/>
        </p:nvSpPr>
        <p:spPr>
          <a:xfrm>
            <a:off x="6720840" y="4361688"/>
            <a:ext cx="2651760" cy="365760"/>
          </a:xfrm>
          <a:prstGeom prst="rect">
            <a:avLst/>
          </a:prstGeom>
          <a:noFill/>
          <a:ln/>
        </p:spPr>
        <p:txBody>
          <a:bodyPr wrap="square" lIns="0" tIns="0" rIns="0" bIns="0" rtlCol="0" anchor="ctr"/>
          <a:lstStyle/>
          <a:p>
            <a:pPr indent="0" marL="0">
              <a:buNone/>
            </a:pPr>
            <a:r>
              <a:rPr lang="en-US" sz="1400" b="1" dirty="0">
                <a:solidFill>
                  <a:schemeClr val="tx1"/>
                </a:solidFill>
              </a:rPr>
              <a:t>HR_Employee_Clean.csv</a:t>
            </a:r>
            <a:endParaRPr lang="en-US" sz="1400" dirty="0"/>
          </a:p>
        </p:txBody>
      </p:sp>
      <p:sp>
        <p:nvSpPr>
          <p:cNvPr id="55" name="Text 42"/>
          <p:cNvSpPr txBox="1"/>
          <p:nvPr/>
        </p:nvSpPr>
        <p:spPr>
          <a:xfrm>
            <a:off x="9326880" y="4361688"/>
            <a:ext cx="731520" cy="365760"/>
          </a:xfrm>
          <a:prstGeom prst="rect">
            <a:avLst/>
          </a:prstGeom>
          <a:noFill/>
          <a:ln/>
        </p:spPr>
        <p:txBody>
          <a:bodyPr wrap="square" lIns="0" tIns="0" rIns="0" bIns="0" rtlCol="0" anchor="ctr"/>
          <a:lstStyle/>
          <a:p>
            <a:pPr indent="0" marL="0">
              <a:buNone/>
            </a:pPr>
            <a:r>
              <a:rPr lang="en-US" sz="1400" dirty="0">
                <a:solidFill>
                  <a:srgbClr val="5B7083"/>
                </a:solidFill>
              </a:rPr>
              <a:t>477 KB</a:t>
            </a:r>
            <a:endParaRPr lang="en-US" sz="1400" dirty="0"/>
          </a:p>
        </p:txBody>
      </p:sp>
      <p:sp>
        <p:nvSpPr>
          <p:cNvPr id="56" name="Text 43"/>
          <p:cNvSpPr txBox="1"/>
          <p:nvPr/>
        </p:nvSpPr>
        <p:spPr>
          <a:xfrm>
            <a:off x="10058400" y="4361688"/>
            <a:ext cx="1280160" cy="365760"/>
          </a:xfrm>
          <a:prstGeom prst="rect">
            <a:avLst/>
          </a:prstGeom>
          <a:noFill/>
          <a:ln/>
        </p:spPr>
        <p:txBody>
          <a:bodyPr wrap="square" lIns="0" tIns="0" rIns="0" bIns="0" rtlCol="0" anchor="ctr"/>
          <a:lstStyle/>
          <a:p>
            <a:pPr algn="r" indent="0" marL="0">
              <a:buNone/>
            </a:pPr>
            <a:r>
              <a:rPr lang="en-US" sz="1400" b="1" dirty="0">
                <a:solidFill>
                  <a:schemeClr val="accent1"/>
                </a:solidFill>
              </a:rPr>
              <a:t>+8 columns</a:t>
            </a:r>
            <a:endParaRPr lang="en-US" sz="1400" dirty="0"/>
          </a:p>
        </p:txBody>
      </p:sp>
      <p:sp>
        <p:nvSpPr>
          <p:cNvPr id="57" name="Shape 44"/>
          <p:cNvSpPr/>
          <p:nvPr/>
        </p:nvSpPr>
        <p:spPr>
          <a:xfrm>
            <a:off x="6263640" y="4791456"/>
            <a:ext cx="5148072" cy="365760"/>
          </a:xfrm>
          <a:prstGeom prst="roundRect">
            <a:avLst>
              <a:gd name="adj" fmla="val 20000"/>
            </a:avLst>
          </a:prstGeom>
          <a:solidFill>
            <a:schemeClr val="bg2"/>
          </a:solidFill>
          <a:ln w="6350">
            <a:solidFill>
              <a:srgbClr val="D5E3EE"/>
            </a:solidFill>
            <a:prstDash val="solid"/>
          </a:ln>
        </p:spPr>
      </p:sp>
      <p:pic>
        <p:nvPicPr>
          <p:cNvPr id="58" name="Image 10" descr="preencoded.png">    </p:cNvPr>
          <p:cNvPicPr>
            <a:picLocks noChangeAspect="1"/>
          </p:cNvPicPr>
          <p:nvPr/>
        </p:nvPicPr>
        <p:blipFill>
          <a:blip r:embed="rId11"/>
          <a:stretch>
            <a:fillRect/>
          </a:stretch>
        </p:blipFill>
        <p:spPr>
          <a:xfrm>
            <a:off x="6373368" y="4855464"/>
            <a:ext cx="237744" cy="237744"/>
          </a:xfrm>
          <a:prstGeom prst="rect">
            <a:avLst/>
          </a:prstGeom>
        </p:spPr>
      </p:pic>
      <p:sp>
        <p:nvSpPr>
          <p:cNvPr id="59" name="Text 45"/>
          <p:cNvSpPr txBox="1"/>
          <p:nvPr/>
        </p:nvSpPr>
        <p:spPr>
          <a:xfrm>
            <a:off x="6720840" y="4791456"/>
            <a:ext cx="2651760" cy="365760"/>
          </a:xfrm>
          <a:prstGeom prst="rect">
            <a:avLst/>
          </a:prstGeom>
          <a:noFill/>
          <a:ln/>
        </p:spPr>
        <p:txBody>
          <a:bodyPr wrap="square" lIns="0" tIns="0" rIns="0" bIns="0" rtlCol="0" anchor="ctr"/>
          <a:lstStyle/>
          <a:p>
            <a:pPr indent="0" marL="0">
              <a:buNone/>
            </a:pPr>
            <a:r>
              <a:rPr lang="en-US" sz="1400" dirty="0">
                <a:solidFill>
                  <a:schemeClr val="tx1"/>
                </a:solidFill>
              </a:rPr>
              <a:t>Dim_Department.csv</a:t>
            </a:r>
            <a:endParaRPr lang="en-US" sz="1400" dirty="0"/>
          </a:p>
        </p:txBody>
      </p:sp>
      <p:sp>
        <p:nvSpPr>
          <p:cNvPr id="60" name="Text 46"/>
          <p:cNvSpPr txBox="1"/>
          <p:nvPr/>
        </p:nvSpPr>
        <p:spPr>
          <a:xfrm>
            <a:off x="9326880" y="4791456"/>
            <a:ext cx="731520" cy="365760"/>
          </a:xfrm>
          <a:prstGeom prst="rect">
            <a:avLst/>
          </a:prstGeom>
          <a:noFill/>
          <a:ln/>
        </p:spPr>
        <p:txBody>
          <a:bodyPr wrap="square" lIns="0" tIns="0" rIns="0" bIns="0" rtlCol="0" anchor="ctr"/>
          <a:lstStyle/>
          <a:p>
            <a:pPr indent="0" marL="0">
              <a:buNone/>
            </a:pPr>
            <a:r>
              <a:rPr lang="en-US" sz="1400" dirty="0">
                <a:solidFill>
                  <a:srgbClr val="5B7083"/>
                </a:solidFill>
              </a:rPr>
              <a:t>1 KB</a:t>
            </a:r>
            <a:endParaRPr lang="en-US" sz="1400" dirty="0"/>
          </a:p>
        </p:txBody>
      </p:sp>
      <p:sp>
        <p:nvSpPr>
          <p:cNvPr id="61" name="Text 47"/>
          <p:cNvSpPr txBox="1"/>
          <p:nvPr/>
        </p:nvSpPr>
        <p:spPr>
          <a:xfrm>
            <a:off x="10058400" y="4791456"/>
            <a:ext cx="1280160" cy="365760"/>
          </a:xfrm>
          <a:prstGeom prst="rect">
            <a:avLst/>
          </a:prstGeom>
          <a:noFill/>
          <a:ln/>
        </p:spPr>
        <p:txBody>
          <a:bodyPr wrap="square" lIns="0" tIns="0" rIns="0" bIns="0" rtlCol="0" anchor="ctr"/>
          <a:lstStyle/>
          <a:p>
            <a:pPr algn="r" indent="0" marL="0">
              <a:buNone/>
            </a:pPr>
            <a:r>
              <a:rPr lang="en-US" sz="1400" b="1" dirty="0">
                <a:solidFill>
                  <a:schemeClr val="accent1"/>
                </a:solidFill>
              </a:rPr>
              <a:t>Lookup</a:t>
            </a:r>
            <a:endParaRPr lang="en-US" sz="1400" dirty="0"/>
          </a:p>
        </p:txBody>
      </p:sp>
      <p:sp>
        <p:nvSpPr>
          <p:cNvPr id="62" name="Shape 48"/>
          <p:cNvSpPr/>
          <p:nvPr/>
        </p:nvSpPr>
        <p:spPr>
          <a:xfrm>
            <a:off x="6263640" y="5221224"/>
            <a:ext cx="5148072" cy="365760"/>
          </a:xfrm>
          <a:prstGeom prst="roundRect">
            <a:avLst>
              <a:gd name="adj" fmla="val 20000"/>
            </a:avLst>
          </a:prstGeom>
          <a:solidFill>
            <a:schemeClr val="bg2"/>
          </a:solidFill>
          <a:ln w="6350">
            <a:solidFill>
              <a:srgbClr val="D5E3EE"/>
            </a:solidFill>
            <a:prstDash val="solid"/>
          </a:ln>
        </p:spPr>
      </p:sp>
      <p:pic>
        <p:nvPicPr>
          <p:cNvPr id="63" name="Image 11" descr="preencoded.png">    </p:cNvPr>
          <p:cNvPicPr>
            <a:picLocks noChangeAspect="1"/>
          </p:cNvPicPr>
          <p:nvPr/>
        </p:nvPicPr>
        <p:blipFill>
          <a:blip r:embed="rId12"/>
          <a:stretch>
            <a:fillRect/>
          </a:stretch>
        </p:blipFill>
        <p:spPr>
          <a:xfrm>
            <a:off x="6373368" y="5285232"/>
            <a:ext cx="237744" cy="237744"/>
          </a:xfrm>
          <a:prstGeom prst="rect">
            <a:avLst/>
          </a:prstGeom>
        </p:spPr>
      </p:pic>
      <p:sp>
        <p:nvSpPr>
          <p:cNvPr id="64" name="Text 49"/>
          <p:cNvSpPr txBox="1"/>
          <p:nvPr/>
        </p:nvSpPr>
        <p:spPr>
          <a:xfrm>
            <a:off x="6720840" y="5221224"/>
            <a:ext cx="2651760" cy="365760"/>
          </a:xfrm>
          <a:prstGeom prst="rect">
            <a:avLst/>
          </a:prstGeom>
          <a:noFill/>
          <a:ln/>
        </p:spPr>
        <p:txBody>
          <a:bodyPr wrap="square" lIns="0" tIns="0" rIns="0" bIns="0" rtlCol="0" anchor="ctr"/>
          <a:lstStyle/>
          <a:p>
            <a:pPr indent="0" marL="0">
              <a:buNone/>
            </a:pPr>
            <a:r>
              <a:rPr lang="en-US" sz="1400" dirty="0">
                <a:solidFill>
                  <a:schemeClr val="tx1"/>
                </a:solidFill>
              </a:rPr>
              <a:t>Dim_JobRole.csv</a:t>
            </a:r>
            <a:endParaRPr lang="en-US" sz="1400" dirty="0"/>
          </a:p>
        </p:txBody>
      </p:sp>
      <p:sp>
        <p:nvSpPr>
          <p:cNvPr id="65" name="Text 50"/>
          <p:cNvSpPr txBox="1"/>
          <p:nvPr/>
        </p:nvSpPr>
        <p:spPr>
          <a:xfrm>
            <a:off x="9326880" y="5221224"/>
            <a:ext cx="731520" cy="365760"/>
          </a:xfrm>
          <a:prstGeom prst="rect">
            <a:avLst/>
          </a:prstGeom>
          <a:noFill/>
          <a:ln/>
        </p:spPr>
        <p:txBody>
          <a:bodyPr wrap="square" lIns="0" tIns="0" rIns="0" bIns="0" rtlCol="0" anchor="ctr"/>
          <a:lstStyle/>
          <a:p>
            <a:pPr indent="0" marL="0">
              <a:buNone/>
            </a:pPr>
            <a:r>
              <a:rPr lang="en-US" sz="1400" dirty="0">
                <a:solidFill>
                  <a:srgbClr val="5B7083"/>
                </a:solidFill>
              </a:rPr>
              <a:t>1 KB</a:t>
            </a:r>
            <a:endParaRPr lang="en-US" sz="1400" dirty="0"/>
          </a:p>
        </p:txBody>
      </p:sp>
      <p:sp>
        <p:nvSpPr>
          <p:cNvPr id="66" name="Text 51"/>
          <p:cNvSpPr txBox="1"/>
          <p:nvPr/>
        </p:nvSpPr>
        <p:spPr>
          <a:xfrm>
            <a:off x="10058400" y="5221224"/>
            <a:ext cx="1280160" cy="365760"/>
          </a:xfrm>
          <a:prstGeom prst="rect">
            <a:avLst/>
          </a:prstGeom>
          <a:noFill/>
          <a:ln/>
        </p:spPr>
        <p:txBody>
          <a:bodyPr wrap="square" lIns="0" tIns="0" rIns="0" bIns="0" rtlCol="0" anchor="ctr"/>
          <a:lstStyle/>
          <a:p>
            <a:pPr algn="r" indent="0" marL="0">
              <a:buNone/>
            </a:pPr>
            <a:r>
              <a:rPr lang="en-US" sz="1400" b="1" dirty="0">
                <a:solidFill>
                  <a:schemeClr val="accent1"/>
                </a:solidFill>
              </a:rPr>
              <a:t>Lookup</a:t>
            </a:r>
            <a:endParaRPr lang="en-US" sz="1400" dirty="0"/>
          </a:p>
        </p:txBody>
      </p:sp>
      <p:sp>
        <p:nvSpPr>
          <p:cNvPr id="67" name="Shape 52"/>
          <p:cNvSpPr/>
          <p:nvPr/>
        </p:nvSpPr>
        <p:spPr>
          <a:xfrm>
            <a:off x="6263640" y="5650992"/>
            <a:ext cx="5148072" cy="365760"/>
          </a:xfrm>
          <a:prstGeom prst="roundRect">
            <a:avLst>
              <a:gd name="adj" fmla="val 20000"/>
            </a:avLst>
          </a:prstGeom>
          <a:solidFill>
            <a:schemeClr val="bg2"/>
          </a:solidFill>
          <a:ln w="6350">
            <a:solidFill>
              <a:srgbClr val="D5E3EE"/>
            </a:solidFill>
            <a:prstDash val="solid"/>
          </a:ln>
        </p:spPr>
      </p:sp>
      <p:pic>
        <p:nvPicPr>
          <p:cNvPr id="68" name="Image 12" descr="preencoded.png">    </p:cNvPr>
          <p:cNvPicPr>
            <a:picLocks noChangeAspect="1"/>
          </p:cNvPicPr>
          <p:nvPr/>
        </p:nvPicPr>
        <p:blipFill>
          <a:blip r:embed="rId13"/>
          <a:stretch>
            <a:fillRect/>
          </a:stretch>
        </p:blipFill>
        <p:spPr>
          <a:xfrm>
            <a:off x="6373368" y="5715000"/>
            <a:ext cx="237744" cy="237744"/>
          </a:xfrm>
          <a:prstGeom prst="rect">
            <a:avLst/>
          </a:prstGeom>
        </p:spPr>
      </p:pic>
      <p:sp>
        <p:nvSpPr>
          <p:cNvPr id="69" name="Text 53"/>
          <p:cNvSpPr txBox="1"/>
          <p:nvPr/>
        </p:nvSpPr>
        <p:spPr>
          <a:xfrm>
            <a:off x="6720840" y="5650992"/>
            <a:ext cx="2651760" cy="365760"/>
          </a:xfrm>
          <a:prstGeom prst="rect">
            <a:avLst/>
          </a:prstGeom>
          <a:noFill/>
          <a:ln/>
        </p:spPr>
        <p:txBody>
          <a:bodyPr wrap="square" lIns="0" tIns="0" rIns="0" bIns="0" rtlCol="0" anchor="ctr"/>
          <a:lstStyle/>
          <a:p>
            <a:pPr indent="0" marL="0">
              <a:buNone/>
            </a:pPr>
            <a:r>
              <a:rPr lang="en-US" sz="1400" dirty="0">
                <a:solidFill>
                  <a:schemeClr val="tx1"/>
                </a:solidFill>
              </a:rPr>
              <a:t>Dim_Education.csv</a:t>
            </a:r>
            <a:endParaRPr lang="en-US" sz="1400" dirty="0"/>
          </a:p>
        </p:txBody>
      </p:sp>
      <p:sp>
        <p:nvSpPr>
          <p:cNvPr id="70" name="Text 54"/>
          <p:cNvSpPr txBox="1"/>
          <p:nvPr/>
        </p:nvSpPr>
        <p:spPr>
          <a:xfrm>
            <a:off x="9326880" y="5650992"/>
            <a:ext cx="731520" cy="365760"/>
          </a:xfrm>
          <a:prstGeom prst="rect">
            <a:avLst/>
          </a:prstGeom>
          <a:noFill/>
          <a:ln/>
        </p:spPr>
        <p:txBody>
          <a:bodyPr wrap="square" lIns="0" tIns="0" rIns="0" bIns="0" rtlCol="0" anchor="ctr"/>
          <a:lstStyle/>
          <a:p>
            <a:pPr indent="0" marL="0">
              <a:buNone/>
            </a:pPr>
            <a:r>
              <a:rPr lang="en-US" sz="1400" dirty="0">
                <a:solidFill>
                  <a:srgbClr val="5B7083"/>
                </a:solidFill>
              </a:rPr>
              <a:t>1 KB</a:t>
            </a:r>
            <a:endParaRPr lang="en-US" sz="1400" dirty="0"/>
          </a:p>
        </p:txBody>
      </p:sp>
      <p:sp>
        <p:nvSpPr>
          <p:cNvPr id="71" name="Text 55"/>
          <p:cNvSpPr txBox="1"/>
          <p:nvPr/>
        </p:nvSpPr>
        <p:spPr>
          <a:xfrm>
            <a:off x="10058400" y="5650992"/>
            <a:ext cx="1280160" cy="365760"/>
          </a:xfrm>
          <a:prstGeom prst="rect">
            <a:avLst/>
          </a:prstGeom>
          <a:noFill/>
          <a:ln/>
        </p:spPr>
        <p:txBody>
          <a:bodyPr wrap="square" lIns="0" tIns="0" rIns="0" bIns="0" rtlCol="0" anchor="ctr"/>
          <a:lstStyle/>
          <a:p>
            <a:pPr algn="r" indent="0" marL="0">
              <a:buNone/>
            </a:pPr>
            <a:r>
              <a:rPr lang="en-US" sz="1400" b="1" dirty="0">
                <a:solidFill>
                  <a:schemeClr val="accent1"/>
                </a:solidFill>
              </a:rPr>
              <a:t>Lookup</a:t>
            </a:r>
            <a:endParaRPr lang="en-US" sz="14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9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txBox="1"/>
          <p:nvPr>
            <p:ph idx="101" type="title" hasCustomPrompt="1"/>
          </p:nvPr>
        </p:nvSpPr>
        <p:spPr>
          <a:xfrm>
            <a:off x="548640" y="621792"/>
            <a:ext cx="11091672" cy="731520"/>
          </a:xfrm>
          <a:prstGeom prst="rect">
            <a:avLst/>
          </a:prstGeom>
          <a:noFill/>
          <a:ln/>
        </p:spPr>
        <p:txBody>
          <a:bodyPr wrap="square" lIns="0" tIns="0" rIns="0" bIns="0" rtlCol="0" anchor="ctr"/>
          <a:lstStyle/>
          <a:p>
            <a:pPr algn="l" indent="0" marL="0">
              <a:buNone/>
            </a:pPr>
            <a:r>
              <a:rPr lang="en-US" sz="3600" b="1" dirty="0">
                <a:solidFill>
                  <a:schemeClr val="tx1"/>
                </a:solidFill>
              </a:rPr>
              <a:t>Power BI ETL – Power Query</a:t>
            </a:r>
            <a:endParaRPr lang="en-US" sz="3600" dirty="0"/>
          </a:p>
        </p:txBody>
      </p:sp>
      <p:sp>
        <p:nvSpPr>
          <p:cNvPr id="3" name="Text 1"/>
          <p:cNvSpPr txBox="1"/>
          <p:nvPr/>
        </p:nvSpPr>
        <p:spPr>
          <a:xfrm>
            <a:off x="548640" y="329184"/>
            <a:ext cx="77724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STEP 05 OF 11  ·  POWER BI ETL</a:t>
            </a:r>
            <a:endParaRPr lang="en-US" sz="1200" dirty="0"/>
          </a:p>
        </p:txBody>
      </p:sp>
      <p:sp>
        <p:nvSpPr>
          <p:cNvPr id="4" name="Shape 2"/>
          <p:cNvSpPr/>
          <p:nvPr/>
        </p:nvSpPr>
        <p:spPr>
          <a:xfrm>
            <a:off x="9166860" y="406908"/>
            <a:ext cx="118872" cy="118872"/>
          </a:xfrm>
          <a:prstGeom prst="ellipse">
            <a:avLst/>
          </a:prstGeom>
          <a:solidFill>
            <a:schemeClr val="accent1"/>
          </a:solidFill>
          <a:ln w="3175">
            <a:solidFill>
              <a:schemeClr val="accent1"/>
            </a:solidFill>
            <a:prstDash val="solid"/>
          </a:ln>
        </p:spPr>
      </p:sp>
      <p:sp>
        <p:nvSpPr>
          <p:cNvPr id="5" name="Shape 3"/>
          <p:cNvSpPr/>
          <p:nvPr/>
        </p:nvSpPr>
        <p:spPr>
          <a:xfrm>
            <a:off x="9399118" y="406908"/>
            <a:ext cx="118872" cy="118872"/>
          </a:xfrm>
          <a:prstGeom prst="ellipse">
            <a:avLst/>
          </a:prstGeom>
          <a:solidFill>
            <a:schemeClr val="accent1"/>
          </a:solidFill>
          <a:ln w="3175">
            <a:solidFill>
              <a:schemeClr val="accent1"/>
            </a:solidFill>
            <a:prstDash val="solid"/>
          </a:ln>
        </p:spPr>
      </p:sp>
      <p:sp>
        <p:nvSpPr>
          <p:cNvPr id="6" name="Shape 4"/>
          <p:cNvSpPr/>
          <p:nvPr/>
        </p:nvSpPr>
        <p:spPr>
          <a:xfrm>
            <a:off x="9631375" y="406908"/>
            <a:ext cx="118872" cy="118872"/>
          </a:xfrm>
          <a:prstGeom prst="ellipse">
            <a:avLst/>
          </a:prstGeom>
          <a:solidFill>
            <a:schemeClr val="accent1"/>
          </a:solidFill>
          <a:ln w="3175">
            <a:solidFill>
              <a:schemeClr val="accent1"/>
            </a:solidFill>
            <a:prstDash val="solid"/>
          </a:ln>
        </p:spPr>
      </p:sp>
      <p:sp>
        <p:nvSpPr>
          <p:cNvPr id="7" name="Shape 5"/>
          <p:cNvSpPr/>
          <p:nvPr/>
        </p:nvSpPr>
        <p:spPr>
          <a:xfrm>
            <a:off x="9863633" y="406908"/>
            <a:ext cx="118872" cy="118872"/>
          </a:xfrm>
          <a:prstGeom prst="ellipse">
            <a:avLst/>
          </a:prstGeom>
          <a:solidFill>
            <a:schemeClr val="accent1"/>
          </a:solidFill>
          <a:ln w="3175">
            <a:solidFill>
              <a:schemeClr val="accent1"/>
            </a:solidFill>
            <a:prstDash val="solid"/>
          </a:ln>
        </p:spPr>
      </p:sp>
      <p:sp>
        <p:nvSpPr>
          <p:cNvPr id="8" name="Shape 6"/>
          <p:cNvSpPr/>
          <p:nvPr/>
        </p:nvSpPr>
        <p:spPr>
          <a:xfrm>
            <a:off x="10063886" y="374904"/>
            <a:ext cx="182880" cy="182880"/>
          </a:xfrm>
          <a:prstGeom prst="ellipse">
            <a:avLst/>
          </a:prstGeom>
          <a:solidFill>
            <a:schemeClr val="accent3"/>
          </a:solidFill>
          <a:ln w="3175">
            <a:solidFill>
              <a:schemeClr val="accent3"/>
            </a:solidFill>
            <a:prstDash val="solid"/>
          </a:ln>
        </p:spPr>
      </p:sp>
      <p:sp>
        <p:nvSpPr>
          <p:cNvPr id="9" name="Shape 7"/>
          <p:cNvSpPr/>
          <p:nvPr/>
        </p:nvSpPr>
        <p:spPr>
          <a:xfrm>
            <a:off x="10328148" y="406908"/>
            <a:ext cx="118872" cy="118872"/>
          </a:xfrm>
          <a:prstGeom prst="ellipse">
            <a:avLst/>
          </a:prstGeom>
          <a:solidFill>
            <a:srgbClr val="C4D3DF"/>
          </a:solidFill>
          <a:ln w="3175">
            <a:solidFill>
              <a:srgbClr val="C4D3DF"/>
            </a:solidFill>
            <a:prstDash val="solid"/>
          </a:ln>
        </p:spPr>
      </p:sp>
      <p:sp>
        <p:nvSpPr>
          <p:cNvPr id="10" name="Shape 8"/>
          <p:cNvSpPr/>
          <p:nvPr/>
        </p:nvSpPr>
        <p:spPr>
          <a:xfrm>
            <a:off x="10560406" y="406908"/>
            <a:ext cx="118872" cy="118872"/>
          </a:xfrm>
          <a:prstGeom prst="ellipse">
            <a:avLst/>
          </a:prstGeom>
          <a:solidFill>
            <a:srgbClr val="C4D3DF"/>
          </a:solidFill>
          <a:ln w="3175">
            <a:solidFill>
              <a:srgbClr val="C4D3DF"/>
            </a:solidFill>
            <a:prstDash val="solid"/>
          </a:ln>
        </p:spPr>
      </p:sp>
      <p:sp>
        <p:nvSpPr>
          <p:cNvPr id="11" name="Shape 9"/>
          <p:cNvSpPr/>
          <p:nvPr/>
        </p:nvSpPr>
        <p:spPr>
          <a:xfrm>
            <a:off x="10792663" y="406908"/>
            <a:ext cx="118872" cy="118872"/>
          </a:xfrm>
          <a:prstGeom prst="ellipse">
            <a:avLst/>
          </a:prstGeom>
          <a:solidFill>
            <a:srgbClr val="C4D3DF"/>
          </a:solidFill>
          <a:ln w="3175">
            <a:solidFill>
              <a:srgbClr val="C4D3DF"/>
            </a:solidFill>
            <a:prstDash val="solid"/>
          </a:ln>
        </p:spPr>
      </p:sp>
      <p:sp>
        <p:nvSpPr>
          <p:cNvPr id="12" name="Shape 10"/>
          <p:cNvSpPr/>
          <p:nvPr/>
        </p:nvSpPr>
        <p:spPr>
          <a:xfrm>
            <a:off x="11024921" y="406908"/>
            <a:ext cx="118872" cy="118872"/>
          </a:xfrm>
          <a:prstGeom prst="ellipse">
            <a:avLst/>
          </a:prstGeom>
          <a:solidFill>
            <a:srgbClr val="C4D3DF"/>
          </a:solidFill>
          <a:ln w="3175">
            <a:solidFill>
              <a:srgbClr val="C4D3DF"/>
            </a:solidFill>
            <a:prstDash val="solid"/>
          </a:ln>
        </p:spPr>
      </p:sp>
      <p:sp>
        <p:nvSpPr>
          <p:cNvPr id="13" name="Shape 11"/>
          <p:cNvSpPr/>
          <p:nvPr/>
        </p:nvSpPr>
        <p:spPr>
          <a:xfrm>
            <a:off x="11257178" y="406908"/>
            <a:ext cx="118872" cy="118872"/>
          </a:xfrm>
          <a:prstGeom prst="ellipse">
            <a:avLst/>
          </a:prstGeom>
          <a:solidFill>
            <a:srgbClr val="C4D3DF"/>
          </a:solidFill>
          <a:ln w="3175">
            <a:solidFill>
              <a:srgbClr val="C4D3DF"/>
            </a:solidFill>
            <a:prstDash val="solid"/>
          </a:ln>
        </p:spPr>
      </p:sp>
      <p:sp>
        <p:nvSpPr>
          <p:cNvPr id="14" name="Shape 12"/>
          <p:cNvSpPr/>
          <p:nvPr/>
        </p:nvSpPr>
        <p:spPr>
          <a:xfrm>
            <a:off x="11489436" y="406908"/>
            <a:ext cx="118872" cy="118872"/>
          </a:xfrm>
          <a:prstGeom prst="ellipse">
            <a:avLst/>
          </a:prstGeom>
          <a:solidFill>
            <a:srgbClr val="C4D3DF"/>
          </a:solidFill>
          <a:ln w="3175">
            <a:solidFill>
              <a:srgbClr val="C4D3DF"/>
            </a:solidFill>
            <a:prstDash val="solid"/>
          </a:ln>
        </p:spPr>
      </p:sp>
      <p:sp>
        <p:nvSpPr>
          <p:cNvPr id="16" name="Shape 13"/>
          <p:cNvSpPr/>
          <p:nvPr/>
        </p:nvSpPr>
        <p:spPr>
          <a:xfrm>
            <a:off x="548640" y="1645920"/>
            <a:ext cx="2560320" cy="3063240"/>
          </a:xfrm>
          <a:prstGeom prst="roundRect">
            <a:avLst>
              <a:gd name="adj" fmla="val 5000"/>
            </a:avLst>
          </a:prstGeom>
          <a:solidFill>
            <a:schemeClr val="bg1"/>
          </a:solidFill>
          <a:ln w="9525">
            <a:solidFill>
              <a:srgbClr val="D5E3EE"/>
            </a:solidFill>
            <a:prstDash val="solid"/>
          </a:ln>
          <a:effectLst>
            <a:outerShdw sx="100000" sy="100000" kx="0" ky="0" algn="bl" rotWithShape="0" blurRad="127000" dist="38100" dir="5400000">
              <a:srgbClr val="0B2545">
                <a:alpha val="14000"/>
              </a:srgbClr>
            </a:outerShdw>
          </a:effectLst>
        </p:spPr>
      </p:sp>
      <p:sp>
        <p:nvSpPr>
          <p:cNvPr id="17" name="Shape 14"/>
          <p:cNvSpPr/>
          <p:nvPr/>
        </p:nvSpPr>
        <p:spPr>
          <a:xfrm>
            <a:off x="777240" y="1874520"/>
            <a:ext cx="457200" cy="457200"/>
          </a:xfrm>
          <a:prstGeom prst="ellipse">
            <a:avLst/>
          </a:prstGeom>
          <a:solidFill>
            <a:schemeClr val="accent3"/>
          </a:solidFill>
          <a:ln w="3175">
            <a:solidFill>
              <a:schemeClr val="accent3"/>
            </a:solidFill>
            <a:prstDash val="solid"/>
          </a:ln>
        </p:spPr>
      </p:sp>
      <p:sp>
        <p:nvSpPr>
          <p:cNvPr id="18" name="Text 15"/>
          <p:cNvSpPr txBox="1"/>
          <p:nvPr/>
        </p:nvSpPr>
        <p:spPr>
          <a:xfrm>
            <a:off x="777240" y="1874520"/>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19" name="Shape 16"/>
          <p:cNvSpPr/>
          <p:nvPr/>
        </p:nvSpPr>
        <p:spPr>
          <a:xfrm>
            <a:off x="2148840" y="1828800"/>
            <a:ext cx="685800" cy="685800"/>
          </a:xfrm>
          <a:prstGeom prst="ellipse">
            <a:avLst/>
          </a:prstGeom>
          <a:solidFill>
            <a:schemeClr val="tx2"/>
          </a:solidFill>
          <a:ln w="6350">
            <a:solidFill>
              <a:schemeClr val="tx2"/>
            </a:solidFill>
            <a:prstDash val="solid"/>
          </a:ln>
        </p:spPr>
      </p:sp>
      <p:pic>
        <p:nvPicPr>
          <p:cNvPr id="20" name="Image 0" descr="preencoded.png">    </p:cNvPr>
          <p:cNvPicPr>
            <a:picLocks noChangeAspect="1"/>
          </p:cNvPicPr>
          <p:nvPr/>
        </p:nvPicPr>
        <p:blipFill>
          <a:blip r:embed="rId1"/>
          <a:stretch>
            <a:fillRect/>
          </a:stretch>
        </p:blipFill>
        <p:spPr>
          <a:xfrm>
            <a:off x="2313432" y="1993392"/>
            <a:ext cx="356616" cy="356616"/>
          </a:xfrm>
          <a:prstGeom prst="rect">
            <a:avLst/>
          </a:prstGeom>
        </p:spPr>
      </p:pic>
      <p:sp>
        <p:nvSpPr>
          <p:cNvPr id="21" name="Text 17"/>
          <p:cNvSpPr txBox="1"/>
          <p:nvPr/>
        </p:nvSpPr>
        <p:spPr>
          <a:xfrm>
            <a:off x="777240" y="2743200"/>
            <a:ext cx="2194560" cy="411480"/>
          </a:xfrm>
          <a:prstGeom prst="rect">
            <a:avLst/>
          </a:prstGeom>
          <a:noFill/>
          <a:ln/>
        </p:spPr>
        <p:txBody>
          <a:bodyPr wrap="square" lIns="0" tIns="0" rIns="0" bIns="0" rtlCol="0" anchor="ctr"/>
          <a:lstStyle/>
          <a:p>
            <a:pPr indent="0" marL="0">
              <a:buNone/>
            </a:pPr>
            <a:r>
              <a:rPr lang="en-US" sz="2200" b="1" dirty="0">
                <a:solidFill>
                  <a:schemeClr val="tx1"/>
                </a:solidFill>
              </a:rPr>
              <a:t>Get Data</a:t>
            </a:r>
            <a:endParaRPr lang="en-US" sz="2200" dirty="0"/>
          </a:p>
        </p:txBody>
      </p:sp>
      <p:sp>
        <p:nvSpPr>
          <p:cNvPr id="22" name="Text 18"/>
          <p:cNvSpPr txBox="1"/>
          <p:nvPr/>
        </p:nvSpPr>
        <p:spPr>
          <a:xfrm>
            <a:off x="777240" y="3246120"/>
            <a:ext cx="2148840" cy="1280160"/>
          </a:xfrm>
          <a:prstGeom prst="rect">
            <a:avLst/>
          </a:prstGeom>
          <a:noFill/>
          <a:ln/>
        </p:spPr>
        <p:txBody>
          <a:bodyPr wrap="square" lIns="0" tIns="0" rIns="0" bIns="0" rtlCol="0" anchor="ctr"/>
          <a:lstStyle/>
          <a:p>
            <a:pPr indent="0" marL="0">
              <a:buNone/>
            </a:pPr>
            <a:r>
              <a:rPr lang="en-US" sz="1400" dirty="0">
                <a:solidFill>
                  <a:srgbClr val="3E566B"/>
                </a:solidFill>
              </a:rPr>
              <a:t>Home → Get data → Text/CSV. Pick HR_Employee_Clean.csv.</a:t>
            </a:r>
            <a:endParaRPr lang="en-US" sz="1400" dirty="0"/>
          </a:p>
        </p:txBody>
      </p:sp>
      <p:pic>
        <p:nvPicPr>
          <p:cNvPr id="23" name="Image 1" descr="preencoded.png">    </p:cNvPr>
          <p:cNvPicPr>
            <a:picLocks noChangeAspect="1"/>
          </p:cNvPicPr>
          <p:nvPr/>
        </p:nvPicPr>
        <p:blipFill>
          <a:blip r:embed="rId2"/>
          <a:stretch>
            <a:fillRect/>
          </a:stretch>
        </p:blipFill>
        <p:spPr>
          <a:xfrm>
            <a:off x="3145536" y="3017520"/>
            <a:ext cx="219456" cy="219456"/>
          </a:xfrm>
          <a:prstGeom prst="rect">
            <a:avLst/>
          </a:prstGeom>
        </p:spPr>
      </p:pic>
      <p:sp>
        <p:nvSpPr>
          <p:cNvPr id="24" name="Shape 19"/>
          <p:cNvSpPr/>
          <p:nvPr/>
        </p:nvSpPr>
        <p:spPr>
          <a:xfrm>
            <a:off x="3392424" y="1645920"/>
            <a:ext cx="2560320" cy="3063240"/>
          </a:xfrm>
          <a:prstGeom prst="roundRect">
            <a:avLst>
              <a:gd name="adj" fmla="val 5000"/>
            </a:avLst>
          </a:prstGeom>
          <a:solidFill>
            <a:schemeClr val="bg1"/>
          </a:solidFill>
          <a:ln w="9525">
            <a:solidFill>
              <a:srgbClr val="D5E3EE"/>
            </a:solidFill>
            <a:prstDash val="solid"/>
          </a:ln>
          <a:effectLst>
            <a:outerShdw sx="100000" sy="100000" kx="0" ky="0" algn="bl" rotWithShape="0" blurRad="127000" dist="38100" dir="5400000">
              <a:srgbClr val="0B2545">
                <a:alpha val="14000"/>
              </a:srgbClr>
            </a:outerShdw>
          </a:effectLst>
        </p:spPr>
      </p:sp>
      <p:sp>
        <p:nvSpPr>
          <p:cNvPr id="25" name="Shape 20"/>
          <p:cNvSpPr/>
          <p:nvPr/>
        </p:nvSpPr>
        <p:spPr>
          <a:xfrm>
            <a:off x="3621024" y="1874520"/>
            <a:ext cx="457200" cy="457200"/>
          </a:xfrm>
          <a:prstGeom prst="ellipse">
            <a:avLst/>
          </a:prstGeom>
          <a:solidFill>
            <a:schemeClr val="accent3"/>
          </a:solidFill>
          <a:ln w="3175">
            <a:solidFill>
              <a:schemeClr val="accent3"/>
            </a:solidFill>
            <a:prstDash val="solid"/>
          </a:ln>
        </p:spPr>
      </p:sp>
      <p:sp>
        <p:nvSpPr>
          <p:cNvPr id="26" name="Text 21"/>
          <p:cNvSpPr txBox="1"/>
          <p:nvPr/>
        </p:nvSpPr>
        <p:spPr>
          <a:xfrm>
            <a:off x="3621024" y="1874520"/>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27" name="Shape 22"/>
          <p:cNvSpPr/>
          <p:nvPr/>
        </p:nvSpPr>
        <p:spPr>
          <a:xfrm>
            <a:off x="4992624" y="1828800"/>
            <a:ext cx="685800" cy="685800"/>
          </a:xfrm>
          <a:prstGeom prst="ellipse">
            <a:avLst/>
          </a:prstGeom>
          <a:solidFill>
            <a:schemeClr val="accent1"/>
          </a:solidFill>
          <a:ln w="6350">
            <a:solidFill>
              <a:schemeClr val="accent1"/>
            </a:solidFill>
            <a:prstDash val="solid"/>
          </a:ln>
        </p:spPr>
      </p:sp>
      <p:pic>
        <p:nvPicPr>
          <p:cNvPr id="28" name="Image 2" descr="preencoded.png">    </p:cNvPr>
          <p:cNvPicPr>
            <a:picLocks noChangeAspect="1"/>
          </p:cNvPicPr>
          <p:nvPr/>
        </p:nvPicPr>
        <p:blipFill>
          <a:blip r:embed="rId3"/>
          <a:stretch>
            <a:fillRect/>
          </a:stretch>
        </p:blipFill>
        <p:spPr>
          <a:xfrm>
            <a:off x="5157216" y="1993392"/>
            <a:ext cx="356616" cy="356616"/>
          </a:xfrm>
          <a:prstGeom prst="rect">
            <a:avLst/>
          </a:prstGeom>
        </p:spPr>
      </p:pic>
      <p:sp>
        <p:nvSpPr>
          <p:cNvPr id="29" name="Text 23"/>
          <p:cNvSpPr txBox="1"/>
          <p:nvPr/>
        </p:nvSpPr>
        <p:spPr>
          <a:xfrm>
            <a:off x="3621024" y="2743200"/>
            <a:ext cx="2194560" cy="411480"/>
          </a:xfrm>
          <a:prstGeom prst="rect">
            <a:avLst/>
          </a:prstGeom>
          <a:noFill/>
          <a:ln/>
        </p:spPr>
        <p:txBody>
          <a:bodyPr wrap="square" lIns="0" tIns="0" rIns="0" bIns="0" rtlCol="0" anchor="ctr"/>
          <a:lstStyle/>
          <a:p>
            <a:pPr indent="0" marL="0">
              <a:buNone/>
            </a:pPr>
            <a:r>
              <a:rPr lang="en-US" sz="2200" b="1" dirty="0">
                <a:solidFill>
                  <a:schemeClr val="tx1"/>
                </a:solidFill>
              </a:rPr>
              <a:t>Transform</a:t>
            </a:r>
            <a:endParaRPr lang="en-US" sz="2200" dirty="0"/>
          </a:p>
        </p:txBody>
      </p:sp>
      <p:sp>
        <p:nvSpPr>
          <p:cNvPr id="30" name="Text 24"/>
          <p:cNvSpPr txBox="1"/>
          <p:nvPr/>
        </p:nvSpPr>
        <p:spPr>
          <a:xfrm>
            <a:off x="3621024" y="3246120"/>
            <a:ext cx="2148840" cy="1280160"/>
          </a:xfrm>
          <a:prstGeom prst="rect">
            <a:avLst/>
          </a:prstGeom>
          <a:noFill/>
          <a:ln/>
        </p:spPr>
        <p:txBody>
          <a:bodyPr wrap="square" lIns="0" tIns="0" rIns="0" bIns="0" rtlCol="0" anchor="ctr"/>
          <a:lstStyle/>
          <a:p>
            <a:pPr indent="0" marL="0">
              <a:buNone/>
            </a:pPr>
            <a:r>
              <a:rPr lang="en-US" sz="1400" dirty="0">
                <a:solidFill>
                  <a:srgbClr val="3E566B"/>
                </a:solidFill>
              </a:rPr>
              <a:t>Open Power Query. Rename to Fact_Employee. Check data types.</a:t>
            </a:r>
            <a:endParaRPr lang="en-US" sz="1400" dirty="0"/>
          </a:p>
        </p:txBody>
      </p:sp>
      <p:pic>
        <p:nvPicPr>
          <p:cNvPr id="31" name="Image 3" descr="preencoded.png">    </p:cNvPr>
          <p:cNvPicPr>
            <a:picLocks noChangeAspect="1"/>
          </p:cNvPicPr>
          <p:nvPr/>
        </p:nvPicPr>
        <p:blipFill>
          <a:blip r:embed="rId4"/>
          <a:stretch>
            <a:fillRect/>
          </a:stretch>
        </p:blipFill>
        <p:spPr>
          <a:xfrm>
            <a:off x="5989320" y="3017520"/>
            <a:ext cx="219456" cy="219456"/>
          </a:xfrm>
          <a:prstGeom prst="rect">
            <a:avLst/>
          </a:prstGeom>
        </p:spPr>
      </p:pic>
      <p:sp>
        <p:nvSpPr>
          <p:cNvPr id="32" name="Shape 25"/>
          <p:cNvSpPr/>
          <p:nvPr/>
        </p:nvSpPr>
        <p:spPr>
          <a:xfrm>
            <a:off x="6236208" y="1645920"/>
            <a:ext cx="2560320" cy="3063240"/>
          </a:xfrm>
          <a:prstGeom prst="roundRect">
            <a:avLst>
              <a:gd name="adj" fmla="val 5000"/>
            </a:avLst>
          </a:prstGeom>
          <a:solidFill>
            <a:schemeClr val="bg1"/>
          </a:solidFill>
          <a:ln w="9525">
            <a:solidFill>
              <a:srgbClr val="D5E3EE"/>
            </a:solidFill>
            <a:prstDash val="solid"/>
          </a:ln>
          <a:effectLst>
            <a:outerShdw sx="100000" sy="100000" kx="0" ky="0" algn="bl" rotWithShape="0" blurRad="127000" dist="38100" dir="5400000">
              <a:srgbClr val="0B2545">
                <a:alpha val="14000"/>
              </a:srgbClr>
            </a:outerShdw>
          </a:effectLst>
        </p:spPr>
      </p:sp>
      <p:sp>
        <p:nvSpPr>
          <p:cNvPr id="33" name="Shape 26"/>
          <p:cNvSpPr/>
          <p:nvPr/>
        </p:nvSpPr>
        <p:spPr>
          <a:xfrm>
            <a:off x="6464808" y="1874520"/>
            <a:ext cx="457200" cy="457200"/>
          </a:xfrm>
          <a:prstGeom prst="ellipse">
            <a:avLst/>
          </a:prstGeom>
          <a:solidFill>
            <a:schemeClr val="accent3"/>
          </a:solidFill>
          <a:ln w="3175">
            <a:solidFill>
              <a:schemeClr val="accent3"/>
            </a:solidFill>
            <a:prstDash val="solid"/>
          </a:ln>
        </p:spPr>
      </p:sp>
      <p:sp>
        <p:nvSpPr>
          <p:cNvPr id="34" name="Text 27"/>
          <p:cNvSpPr txBox="1"/>
          <p:nvPr/>
        </p:nvSpPr>
        <p:spPr>
          <a:xfrm>
            <a:off x="6464808" y="1874520"/>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35" name="Shape 28"/>
          <p:cNvSpPr/>
          <p:nvPr/>
        </p:nvSpPr>
        <p:spPr>
          <a:xfrm>
            <a:off x="7836408" y="1828800"/>
            <a:ext cx="685800" cy="685800"/>
          </a:xfrm>
          <a:prstGeom prst="ellipse">
            <a:avLst/>
          </a:prstGeom>
          <a:solidFill>
            <a:schemeClr val="tx2"/>
          </a:solidFill>
          <a:ln w="6350">
            <a:solidFill>
              <a:schemeClr val="tx2"/>
            </a:solidFill>
            <a:prstDash val="solid"/>
          </a:ln>
        </p:spPr>
      </p:sp>
      <p:pic>
        <p:nvPicPr>
          <p:cNvPr id="36" name="Image 4" descr="preencoded.png">    </p:cNvPr>
          <p:cNvPicPr>
            <a:picLocks noChangeAspect="1"/>
          </p:cNvPicPr>
          <p:nvPr/>
        </p:nvPicPr>
        <p:blipFill>
          <a:blip r:embed="rId5"/>
          <a:stretch>
            <a:fillRect/>
          </a:stretch>
        </p:blipFill>
        <p:spPr>
          <a:xfrm>
            <a:off x="8001000" y="1993392"/>
            <a:ext cx="356616" cy="356616"/>
          </a:xfrm>
          <a:prstGeom prst="rect">
            <a:avLst/>
          </a:prstGeom>
        </p:spPr>
      </p:pic>
      <p:sp>
        <p:nvSpPr>
          <p:cNvPr id="37" name="Text 29"/>
          <p:cNvSpPr txBox="1"/>
          <p:nvPr/>
        </p:nvSpPr>
        <p:spPr>
          <a:xfrm>
            <a:off x="6464808" y="2743200"/>
            <a:ext cx="2194560" cy="411480"/>
          </a:xfrm>
          <a:prstGeom prst="rect">
            <a:avLst/>
          </a:prstGeom>
          <a:noFill/>
          <a:ln/>
        </p:spPr>
        <p:txBody>
          <a:bodyPr wrap="square" lIns="0" tIns="0" rIns="0" bIns="0" rtlCol="0" anchor="ctr"/>
          <a:lstStyle/>
          <a:p>
            <a:pPr indent="0" marL="0">
              <a:buNone/>
            </a:pPr>
            <a:r>
              <a:rPr lang="en-US" sz="2200" b="1" dirty="0">
                <a:solidFill>
                  <a:schemeClr val="tx1"/>
                </a:solidFill>
              </a:rPr>
              <a:t>Add lookups</a:t>
            </a:r>
            <a:endParaRPr lang="en-US" sz="2200" dirty="0"/>
          </a:p>
        </p:txBody>
      </p:sp>
      <p:sp>
        <p:nvSpPr>
          <p:cNvPr id="38" name="Text 30"/>
          <p:cNvSpPr txBox="1"/>
          <p:nvPr/>
        </p:nvSpPr>
        <p:spPr>
          <a:xfrm>
            <a:off x="6464808" y="3246120"/>
            <a:ext cx="2148840" cy="1280160"/>
          </a:xfrm>
          <a:prstGeom prst="rect">
            <a:avLst/>
          </a:prstGeom>
          <a:noFill/>
          <a:ln/>
        </p:spPr>
        <p:txBody>
          <a:bodyPr wrap="square" lIns="0" tIns="0" rIns="0" bIns="0" rtlCol="0" anchor="ctr"/>
          <a:lstStyle/>
          <a:p>
            <a:pPr indent="0" marL="0">
              <a:buNone/>
            </a:pPr>
            <a:r>
              <a:rPr lang="en-US" sz="1400" dirty="0">
                <a:solidFill>
                  <a:srgbClr val="3E566B"/>
                </a:solidFill>
              </a:rPr>
              <a:t>Load Dim_Department, Dim_JobRole and Dim_Education.</a:t>
            </a:r>
            <a:endParaRPr lang="en-US" sz="1400" dirty="0"/>
          </a:p>
        </p:txBody>
      </p:sp>
      <p:pic>
        <p:nvPicPr>
          <p:cNvPr id="39" name="Image 5" descr="preencoded.png">    </p:cNvPr>
          <p:cNvPicPr>
            <a:picLocks noChangeAspect="1"/>
          </p:cNvPicPr>
          <p:nvPr/>
        </p:nvPicPr>
        <p:blipFill>
          <a:blip r:embed="rId6"/>
          <a:stretch>
            <a:fillRect/>
          </a:stretch>
        </p:blipFill>
        <p:spPr>
          <a:xfrm>
            <a:off x="8833104" y="3017520"/>
            <a:ext cx="219456" cy="219456"/>
          </a:xfrm>
          <a:prstGeom prst="rect">
            <a:avLst/>
          </a:prstGeom>
        </p:spPr>
      </p:pic>
      <p:sp>
        <p:nvSpPr>
          <p:cNvPr id="40" name="Shape 31"/>
          <p:cNvSpPr/>
          <p:nvPr/>
        </p:nvSpPr>
        <p:spPr>
          <a:xfrm>
            <a:off x="9079992" y="1645920"/>
            <a:ext cx="2560320" cy="3063240"/>
          </a:xfrm>
          <a:prstGeom prst="roundRect">
            <a:avLst>
              <a:gd name="adj" fmla="val 5000"/>
            </a:avLst>
          </a:prstGeom>
          <a:solidFill>
            <a:schemeClr val="bg1"/>
          </a:solidFill>
          <a:ln w="9525">
            <a:solidFill>
              <a:srgbClr val="D5E3EE"/>
            </a:solidFill>
            <a:prstDash val="solid"/>
          </a:ln>
          <a:effectLst>
            <a:outerShdw sx="100000" sy="100000" kx="0" ky="0" algn="bl" rotWithShape="0" blurRad="127000" dist="38100" dir="5400000">
              <a:srgbClr val="0B2545">
                <a:alpha val="14000"/>
              </a:srgbClr>
            </a:outerShdw>
          </a:effectLst>
        </p:spPr>
      </p:sp>
      <p:sp>
        <p:nvSpPr>
          <p:cNvPr id="41" name="Shape 32"/>
          <p:cNvSpPr/>
          <p:nvPr/>
        </p:nvSpPr>
        <p:spPr>
          <a:xfrm>
            <a:off x="9308592" y="1874520"/>
            <a:ext cx="457200" cy="457200"/>
          </a:xfrm>
          <a:prstGeom prst="ellipse">
            <a:avLst/>
          </a:prstGeom>
          <a:solidFill>
            <a:schemeClr val="accent3"/>
          </a:solidFill>
          <a:ln w="3175">
            <a:solidFill>
              <a:schemeClr val="accent3"/>
            </a:solidFill>
            <a:prstDash val="solid"/>
          </a:ln>
        </p:spPr>
      </p:sp>
      <p:sp>
        <p:nvSpPr>
          <p:cNvPr id="42" name="Text 33"/>
          <p:cNvSpPr txBox="1"/>
          <p:nvPr/>
        </p:nvSpPr>
        <p:spPr>
          <a:xfrm>
            <a:off x="9308592" y="1874520"/>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rPr>
              <a:t>4</a:t>
            </a:r>
            <a:endParaRPr lang="en-US" sz="1800" dirty="0"/>
          </a:p>
        </p:txBody>
      </p:sp>
      <p:sp>
        <p:nvSpPr>
          <p:cNvPr id="43" name="Shape 34"/>
          <p:cNvSpPr/>
          <p:nvPr/>
        </p:nvSpPr>
        <p:spPr>
          <a:xfrm>
            <a:off x="10680192" y="1828800"/>
            <a:ext cx="685800" cy="685800"/>
          </a:xfrm>
          <a:prstGeom prst="ellipse">
            <a:avLst/>
          </a:prstGeom>
          <a:solidFill>
            <a:schemeClr val="accent1"/>
          </a:solidFill>
          <a:ln w="6350">
            <a:solidFill>
              <a:schemeClr val="accent1"/>
            </a:solidFill>
            <a:prstDash val="solid"/>
          </a:ln>
        </p:spPr>
      </p:sp>
      <p:pic>
        <p:nvPicPr>
          <p:cNvPr id="44" name="Image 6" descr="preencoded.png">    </p:cNvPr>
          <p:cNvPicPr>
            <a:picLocks noChangeAspect="1"/>
          </p:cNvPicPr>
          <p:nvPr/>
        </p:nvPicPr>
        <p:blipFill>
          <a:blip r:embed="rId7"/>
          <a:stretch>
            <a:fillRect/>
          </a:stretch>
        </p:blipFill>
        <p:spPr>
          <a:xfrm>
            <a:off x="10844784" y="1993392"/>
            <a:ext cx="356616" cy="356616"/>
          </a:xfrm>
          <a:prstGeom prst="rect">
            <a:avLst/>
          </a:prstGeom>
        </p:spPr>
      </p:pic>
      <p:sp>
        <p:nvSpPr>
          <p:cNvPr id="45" name="Text 35"/>
          <p:cNvSpPr txBox="1"/>
          <p:nvPr/>
        </p:nvSpPr>
        <p:spPr>
          <a:xfrm>
            <a:off x="9308592" y="2743200"/>
            <a:ext cx="2194560" cy="411480"/>
          </a:xfrm>
          <a:prstGeom prst="rect">
            <a:avLst/>
          </a:prstGeom>
          <a:noFill/>
          <a:ln/>
        </p:spPr>
        <p:txBody>
          <a:bodyPr wrap="square" lIns="0" tIns="0" rIns="0" bIns="0" rtlCol="0" anchor="ctr"/>
          <a:lstStyle/>
          <a:p>
            <a:pPr indent="0" marL="0">
              <a:buNone/>
            </a:pPr>
            <a:r>
              <a:rPr lang="en-US" sz="2200" b="1" dirty="0">
                <a:solidFill>
                  <a:schemeClr val="tx1"/>
                </a:solidFill>
              </a:rPr>
              <a:t>Close &amp; Apply</a:t>
            </a:r>
            <a:endParaRPr lang="en-US" sz="2200" dirty="0"/>
          </a:p>
        </p:txBody>
      </p:sp>
      <p:sp>
        <p:nvSpPr>
          <p:cNvPr id="46" name="Text 36"/>
          <p:cNvSpPr txBox="1"/>
          <p:nvPr/>
        </p:nvSpPr>
        <p:spPr>
          <a:xfrm>
            <a:off x="9308592" y="3246120"/>
            <a:ext cx="2148840" cy="1280160"/>
          </a:xfrm>
          <a:prstGeom prst="rect">
            <a:avLst/>
          </a:prstGeom>
          <a:noFill/>
          <a:ln/>
        </p:spPr>
        <p:txBody>
          <a:bodyPr wrap="square" lIns="0" tIns="0" rIns="0" bIns="0" rtlCol="0" anchor="ctr"/>
          <a:lstStyle/>
          <a:p>
            <a:pPr indent="0" marL="0">
              <a:buNone/>
            </a:pPr>
            <a:r>
              <a:rPr lang="en-US" sz="1400" dirty="0">
                <a:solidFill>
                  <a:srgbClr val="3E566B"/>
                </a:solidFill>
              </a:rPr>
              <a:t>Load all tables into the Power BI model.</a:t>
            </a:r>
            <a:endParaRPr lang="en-US" sz="1400" dirty="0"/>
          </a:p>
        </p:txBody>
      </p:sp>
      <p:sp>
        <p:nvSpPr>
          <p:cNvPr id="47" name="Shape 37"/>
          <p:cNvSpPr/>
          <p:nvPr/>
        </p:nvSpPr>
        <p:spPr>
          <a:xfrm>
            <a:off x="548640" y="5029200"/>
            <a:ext cx="11091672" cy="1143000"/>
          </a:xfrm>
          <a:prstGeom prst="roundRect">
            <a:avLst>
              <a:gd name="adj" fmla="val 12800"/>
            </a:avLst>
          </a:prstGeom>
          <a:solidFill>
            <a:schemeClr val="tx1"/>
          </a:solidFill>
          <a:ln w="9525">
            <a:solidFill>
              <a:schemeClr val="tx2"/>
            </a:solidFill>
            <a:prstDash val="solid"/>
          </a:ln>
          <a:effectLst>
            <a:outerShdw sx="100000" sy="100000" kx="0" ky="0" algn="bl" rotWithShape="0" blurRad="127000" dist="38100" dir="5400000">
              <a:srgbClr val="0B2545">
                <a:alpha val="14000"/>
              </a:srgbClr>
            </a:outerShdw>
          </a:effectLst>
        </p:spPr>
      </p:sp>
      <p:sp>
        <p:nvSpPr>
          <p:cNvPr id="48" name="Shape 38"/>
          <p:cNvSpPr/>
          <p:nvPr/>
        </p:nvSpPr>
        <p:spPr>
          <a:xfrm>
            <a:off x="868680" y="5376672"/>
            <a:ext cx="457200" cy="457200"/>
          </a:xfrm>
          <a:prstGeom prst="ellipse">
            <a:avLst/>
          </a:prstGeom>
          <a:solidFill>
            <a:schemeClr val="accent3"/>
          </a:solidFill>
          <a:ln w="6350">
            <a:solidFill>
              <a:schemeClr val="accent3"/>
            </a:solidFill>
            <a:prstDash val="solid"/>
          </a:ln>
        </p:spPr>
      </p:sp>
      <p:pic>
        <p:nvPicPr>
          <p:cNvPr id="49" name="Image 7" descr="preencoded.png">    </p:cNvPr>
          <p:cNvPicPr>
            <a:picLocks noChangeAspect="1"/>
          </p:cNvPicPr>
          <p:nvPr/>
        </p:nvPicPr>
        <p:blipFill>
          <a:blip r:embed="rId8"/>
          <a:stretch>
            <a:fillRect/>
          </a:stretch>
        </p:blipFill>
        <p:spPr>
          <a:xfrm>
            <a:off x="978408" y="5486400"/>
            <a:ext cx="237744" cy="237744"/>
          </a:xfrm>
          <a:prstGeom prst="rect">
            <a:avLst/>
          </a:prstGeom>
        </p:spPr>
      </p:pic>
      <p:sp>
        <p:nvSpPr>
          <p:cNvPr id="50" name="Text 39"/>
          <p:cNvSpPr txBox="1"/>
          <p:nvPr/>
        </p:nvSpPr>
        <p:spPr>
          <a:xfrm>
            <a:off x="1554480" y="5120640"/>
            <a:ext cx="9784080" cy="960120"/>
          </a:xfrm>
          <a:prstGeom prst="rect">
            <a:avLst/>
          </a:prstGeom>
          <a:noFill/>
          <a:ln/>
        </p:spPr>
        <p:txBody>
          <a:bodyPr wrap="square" lIns="0" tIns="0" rIns="0" bIns="0" rtlCol="0" anchor="ctr"/>
          <a:lstStyle/>
          <a:p>
            <a:pPr indent="0" marL="0">
              <a:buNone/>
            </a:pPr>
            <a:r>
              <a:rPr lang="en-US" sz="1800" b="1" dirty="0">
                <a:solidFill>
                  <a:schemeClr val="accent3"/>
                </a:solidFill>
              </a:rPr>
              <a:t>Result: </a:t>
            </a:r>
            <a:pPr indent="0" marL="0">
              <a:buNone/>
            </a:pPr>
            <a:r>
              <a:rPr lang="en-US" sz="1800" dirty="0">
                <a:solidFill>
                  <a:schemeClr val="bg1"/>
                </a:solidFill>
              </a:rPr>
              <a:t>4 clean tables ready in Power BI: Fact_Employee, Dim_Department, Dim_JobRole and Dim_Education.</a:t>
            </a:r>
            <a:endParaRPr lang="en-US" sz="18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9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txBox="1"/>
          <p:nvPr>
            <p:ph idx="101" type="title" hasCustomPrompt="1"/>
          </p:nvPr>
        </p:nvSpPr>
        <p:spPr>
          <a:xfrm>
            <a:off x="548640" y="621792"/>
            <a:ext cx="11091672" cy="731520"/>
          </a:xfrm>
          <a:prstGeom prst="rect">
            <a:avLst/>
          </a:prstGeom>
          <a:noFill/>
          <a:ln/>
        </p:spPr>
        <p:txBody>
          <a:bodyPr wrap="square" lIns="0" tIns="0" rIns="0" bIns="0" rtlCol="0" anchor="ctr"/>
          <a:lstStyle/>
          <a:p>
            <a:pPr algn="l" indent="0" marL="0">
              <a:buNone/>
            </a:pPr>
            <a:r>
              <a:rPr lang="en-US" sz="3600" b="1" dirty="0">
                <a:solidFill>
                  <a:schemeClr val="tx1"/>
                </a:solidFill>
              </a:rPr>
              <a:t>Data Cleaning &amp; Transformation</a:t>
            </a:r>
            <a:endParaRPr lang="en-US" sz="3600" dirty="0"/>
          </a:p>
        </p:txBody>
      </p:sp>
      <p:sp>
        <p:nvSpPr>
          <p:cNvPr id="3" name="Text 1"/>
          <p:cNvSpPr txBox="1"/>
          <p:nvPr/>
        </p:nvSpPr>
        <p:spPr>
          <a:xfrm>
            <a:off x="548640" y="329184"/>
            <a:ext cx="77724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STEP 06 OF 11  ·  CLEANING &amp; TRANSFORMATION</a:t>
            </a:r>
            <a:endParaRPr lang="en-US" sz="1200" dirty="0"/>
          </a:p>
        </p:txBody>
      </p:sp>
      <p:sp>
        <p:nvSpPr>
          <p:cNvPr id="4" name="Shape 2"/>
          <p:cNvSpPr/>
          <p:nvPr/>
        </p:nvSpPr>
        <p:spPr>
          <a:xfrm>
            <a:off x="9166860" y="406908"/>
            <a:ext cx="118872" cy="118872"/>
          </a:xfrm>
          <a:prstGeom prst="ellipse">
            <a:avLst/>
          </a:prstGeom>
          <a:solidFill>
            <a:schemeClr val="accent1"/>
          </a:solidFill>
          <a:ln w="3175">
            <a:solidFill>
              <a:schemeClr val="accent1"/>
            </a:solidFill>
            <a:prstDash val="solid"/>
          </a:ln>
        </p:spPr>
      </p:sp>
      <p:sp>
        <p:nvSpPr>
          <p:cNvPr id="5" name="Shape 3"/>
          <p:cNvSpPr/>
          <p:nvPr/>
        </p:nvSpPr>
        <p:spPr>
          <a:xfrm>
            <a:off x="9399118" y="406908"/>
            <a:ext cx="118872" cy="118872"/>
          </a:xfrm>
          <a:prstGeom prst="ellipse">
            <a:avLst/>
          </a:prstGeom>
          <a:solidFill>
            <a:schemeClr val="accent1"/>
          </a:solidFill>
          <a:ln w="3175">
            <a:solidFill>
              <a:schemeClr val="accent1"/>
            </a:solidFill>
            <a:prstDash val="solid"/>
          </a:ln>
        </p:spPr>
      </p:sp>
      <p:sp>
        <p:nvSpPr>
          <p:cNvPr id="6" name="Shape 4"/>
          <p:cNvSpPr/>
          <p:nvPr/>
        </p:nvSpPr>
        <p:spPr>
          <a:xfrm>
            <a:off x="9631375" y="406908"/>
            <a:ext cx="118872" cy="118872"/>
          </a:xfrm>
          <a:prstGeom prst="ellipse">
            <a:avLst/>
          </a:prstGeom>
          <a:solidFill>
            <a:schemeClr val="accent1"/>
          </a:solidFill>
          <a:ln w="3175">
            <a:solidFill>
              <a:schemeClr val="accent1"/>
            </a:solidFill>
            <a:prstDash val="solid"/>
          </a:ln>
        </p:spPr>
      </p:sp>
      <p:sp>
        <p:nvSpPr>
          <p:cNvPr id="7" name="Shape 5"/>
          <p:cNvSpPr/>
          <p:nvPr/>
        </p:nvSpPr>
        <p:spPr>
          <a:xfrm>
            <a:off x="9863633" y="406908"/>
            <a:ext cx="118872" cy="118872"/>
          </a:xfrm>
          <a:prstGeom prst="ellipse">
            <a:avLst/>
          </a:prstGeom>
          <a:solidFill>
            <a:schemeClr val="accent1"/>
          </a:solidFill>
          <a:ln w="3175">
            <a:solidFill>
              <a:schemeClr val="accent1"/>
            </a:solidFill>
            <a:prstDash val="solid"/>
          </a:ln>
        </p:spPr>
      </p:sp>
      <p:sp>
        <p:nvSpPr>
          <p:cNvPr id="8" name="Shape 6"/>
          <p:cNvSpPr/>
          <p:nvPr/>
        </p:nvSpPr>
        <p:spPr>
          <a:xfrm>
            <a:off x="10095890" y="406908"/>
            <a:ext cx="118872" cy="118872"/>
          </a:xfrm>
          <a:prstGeom prst="ellipse">
            <a:avLst/>
          </a:prstGeom>
          <a:solidFill>
            <a:schemeClr val="accent1"/>
          </a:solidFill>
          <a:ln w="3175">
            <a:solidFill>
              <a:schemeClr val="accent1"/>
            </a:solidFill>
            <a:prstDash val="solid"/>
          </a:ln>
        </p:spPr>
      </p:sp>
      <p:sp>
        <p:nvSpPr>
          <p:cNvPr id="9" name="Shape 7"/>
          <p:cNvSpPr/>
          <p:nvPr/>
        </p:nvSpPr>
        <p:spPr>
          <a:xfrm>
            <a:off x="10296144" y="374904"/>
            <a:ext cx="182880" cy="182880"/>
          </a:xfrm>
          <a:prstGeom prst="ellipse">
            <a:avLst/>
          </a:prstGeom>
          <a:solidFill>
            <a:schemeClr val="accent3"/>
          </a:solidFill>
          <a:ln w="3175">
            <a:solidFill>
              <a:schemeClr val="accent3"/>
            </a:solidFill>
            <a:prstDash val="solid"/>
          </a:ln>
        </p:spPr>
      </p:sp>
      <p:sp>
        <p:nvSpPr>
          <p:cNvPr id="10" name="Shape 8"/>
          <p:cNvSpPr/>
          <p:nvPr/>
        </p:nvSpPr>
        <p:spPr>
          <a:xfrm>
            <a:off x="10560406" y="406908"/>
            <a:ext cx="118872" cy="118872"/>
          </a:xfrm>
          <a:prstGeom prst="ellipse">
            <a:avLst/>
          </a:prstGeom>
          <a:solidFill>
            <a:srgbClr val="C4D3DF"/>
          </a:solidFill>
          <a:ln w="3175">
            <a:solidFill>
              <a:srgbClr val="C4D3DF"/>
            </a:solidFill>
            <a:prstDash val="solid"/>
          </a:ln>
        </p:spPr>
      </p:sp>
      <p:sp>
        <p:nvSpPr>
          <p:cNvPr id="11" name="Shape 9"/>
          <p:cNvSpPr/>
          <p:nvPr/>
        </p:nvSpPr>
        <p:spPr>
          <a:xfrm>
            <a:off x="10792663" y="406908"/>
            <a:ext cx="118872" cy="118872"/>
          </a:xfrm>
          <a:prstGeom prst="ellipse">
            <a:avLst/>
          </a:prstGeom>
          <a:solidFill>
            <a:srgbClr val="C4D3DF"/>
          </a:solidFill>
          <a:ln w="3175">
            <a:solidFill>
              <a:srgbClr val="C4D3DF"/>
            </a:solidFill>
            <a:prstDash val="solid"/>
          </a:ln>
        </p:spPr>
      </p:sp>
      <p:sp>
        <p:nvSpPr>
          <p:cNvPr id="12" name="Shape 10"/>
          <p:cNvSpPr/>
          <p:nvPr/>
        </p:nvSpPr>
        <p:spPr>
          <a:xfrm>
            <a:off x="11024921" y="406908"/>
            <a:ext cx="118872" cy="118872"/>
          </a:xfrm>
          <a:prstGeom prst="ellipse">
            <a:avLst/>
          </a:prstGeom>
          <a:solidFill>
            <a:srgbClr val="C4D3DF"/>
          </a:solidFill>
          <a:ln w="3175">
            <a:solidFill>
              <a:srgbClr val="C4D3DF"/>
            </a:solidFill>
            <a:prstDash val="solid"/>
          </a:ln>
        </p:spPr>
      </p:sp>
      <p:sp>
        <p:nvSpPr>
          <p:cNvPr id="13" name="Shape 11"/>
          <p:cNvSpPr/>
          <p:nvPr/>
        </p:nvSpPr>
        <p:spPr>
          <a:xfrm>
            <a:off x="11257178" y="406908"/>
            <a:ext cx="118872" cy="118872"/>
          </a:xfrm>
          <a:prstGeom prst="ellipse">
            <a:avLst/>
          </a:prstGeom>
          <a:solidFill>
            <a:srgbClr val="C4D3DF"/>
          </a:solidFill>
          <a:ln w="3175">
            <a:solidFill>
              <a:srgbClr val="C4D3DF"/>
            </a:solidFill>
            <a:prstDash val="solid"/>
          </a:ln>
        </p:spPr>
      </p:sp>
      <p:sp>
        <p:nvSpPr>
          <p:cNvPr id="14" name="Shape 12"/>
          <p:cNvSpPr/>
          <p:nvPr/>
        </p:nvSpPr>
        <p:spPr>
          <a:xfrm>
            <a:off x="11489436" y="406908"/>
            <a:ext cx="118872" cy="118872"/>
          </a:xfrm>
          <a:prstGeom prst="ellipse">
            <a:avLst/>
          </a:prstGeom>
          <a:solidFill>
            <a:srgbClr val="C4D3DF"/>
          </a:solidFill>
          <a:ln w="3175">
            <a:solidFill>
              <a:srgbClr val="C4D3DF"/>
            </a:solidFill>
            <a:prstDash val="solid"/>
          </a:ln>
        </p:spPr>
      </p:sp>
      <p:sp>
        <p:nvSpPr>
          <p:cNvPr id="16" name="Shape 13"/>
          <p:cNvSpPr/>
          <p:nvPr/>
        </p:nvSpPr>
        <p:spPr>
          <a:xfrm>
            <a:off x="548640" y="1554480"/>
            <a:ext cx="5394960" cy="2880360"/>
          </a:xfrm>
          <a:prstGeom prst="roundRect">
            <a:avLst>
              <a:gd name="adj" fmla="val 4444"/>
            </a:avLst>
          </a:prstGeom>
          <a:solidFill>
            <a:schemeClr val="bg1"/>
          </a:solidFill>
          <a:ln w="9525">
            <a:solidFill>
              <a:srgbClr val="D5E3EE"/>
            </a:solidFill>
            <a:prstDash val="solid"/>
          </a:ln>
          <a:effectLst>
            <a:outerShdw sx="100000" sy="100000" kx="0" ky="0" algn="bl" rotWithShape="0" blurRad="127000" dist="38100" dir="5400000">
              <a:srgbClr val="0B2545">
                <a:alpha val="14000"/>
              </a:srgbClr>
            </a:outerShdw>
          </a:effectLst>
        </p:spPr>
      </p:sp>
      <p:sp>
        <p:nvSpPr>
          <p:cNvPr id="17" name="Text 14"/>
          <p:cNvSpPr txBox="1"/>
          <p:nvPr/>
        </p:nvSpPr>
        <p:spPr>
          <a:xfrm>
            <a:off x="822960" y="1691640"/>
            <a:ext cx="2743200" cy="411480"/>
          </a:xfrm>
          <a:prstGeom prst="rect">
            <a:avLst/>
          </a:prstGeom>
          <a:noFill/>
          <a:ln/>
        </p:spPr>
        <p:txBody>
          <a:bodyPr wrap="square" lIns="0" tIns="0" rIns="0" bIns="0" rtlCol="0" anchor="ctr"/>
          <a:lstStyle/>
          <a:p>
            <a:pPr indent="0" marL="0">
              <a:buNone/>
            </a:pPr>
            <a:r>
              <a:rPr lang="en-US" sz="2200" b="1" dirty="0">
                <a:solidFill>
                  <a:schemeClr val="tx1"/>
                </a:solidFill>
              </a:rPr>
              <a:t>Cleaned</a:t>
            </a:r>
            <a:endParaRPr lang="en-US" sz="2200" dirty="0"/>
          </a:p>
        </p:txBody>
      </p:sp>
      <p:pic>
        <p:nvPicPr>
          <p:cNvPr id="18" name="Image 0" descr="preencoded.png">    </p:cNvPr>
          <p:cNvPicPr>
            <a:picLocks noChangeAspect="1"/>
          </p:cNvPicPr>
          <p:nvPr/>
        </p:nvPicPr>
        <p:blipFill>
          <a:blip r:embed="rId1"/>
          <a:stretch>
            <a:fillRect/>
          </a:stretch>
        </p:blipFill>
        <p:spPr>
          <a:xfrm>
            <a:off x="868680" y="2331720"/>
            <a:ext cx="310896" cy="310896"/>
          </a:xfrm>
          <a:prstGeom prst="rect">
            <a:avLst/>
          </a:prstGeom>
        </p:spPr>
      </p:pic>
      <p:sp>
        <p:nvSpPr>
          <p:cNvPr id="19" name="Text 15"/>
          <p:cNvSpPr txBox="1"/>
          <p:nvPr/>
        </p:nvSpPr>
        <p:spPr>
          <a:xfrm>
            <a:off x="1371600" y="2286000"/>
            <a:ext cx="4389120" cy="402336"/>
          </a:xfrm>
          <a:prstGeom prst="rect">
            <a:avLst/>
          </a:prstGeom>
          <a:noFill/>
          <a:ln/>
        </p:spPr>
        <p:txBody>
          <a:bodyPr wrap="square" lIns="0" tIns="0" rIns="0" bIns="0" rtlCol="0" anchor="ctr"/>
          <a:lstStyle/>
          <a:p>
            <a:pPr indent="0" marL="0">
              <a:buNone/>
            </a:pPr>
            <a:r>
              <a:rPr lang="en-US" sz="1800" dirty="0">
                <a:solidFill>
                  <a:schemeClr val="tx1"/>
                </a:solidFill>
              </a:rPr>
              <a:t>Data types set</a:t>
            </a:r>
            <a:endParaRPr lang="en-US" sz="1800" dirty="0"/>
          </a:p>
        </p:txBody>
      </p:sp>
      <p:pic>
        <p:nvPicPr>
          <p:cNvPr id="20" name="Image 1" descr="preencoded.png">    </p:cNvPr>
          <p:cNvPicPr>
            <a:picLocks noChangeAspect="1"/>
          </p:cNvPicPr>
          <p:nvPr/>
        </p:nvPicPr>
        <p:blipFill>
          <a:blip r:embed="rId2"/>
          <a:stretch>
            <a:fillRect/>
          </a:stretch>
        </p:blipFill>
        <p:spPr>
          <a:xfrm>
            <a:off x="868680" y="2862072"/>
            <a:ext cx="310896" cy="310896"/>
          </a:xfrm>
          <a:prstGeom prst="rect">
            <a:avLst/>
          </a:prstGeom>
        </p:spPr>
      </p:pic>
      <p:sp>
        <p:nvSpPr>
          <p:cNvPr id="21" name="Text 16"/>
          <p:cNvSpPr txBox="1"/>
          <p:nvPr/>
        </p:nvSpPr>
        <p:spPr>
          <a:xfrm>
            <a:off x="1371600" y="2816352"/>
            <a:ext cx="4389120" cy="402336"/>
          </a:xfrm>
          <a:prstGeom prst="rect">
            <a:avLst/>
          </a:prstGeom>
          <a:noFill/>
          <a:ln/>
        </p:spPr>
        <p:txBody>
          <a:bodyPr wrap="square" lIns="0" tIns="0" rIns="0" bIns="0" rtlCol="0" anchor="ctr"/>
          <a:lstStyle/>
          <a:p>
            <a:pPr indent="0" marL="0">
              <a:buNone/>
            </a:pPr>
            <a:r>
              <a:rPr lang="en-US" sz="1800" dirty="0">
                <a:solidFill>
                  <a:schemeClr val="tx1"/>
                </a:solidFill>
              </a:rPr>
              <a:t>Text trimmed</a:t>
            </a:r>
            <a:endParaRPr lang="en-US" sz="1800" dirty="0"/>
          </a:p>
        </p:txBody>
      </p:sp>
      <p:pic>
        <p:nvPicPr>
          <p:cNvPr id="22" name="Image 2" descr="preencoded.png">    </p:cNvPr>
          <p:cNvPicPr>
            <a:picLocks noChangeAspect="1"/>
          </p:cNvPicPr>
          <p:nvPr/>
        </p:nvPicPr>
        <p:blipFill>
          <a:blip r:embed="rId3"/>
          <a:stretch>
            <a:fillRect/>
          </a:stretch>
        </p:blipFill>
        <p:spPr>
          <a:xfrm>
            <a:off x="868680" y="3392424"/>
            <a:ext cx="310896" cy="310896"/>
          </a:xfrm>
          <a:prstGeom prst="rect">
            <a:avLst/>
          </a:prstGeom>
        </p:spPr>
      </p:pic>
      <p:sp>
        <p:nvSpPr>
          <p:cNvPr id="23" name="Text 17"/>
          <p:cNvSpPr txBox="1"/>
          <p:nvPr/>
        </p:nvSpPr>
        <p:spPr>
          <a:xfrm>
            <a:off x="1371600" y="3346704"/>
            <a:ext cx="4389120" cy="402336"/>
          </a:xfrm>
          <a:prstGeom prst="rect">
            <a:avLst/>
          </a:prstGeom>
          <a:noFill/>
          <a:ln/>
        </p:spPr>
        <p:txBody>
          <a:bodyPr wrap="square" lIns="0" tIns="0" rIns="0" bIns="0" rtlCol="0" anchor="ctr"/>
          <a:lstStyle/>
          <a:p>
            <a:pPr indent="0" marL="0">
              <a:buNone/>
            </a:pPr>
            <a:r>
              <a:rPr lang="en-US" sz="1800" dirty="0">
                <a:solidFill>
                  <a:schemeClr val="tx1"/>
                </a:solidFill>
              </a:rPr>
              <a:t>Duplicates: 0 found</a:t>
            </a:r>
            <a:endParaRPr lang="en-US" sz="1800" dirty="0"/>
          </a:p>
        </p:txBody>
      </p:sp>
      <p:pic>
        <p:nvPicPr>
          <p:cNvPr id="24" name="Image 3" descr="preencoded.png">    </p:cNvPr>
          <p:cNvPicPr>
            <a:picLocks noChangeAspect="1"/>
          </p:cNvPicPr>
          <p:nvPr/>
        </p:nvPicPr>
        <p:blipFill>
          <a:blip r:embed="rId4"/>
          <a:stretch>
            <a:fillRect/>
          </a:stretch>
        </p:blipFill>
        <p:spPr>
          <a:xfrm>
            <a:off x="868680" y="3922776"/>
            <a:ext cx="310896" cy="310896"/>
          </a:xfrm>
          <a:prstGeom prst="rect">
            <a:avLst/>
          </a:prstGeom>
        </p:spPr>
      </p:pic>
      <p:sp>
        <p:nvSpPr>
          <p:cNvPr id="25" name="Text 18"/>
          <p:cNvSpPr txBox="1"/>
          <p:nvPr/>
        </p:nvSpPr>
        <p:spPr>
          <a:xfrm>
            <a:off x="1371600" y="3877056"/>
            <a:ext cx="4389120" cy="402336"/>
          </a:xfrm>
          <a:prstGeom prst="rect">
            <a:avLst/>
          </a:prstGeom>
          <a:noFill/>
          <a:ln/>
        </p:spPr>
        <p:txBody>
          <a:bodyPr wrap="square" lIns="0" tIns="0" rIns="0" bIns="0" rtlCol="0" anchor="ctr"/>
          <a:lstStyle/>
          <a:p>
            <a:pPr indent="0" marL="0">
              <a:buNone/>
            </a:pPr>
            <a:r>
              <a:rPr lang="en-US" sz="1800" dirty="0">
                <a:solidFill>
                  <a:schemeClr val="tx1"/>
                </a:solidFill>
              </a:rPr>
              <a:t>Blank values: 0 found</a:t>
            </a:r>
            <a:endParaRPr lang="en-US" sz="1800" dirty="0"/>
          </a:p>
        </p:txBody>
      </p:sp>
      <p:sp>
        <p:nvSpPr>
          <p:cNvPr id="26" name="Shape 19"/>
          <p:cNvSpPr/>
          <p:nvPr/>
        </p:nvSpPr>
        <p:spPr>
          <a:xfrm>
            <a:off x="6217920" y="1554480"/>
            <a:ext cx="5422392" cy="2880360"/>
          </a:xfrm>
          <a:prstGeom prst="roundRect">
            <a:avLst>
              <a:gd name="adj" fmla="val 4444"/>
            </a:avLst>
          </a:prstGeom>
          <a:solidFill>
            <a:schemeClr val="bg1"/>
          </a:solidFill>
          <a:ln w="9525">
            <a:solidFill>
              <a:srgbClr val="D5E3EE"/>
            </a:solidFill>
            <a:prstDash val="solid"/>
          </a:ln>
          <a:effectLst>
            <a:outerShdw sx="100000" sy="100000" kx="0" ky="0" algn="bl" rotWithShape="0" blurRad="127000" dist="38100" dir="5400000">
              <a:srgbClr val="0B2545">
                <a:alpha val="14000"/>
              </a:srgbClr>
            </a:outerShdw>
          </a:effectLst>
        </p:spPr>
      </p:sp>
      <p:sp>
        <p:nvSpPr>
          <p:cNvPr id="27" name="Text 20"/>
          <p:cNvSpPr txBox="1"/>
          <p:nvPr/>
        </p:nvSpPr>
        <p:spPr>
          <a:xfrm>
            <a:off x="6492240" y="1691640"/>
            <a:ext cx="3657600" cy="411480"/>
          </a:xfrm>
          <a:prstGeom prst="rect">
            <a:avLst/>
          </a:prstGeom>
          <a:noFill/>
          <a:ln/>
        </p:spPr>
        <p:txBody>
          <a:bodyPr wrap="square" lIns="0" tIns="0" rIns="0" bIns="0" rtlCol="0" anchor="ctr"/>
          <a:lstStyle/>
          <a:p>
            <a:pPr indent="0" marL="0">
              <a:buNone/>
            </a:pPr>
            <a:r>
              <a:rPr lang="en-US" sz="2200" b="1" dirty="0">
                <a:solidFill>
                  <a:schemeClr val="tx1"/>
                </a:solidFill>
              </a:rPr>
              <a:t>New columns added</a:t>
            </a:r>
            <a:endParaRPr lang="en-US" sz="2200" dirty="0"/>
          </a:p>
        </p:txBody>
      </p:sp>
      <p:sp>
        <p:nvSpPr>
          <p:cNvPr id="28" name="Shape 21"/>
          <p:cNvSpPr/>
          <p:nvPr/>
        </p:nvSpPr>
        <p:spPr>
          <a:xfrm>
            <a:off x="6492240" y="2286000"/>
            <a:ext cx="2377440" cy="530352"/>
          </a:xfrm>
          <a:prstGeom prst="roundRect">
            <a:avLst>
              <a:gd name="adj" fmla="val 50000"/>
            </a:avLst>
          </a:prstGeom>
          <a:solidFill>
            <a:schemeClr val="bg2"/>
          </a:solidFill>
          <a:ln w="9525">
            <a:solidFill>
              <a:schemeClr val="accent1"/>
            </a:solidFill>
            <a:prstDash val="solid"/>
          </a:ln>
        </p:spPr>
      </p:sp>
      <p:sp>
        <p:nvSpPr>
          <p:cNvPr id="29" name="Text 22"/>
          <p:cNvSpPr txBox="1"/>
          <p:nvPr/>
        </p:nvSpPr>
        <p:spPr>
          <a:xfrm>
            <a:off x="6492240" y="2286000"/>
            <a:ext cx="2377440" cy="530352"/>
          </a:xfrm>
          <a:prstGeom prst="rect">
            <a:avLst/>
          </a:prstGeom>
          <a:noFill/>
          <a:ln/>
        </p:spPr>
        <p:txBody>
          <a:bodyPr wrap="square" lIns="0" tIns="0" rIns="0" bIns="0" rtlCol="0" anchor="ctr"/>
          <a:lstStyle/>
          <a:p>
            <a:pPr algn="ctr" indent="0" marL="0">
              <a:buNone/>
            </a:pPr>
            <a:r>
              <a:rPr lang="en-US" sz="1500" b="1" dirty="0">
                <a:solidFill>
                  <a:schemeClr val="tx1"/>
                </a:solidFill>
              </a:rPr>
              <a:t>Age_Group</a:t>
            </a:r>
            <a:endParaRPr lang="en-US" sz="1500" dirty="0"/>
          </a:p>
        </p:txBody>
      </p:sp>
      <p:sp>
        <p:nvSpPr>
          <p:cNvPr id="30" name="Shape 23"/>
          <p:cNvSpPr/>
          <p:nvPr/>
        </p:nvSpPr>
        <p:spPr>
          <a:xfrm>
            <a:off x="9006840" y="2286000"/>
            <a:ext cx="2377440" cy="530352"/>
          </a:xfrm>
          <a:prstGeom prst="roundRect">
            <a:avLst>
              <a:gd name="adj" fmla="val 50000"/>
            </a:avLst>
          </a:prstGeom>
          <a:solidFill>
            <a:schemeClr val="bg2"/>
          </a:solidFill>
          <a:ln w="9525">
            <a:solidFill>
              <a:schemeClr val="accent1"/>
            </a:solidFill>
            <a:prstDash val="solid"/>
          </a:ln>
        </p:spPr>
      </p:sp>
      <p:sp>
        <p:nvSpPr>
          <p:cNvPr id="31" name="Text 24"/>
          <p:cNvSpPr txBox="1"/>
          <p:nvPr/>
        </p:nvSpPr>
        <p:spPr>
          <a:xfrm>
            <a:off x="9006840" y="2286000"/>
            <a:ext cx="2377440" cy="530352"/>
          </a:xfrm>
          <a:prstGeom prst="rect">
            <a:avLst/>
          </a:prstGeom>
          <a:noFill/>
          <a:ln/>
        </p:spPr>
        <p:txBody>
          <a:bodyPr wrap="square" lIns="0" tIns="0" rIns="0" bIns="0" rtlCol="0" anchor="ctr"/>
          <a:lstStyle/>
          <a:p>
            <a:pPr algn="ctr" indent="0" marL="0">
              <a:buNone/>
            </a:pPr>
            <a:r>
              <a:rPr lang="en-US" sz="1500" b="1" dirty="0">
                <a:solidFill>
                  <a:schemeClr val="tx1"/>
                </a:solidFill>
              </a:rPr>
              <a:t>Income_Band</a:t>
            </a:r>
            <a:endParaRPr lang="en-US" sz="1500" dirty="0"/>
          </a:p>
        </p:txBody>
      </p:sp>
      <p:sp>
        <p:nvSpPr>
          <p:cNvPr id="32" name="Shape 25"/>
          <p:cNvSpPr/>
          <p:nvPr/>
        </p:nvSpPr>
        <p:spPr>
          <a:xfrm>
            <a:off x="6492240" y="2971800"/>
            <a:ext cx="2377440" cy="530352"/>
          </a:xfrm>
          <a:prstGeom prst="roundRect">
            <a:avLst>
              <a:gd name="adj" fmla="val 50000"/>
            </a:avLst>
          </a:prstGeom>
          <a:solidFill>
            <a:schemeClr val="bg2"/>
          </a:solidFill>
          <a:ln w="9525">
            <a:solidFill>
              <a:schemeClr val="accent1"/>
            </a:solidFill>
            <a:prstDash val="solid"/>
          </a:ln>
        </p:spPr>
      </p:sp>
      <p:sp>
        <p:nvSpPr>
          <p:cNvPr id="33" name="Text 26"/>
          <p:cNvSpPr txBox="1"/>
          <p:nvPr/>
        </p:nvSpPr>
        <p:spPr>
          <a:xfrm>
            <a:off x="6492240" y="2971800"/>
            <a:ext cx="2377440" cy="530352"/>
          </a:xfrm>
          <a:prstGeom prst="rect">
            <a:avLst/>
          </a:prstGeom>
          <a:noFill/>
          <a:ln/>
        </p:spPr>
        <p:txBody>
          <a:bodyPr wrap="square" lIns="0" tIns="0" rIns="0" bIns="0" rtlCol="0" anchor="ctr"/>
          <a:lstStyle/>
          <a:p>
            <a:pPr algn="ctr" indent="0" marL="0">
              <a:buNone/>
            </a:pPr>
            <a:r>
              <a:rPr lang="en-US" sz="1500" b="1" dirty="0">
                <a:solidFill>
                  <a:schemeClr val="tx1"/>
                </a:solidFill>
              </a:rPr>
              <a:t>Tenure_Band</a:t>
            </a:r>
            <a:endParaRPr lang="en-US" sz="1500" dirty="0"/>
          </a:p>
        </p:txBody>
      </p:sp>
      <p:sp>
        <p:nvSpPr>
          <p:cNvPr id="34" name="Shape 27"/>
          <p:cNvSpPr/>
          <p:nvPr/>
        </p:nvSpPr>
        <p:spPr>
          <a:xfrm>
            <a:off x="9006840" y="2971800"/>
            <a:ext cx="2377440" cy="530352"/>
          </a:xfrm>
          <a:prstGeom prst="roundRect">
            <a:avLst>
              <a:gd name="adj" fmla="val 50000"/>
            </a:avLst>
          </a:prstGeom>
          <a:solidFill>
            <a:schemeClr val="bg2"/>
          </a:solidFill>
          <a:ln w="9525">
            <a:solidFill>
              <a:schemeClr val="accent1"/>
            </a:solidFill>
            <a:prstDash val="solid"/>
          </a:ln>
        </p:spPr>
      </p:sp>
      <p:sp>
        <p:nvSpPr>
          <p:cNvPr id="35" name="Text 28"/>
          <p:cNvSpPr txBox="1"/>
          <p:nvPr/>
        </p:nvSpPr>
        <p:spPr>
          <a:xfrm>
            <a:off x="9006840" y="2971800"/>
            <a:ext cx="2377440" cy="530352"/>
          </a:xfrm>
          <a:prstGeom prst="rect">
            <a:avLst/>
          </a:prstGeom>
          <a:noFill/>
          <a:ln/>
        </p:spPr>
        <p:txBody>
          <a:bodyPr wrap="square" lIns="0" tIns="0" rIns="0" bIns="0" rtlCol="0" anchor="ctr"/>
          <a:lstStyle/>
          <a:p>
            <a:pPr algn="ctr" indent="0" marL="0">
              <a:buNone/>
            </a:pPr>
            <a:r>
              <a:rPr lang="en-US" sz="1500" b="1" dirty="0">
                <a:solidFill>
                  <a:schemeClr val="tx1"/>
                </a:solidFill>
              </a:rPr>
              <a:t>Annual_Income</a:t>
            </a:r>
            <a:endParaRPr lang="en-US" sz="1500" dirty="0"/>
          </a:p>
        </p:txBody>
      </p:sp>
      <p:sp>
        <p:nvSpPr>
          <p:cNvPr id="36" name="Shape 29"/>
          <p:cNvSpPr/>
          <p:nvPr/>
        </p:nvSpPr>
        <p:spPr>
          <a:xfrm>
            <a:off x="6492240" y="3657600"/>
            <a:ext cx="2377440" cy="530352"/>
          </a:xfrm>
          <a:prstGeom prst="roundRect">
            <a:avLst>
              <a:gd name="adj" fmla="val 50000"/>
            </a:avLst>
          </a:prstGeom>
          <a:solidFill>
            <a:schemeClr val="accent3"/>
          </a:solidFill>
          <a:ln w="9525">
            <a:solidFill>
              <a:schemeClr val="accent3"/>
            </a:solidFill>
            <a:prstDash val="solid"/>
          </a:ln>
        </p:spPr>
      </p:sp>
      <p:sp>
        <p:nvSpPr>
          <p:cNvPr id="37" name="Text 30"/>
          <p:cNvSpPr txBox="1"/>
          <p:nvPr/>
        </p:nvSpPr>
        <p:spPr>
          <a:xfrm>
            <a:off x="6492240" y="3657600"/>
            <a:ext cx="2377440" cy="530352"/>
          </a:xfrm>
          <a:prstGeom prst="rect">
            <a:avLst/>
          </a:prstGeom>
          <a:noFill/>
          <a:ln/>
        </p:spPr>
        <p:txBody>
          <a:bodyPr wrap="square" lIns="0" tIns="0" rIns="0" bIns="0" rtlCol="0" anchor="ctr"/>
          <a:lstStyle/>
          <a:p>
            <a:pPr algn="ctr" indent="0" marL="0">
              <a:buNone/>
            </a:pPr>
            <a:r>
              <a:rPr lang="en-US" sz="1500" b="1" dirty="0">
                <a:solidFill>
                  <a:schemeClr val="tx1"/>
                </a:solidFill>
              </a:rPr>
              <a:t>Data_Quality_Flag</a:t>
            </a:r>
            <a:endParaRPr lang="en-US" sz="1500" dirty="0"/>
          </a:p>
        </p:txBody>
      </p:sp>
      <p:sp>
        <p:nvSpPr>
          <p:cNvPr id="38" name="Shape 31"/>
          <p:cNvSpPr/>
          <p:nvPr/>
        </p:nvSpPr>
        <p:spPr>
          <a:xfrm>
            <a:off x="9006840" y="3657600"/>
            <a:ext cx="2377440" cy="530352"/>
          </a:xfrm>
          <a:prstGeom prst="roundRect">
            <a:avLst>
              <a:gd name="adj" fmla="val 50000"/>
            </a:avLst>
          </a:prstGeom>
          <a:solidFill>
            <a:schemeClr val="bg2"/>
          </a:solidFill>
          <a:ln w="9525">
            <a:solidFill>
              <a:schemeClr val="accent1"/>
            </a:solidFill>
            <a:prstDash val="solid"/>
          </a:ln>
        </p:spPr>
      </p:sp>
      <p:sp>
        <p:nvSpPr>
          <p:cNvPr id="39" name="Text 32"/>
          <p:cNvSpPr txBox="1"/>
          <p:nvPr/>
        </p:nvSpPr>
        <p:spPr>
          <a:xfrm>
            <a:off x="9006840" y="3657600"/>
            <a:ext cx="2377440" cy="530352"/>
          </a:xfrm>
          <a:prstGeom prst="rect">
            <a:avLst/>
          </a:prstGeom>
          <a:noFill/>
          <a:ln/>
        </p:spPr>
        <p:txBody>
          <a:bodyPr wrap="square" lIns="0" tIns="0" rIns="0" bIns="0" rtlCol="0" anchor="ctr"/>
          <a:lstStyle/>
          <a:p>
            <a:pPr algn="ctr" indent="0" marL="0">
              <a:buNone/>
            </a:pPr>
            <a:r>
              <a:rPr lang="en-US" sz="1500" b="1" dirty="0">
                <a:solidFill>
                  <a:schemeClr val="tx1"/>
                </a:solidFill>
              </a:rPr>
              <a:t>+ Sort columns</a:t>
            </a:r>
            <a:endParaRPr lang="en-US" sz="1500" dirty="0"/>
          </a:p>
        </p:txBody>
      </p:sp>
      <p:sp>
        <p:nvSpPr>
          <p:cNvPr id="40" name="Shape 33"/>
          <p:cNvSpPr/>
          <p:nvPr/>
        </p:nvSpPr>
        <p:spPr>
          <a:xfrm>
            <a:off x="548640" y="4663440"/>
            <a:ext cx="11091672" cy="1554480"/>
          </a:xfrm>
          <a:prstGeom prst="roundRect">
            <a:avLst>
              <a:gd name="adj" fmla="val 9412"/>
            </a:avLst>
          </a:prstGeom>
          <a:solidFill>
            <a:schemeClr val="tx1"/>
          </a:solidFill>
          <a:ln w="9525">
            <a:solidFill>
              <a:schemeClr val="tx2"/>
            </a:solidFill>
            <a:prstDash val="solid"/>
          </a:ln>
          <a:effectLst>
            <a:outerShdw sx="100000" sy="100000" kx="0" ky="0" algn="bl" rotWithShape="0" blurRad="127000" dist="38100" dir="5400000">
              <a:srgbClr val="0B2545">
                <a:alpha val="14000"/>
              </a:srgbClr>
            </a:outerShdw>
          </a:effectLst>
        </p:spPr>
      </p:sp>
      <p:sp>
        <p:nvSpPr>
          <p:cNvPr id="41" name="Shape 34"/>
          <p:cNvSpPr/>
          <p:nvPr/>
        </p:nvSpPr>
        <p:spPr>
          <a:xfrm>
            <a:off x="822960" y="4892040"/>
            <a:ext cx="548640" cy="548640"/>
          </a:xfrm>
          <a:prstGeom prst="ellipse">
            <a:avLst/>
          </a:prstGeom>
          <a:solidFill>
            <a:schemeClr val="accent3"/>
          </a:solidFill>
          <a:ln w="6350">
            <a:solidFill>
              <a:schemeClr val="accent3"/>
            </a:solidFill>
            <a:prstDash val="solid"/>
          </a:ln>
        </p:spPr>
      </p:sp>
      <p:pic>
        <p:nvPicPr>
          <p:cNvPr id="42" name="Image 4" descr="preencoded.png">    </p:cNvPr>
          <p:cNvPicPr>
            <a:picLocks noChangeAspect="1"/>
          </p:cNvPicPr>
          <p:nvPr/>
        </p:nvPicPr>
        <p:blipFill>
          <a:blip r:embed="rId5"/>
          <a:stretch>
            <a:fillRect/>
          </a:stretch>
        </p:blipFill>
        <p:spPr>
          <a:xfrm>
            <a:off x="954634" y="5023714"/>
            <a:ext cx="285293" cy="285293"/>
          </a:xfrm>
          <a:prstGeom prst="rect">
            <a:avLst/>
          </a:prstGeom>
        </p:spPr>
      </p:pic>
      <p:sp>
        <p:nvSpPr>
          <p:cNvPr id="43" name="Text 35"/>
          <p:cNvSpPr txBox="1"/>
          <p:nvPr/>
        </p:nvSpPr>
        <p:spPr>
          <a:xfrm>
            <a:off x="1554480" y="4846320"/>
            <a:ext cx="2926080" cy="365760"/>
          </a:xfrm>
          <a:prstGeom prst="rect">
            <a:avLst/>
          </a:prstGeom>
          <a:noFill/>
          <a:ln/>
        </p:spPr>
        <p:txBody>
          <a:bodyPr wrap="square" lIns="0" tIns="0" rIns="0" bIns="0" rtlCol="0" anchor="ctr"/>
          <a:lstStyle/>
          <a:p>
            <a:pPr indent="0" marL="0">
              <a:buNone/>
            </a:pPr>
            <a:r>
              <a:rPr lang="en-US" sz="2000" b="1" dirty="0">
                <a:solidFill>
                  <a:schemeClr val="bg1"/>
                </a:solidFill>
              </a:rPr>
              <a:t>Data quality flag</a:t>
            </a:r>
            <a:endParaRPr lang="en-US" sz="2000" dirty="0"/>
          </a:p>
        </p:txBody>
      </p:sp>
      <p:sp>
        <p:nvSpPr>
          <p:cNvPr id="44" name="Text 36"/>
          <p:cNvSpPr txBox="1"/>
          <p:nvPr/>
        </p:nvSpPr>
        <p:spPr>
          <a:xfrm>
            <a:off x="1554480" y="5257800"/>
            <a:ext cx="2834640" cy="822960"/>
          </a:xfrm>
          <a:prstGeom prst="rect">
            <a:avLst/>
          </a:prstGeom>
          <a:noFill/>
          <a:ln/>
        </p:spPr>
        <p:txBody>
          <a:bodyPr wrap="square" lIns="0" tIns="0" rIns="0" bIns="0" rtlCol="0" anchor="ctr"/>
          <a:lstStyle/>
          <a:p>
            <a:pPr indent="0" marL="0">
              <a:buNone/>
            </a:pPr>
            <a:r>
              <a:rPr lang="en-US" sz="1400" dirty="0">
                <a:solidFill>
                  <a:srgbClr val="BFE3F2"/>
                </a:solidFill>
              </a:rPr>
              <a:t>Odd rows were kept and flagged, not deleted.</a:t>
            </a:r>
            <a:endParaRPr lang="en-US" sz="1400" dirty="0"/>
          </a:p>
        </p:txBody>
      </p:sp>
      <p:sp>
        <p:nvSpPr>
          <p:cNvPr id="45" name="Shape 37"/>
          <p:cNvSpPr/>
          <p:nvPr/>
        </p:nvSpPr>
        <p:spPr>
          <a:xfrm>
            <a:off x="4663440" y="4846320"/>
            <a:ext cx="2194560" cy="1188720"/>
          </a:xfrm>
          <a:prstGeom prst="roundRect">
            <a:avLst>
              <a:gd name="adj" fmla="val 9231"/>
            </a:avLst>
          </a:prstGeom>
          <a:solidFill>
            <a:schemeClr val="tx2"/>
          </a:solidFill>
          <a:ln w="9525">
            <a:solidFill>
              <a:schemeClr val="accent1"/>
            </a:solidFill>
            <a:prstDash val="solid"/>
          </a:ln>
        </p:spPr>
      </p:sp>
      <p:sp>
        <p:nvSpPr>
          <p:cNvPr id="46" name="Text 38"/>
          <p:cNvSpPr txBox="1"/>
          <p:nvPr/>
        </p:nvSpPr>
        <p:spPr>
          <a:xfrm>
            <a:off x="4663440" y="4892040"/>
            <a:ext cx="2194560" cy="548640"/>
          </a:xfrm>
          <a:prstGeom prst="rect">
            <a:avLst/>
          </a:prstGeom>
          <a:noFill/>
          <a:ln/>
        </p:spPr>
        <p:txBody>
          <a:bodyPr wrap="square" lIns="0" tIns="0" rIns="0" bIns="0" rtlCol="0" anchor="ctr"/>
          <a:lstStyle/>
          <a:p>
            <a:pPr algn="ctr" indent="0" marL="0">
              <a:buNone/>
            </a:pPr>
            <a:r>
              <a:rPr lang="en-US" sz="3200" b="1" dirty="0">
                <a:solidFill>
                  <a:schemeClr val="accent3"/>
                </a:solidFill>
              </a:rPr>
              <a:t>957</a:t>
            </a:r>
            <a:endParaRPr lang="en-US" sz="3200" dirty="0"/>
          </a:p>
        </p:txBody>
      </p:sp>
      <p:sp>
        <p:nvSpPr>
          <p:cNvPr id="47" name="Text 39"/>
          <p:cNvSpPr txBox="1"/>
          <p:nvPr/>
        </p:nvSpPr>
        <p:spPr>
          <a:xfrm>
            <a:off x="4773168" y="5440680"/>
            <a:ext cx="1975104" cy="548640"/>
          </a:xfrm>
          <a:prstGeom prst="rect">
            <a:avLst/>
          </a:prstGeom>
          <a:noFill/>
          <a:ln/>
        </p:spPr>
        <p:txBody>
          <a:bodyPr wrap="square" lIns="0" tIns="0" rIns="0" bIns="0" rtlCol="0" anchor="t"/>
          <a:lstStyle/>
          <a:p>
            <a:pPr algn="ctr" indent="0" marL="0">
              <a:buNone/>
            </a:pPr>
            <a:r>
              <a:rPr lang="en-US" sz="1200" dirty="0">
                <a:solidFill>
                  <a:schemeClr val="bg1"/>
                </a:solidFill>
              </a:rPr>
              <a:t>Tenure exceeds working age</a:t>
            </a:r>
            <a:endParaRPr lang="en-US" sz="1200" dirty="0"/>
          </a:p>
        </p:txBody>
      </p:sp>
      <p:sp>
        <p:nvSpPr>
          <p:cNvPr id="48" name="Shape 40"/>
          <p:cNvSpPr/>
          <p:nvPr/>
        </p:nvSpPr>
        <p:spPr>
          <a:xfrm>
            <a:off x="6995160" y="4846320"/>
            <a:ext cx="2194560" cy="1188720"/>
          </a:xfrm>
          <a:prstGeom prst="roundRect">
            <a:avLst>
              <a:gd name="adj" fmla="val 9231"/>
            </a:avLst>
          </a:prstGeom>
          <a:solidFill>
            <a:schemeClr val="tx2"/>
          </a:solidFill>
          <a:ln w="9525">
            <a:solidFill>
              <a:schemeClr val="accent1"/>
            </a:solidFill>
            <a:prstDash val="solid"/>
          </a:ln>
        </p:spPr>
      </p:sp>
      <p:sp>
        <p:nvSpPr>
          <p:cNvPr id="49" name="Text 41"/>
          <p:cNvSpPr txBox="1"/>
          <p:nvPr/>
        </p:nvSpPr>
        <p:spPr>
          <a:xfrm>
            <a:off x="6995160" y="4892040"/>
            <a:ext cx="2194560" cy="548640"/>
          </a:xfrm>
          <a:prstGeom prst="rect">
            <a:avLst/>
          </a:prstGeom>
          <a:noFill/>
          <a:ln/>
        </p:spPr>
        <p:txBody>
          <a:bodyPr wrap="square" lIns="0" tIns="0" rIns="0" bIns="0" rtlCol="0" anchor="ctr"/>
          <a:lstStyle/>
          <a:p>
            <a:pPr algn="ctr" indent="0" marL="0">
              <a:buNone/>
            </a:pPr>
            <a:r>
              <a:rPr lang="en-US" sz="3200" b="1" dirty="0">
                <a:solidFill>
                  <a:schemeClr val="accent3"/>
                </a:solidFill>
              </a:rPr>
              <a:t>608</a:t>
            </a:r>
            <a:endParaRPr lang="en-US" sz="3200" dirty="0"/>
          </a:p>
        </p:txBody>
      </p:sp>
      <p:sp>
        <p:nvSpPr>
          <p:cNvPr id="50" name="Text 42"/>
          <p:cNvSpPr txBox="1"/>
          <p:nvPr/>
        </p:nvSpPr>
        <p:spPr>
          <a:xfrm>
            <a:off x="7104888" y="5440680"/>
            <a:ext cx="1975104" cy="548640"/>
          </a:xfrm>
          <a:prstGeom prst="rect">
            <a:avLst/>
          </a:prstGeom>
          <a:noFill/>
          <a:ln/>
        </p:spPr>
        <p:txBody>
          <a:bodyPr wrap="square" lIns="0" tIns="0" rIns="0" bIns="0" rtlCol="0" anchor="t"/>
          <a:lstStyle/>
          <a:p>
            <a:pPr algn="ctr" indent="0" marL="0">
              <a:buNone/>
            </a:pPr>
            <a:r>
              <a:rPr lang="en-US" sz="1200" dirty="0">
                <a:solidFill>
                  <a:schemeClr val="bg1"/>
                </a:solidFill>
              </a:rPr>
              <a:t>Role tenure exceeds company tenure</a:t>
            </a:r>
            <a:endParaRPr lang="en-US" sz="1200" dirty="0"/>
          </a:p>
        </p:txBody>
      </p:sp>
      <p:sp>
        <p:nvSpPr>
          <p:cNvPr id="51" name="Shape 43"/>
          <p:cNvSpPr/>
          <p:nvPr/>
        </p:nvSpPr>
        <p:spPr>
          <a:xfrm>
            <a:off x="9326880" y="4846320"/>
            <a:ext cx="2194560" cy="1188720"/>
          </a:xfrm>
          <a:prstGeom prst="roundRect">
            <a:avLst>
              <a:gd name="adj" fmla="val 9231"/>
            </a:avLst>
          </a:prstGeom>
          <a:solidFill>
            <a:schemeClr val="tx2"/>
          </a:solidFill>
          <a:ln w="9525">
            <a:solidFill>
              <a:schemeClr val="accent1"/>
            </a:solidFill>
            <a:prstDash val="solid"/>
          </a:ln>
        </p:spPr>
      </p:sp>
      <p:sp>
        <p:nvSpPr>
          <p:cNvPr id="52" name="Text 44"/>
          <p:cNvSpPr txBox="1"/>
          <p:nvPr/>
        </p:nvSpPr>
        <p:spPr>
          <a:xfrm>
            <a:off x="9326880" y="4892040"/>
            <a:ext cx="2194560" cy="548640"/>
          </a:xfrm>
          <a:prstGeom prst="rect">
            <a:avLst/>
          </a:prstGeom>
          <a:noFill/>
          <a:ln/>
        </p:spPr>
        <p:txBody>
          <a:bodyPr wrap="square" lIns="0" tIns="0" rIns="0" bIns="0" rtlCol="0" anchor="ctr"/>
          <a:lstStyle/>
          <a:p>
            <a:pPr algn="ctr" indent="0" marL="0">
              <a:buNone/>
            </a:pPr>
            <a:r>
              <a:rPr lang="en-US" sz="3200" b="1" dirty="0">
                <a:solidFill>
                  <a:schemeClr val="accent3"/>
                </a:solidFill>
              </a:rPr>
              <a:t>32</a:t>
            </a:r>
            <a:endParaRPr lang="en-US" sz="3200" dirty="0"/>
          </a:p>
        </p:txBody>
      </p:sp>
      <p:sp>
        <p:nvSpPr>
          <p:cNvPr id="53" name="Text 45"/>
          <p:cNvSpPr txBox="1"/>
          <p:nvPr/>
        </p:nvSpPr>
        <p:spPr>
          <a:xfrm>
            <a:off x="9436608" y="5440680"/>
            <a:ext cx="1975104" cy="548640"/>
          </a:xfrm>
          <a:prstGeom prst="rect">
            <a:avLst/>
          </a:prstGeom>
          <a:noFill/>
          <a:ln/>
        </p:spPr>
        <p:txBody>
          <a:bodyPr wrap="square" lIns="0" tIns="0" rIns="0" bIns="0" rtlCol="0" anchor="t"/>
          <a:lstStyle/>
          <a:p>
            <a:pPr algn="ctr" indent="0" marL="0">
              <a:buNone/>
            </a:pPr>
            <a:r>
              <a:rPr lang="en-US" sz="1200" dirty="0">
                <a:solidFill>
                  <a:schemeClr val="bg1"/>
                </a:solidFill>
              </a:rPr>
              <a:t>Both problems</a:t>
            </a:r>
            <a:endParaRPr lang="en-US" sz="12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9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txBox="1"/>
          <p:nvPr>
            <p:ph idx="101" type="title" hasCustomPrompt="1"/>
          </p:nvPr>
        </p:nvSpPr>
        <p:spPr>
          <a:xfrm>
            <a:off x="548640" y="621792"/>
            <a:ext cx="11091672" cy="731520"/>
          </a:xfrm>
          <a:prstGeom prst="rect">
            <a:avLst/>
          </a:prstGeom>
          <a:noFill/>
          <a:ln/>
        </p:spPr>
        <p:txBody>
          <a:bodyPr wrap="square" lIns="0" tIns="0" rIns="0" bIns="0" rtlCol="0" anchor="ctr"/>
          <a:lstStyle/>
          <a:p>
            <a:pPr algn="l" indent="0" marL="0">
              <a:buNone/>
            </a:pPr>
            <a:r>
              <a:rPr lang="en-US" sz="3600" b="1" dirty="0">
                <a:solidFill>
                  <a:schemeClr val="tx1"/>
                </a:solidFill>
              </a:rPr>
              <a:t>DAX &amp; KPI Creation</a:t>
            </a:r>
            <a:endParaRPr lang="en-US" sz="3600" dirty="0"/>
          </a:p>
        </p:txBody>
      </p:sp>
      <p:sp>
        <p:nvSpPr>
          <p:cNvPr id="3" name="Text 1"/>
          <p:cNvSpPr txBox="1"/>
          <p:nvPr/>
        </p:nvSpPr>
        <p:spPr>
          <a:xfrm>
            <a:off x="548640" y="329184"/>
            <a:ext cx="77724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STEP 07 OF 11  ·  DAX &amp; KPI CREATION</a:t>
            </a:r>
            <a:endParaRPr lang="en-US" sz="1200" dirty="0"/>
          </a:p>
        </p:txBody>
      </p:sp>
      <p:sp>
        <p:nvSpPr>
          <p:cNvPr id="4" name="Shape 2"/>
          <p:cNvSpPr/>
          <p:nvPr/>
        </p:nvSpPr>
        <p:spPr>
          <a:xfrm>
            <a:off x="9166860" y="406908"/>
            <a:ext cx="118872" cy="118872"/>
          </a:xfrm>
          <a:prstGeom prst="ellipse">
            <a:avLst/>
          </a:prstGeom>
          <a:solidFill>
            <a:schemeClr val="accent1"/>
          </a:solidFill>
          <a:ln w="3175">
            <a:solidFill>
              <a:schemeClr val="accent1"/>
            </a:solidFill>
            <a:prstDash val="solid"/>
          </a:ln>
        </p:spPr>
      </p:sp>
      <p:sp>
        <p:nvSpPr>
          <p:cNvPr id="5" name="Shape 3"/>
          <p:cNvSpPr/>
          <p:nvPr/>
        </p:nvSpPr>
        <p:spPr>
          <a:xfrm>
            <a:off x="9399118" y="406908"/>
            <a:ext cx="118872" cy="118872"/>
          </a:xfrm>
          <a:prstGeom prst="ellipse">
            <a:avLst/>
          </a:prstGeom>
          <a:solidFill>
            <a:schemeClr val="accent1"/>
          </a:solidFill>
          <a:ln w="3175">
            <a:solidFill>
              <a:schemeClr val="accent1"/>
            </a:solidFill>
            <a:prstDash val="solid"/>
          </a:ln>
        </p:spPr>
      </p:sp>
      <p:sp>
        <p:nvSpPr>
          <p:cNvPr id="6" name="Shape 4"/>
          <p:cNvSpPr/>
          <p:nvPr/>
        </p:nvSpPr>
        <p:spPr>
          <a:xfrm>
            <a:off x="9631375" y="406908"/>
            <a:ext cx="118872" cy="118872"/>
          </a:xfrm>
          <a:prstGeom prst="ellipse">
            <a:avLst/>
          </a:prstGeom>
          <a:solidFill>
            <a:schemeClr val="accent1"/>
          </a:solidFill>
          <a:ln w="3175">
            <a:solidFill>
              <a:schemeClr val="accent1"/>
            </a:solidFill>
            <a:prstDash val="solid"/>
          </a:ln>
        </p:spPr>
      </p:sp>
      <p:sp>
        <p:nvSpPr>
          <p:cNvPr id="7" name="Shape 5"/>
          <p:cNvSpPr/>
          <p:nvPr/>
        </p:nvSpPr>
        <p:spPr>
          <a:xfrm>
            <a:off x="9863633" y="406908"/>
            <a:ext cx="118872" cy="118872"/>
          </a:xfrm>
          <a:prstGeom prst="ellipse">
            <a:avLst/>
          </a:prstGeom>
          <a:solidFill>
            <a:schemeClr val="accent1"/>
          </a:solidFill>
          <a:ln w="3175">
            <a:solidFill>
              <a:schemeClr val="accent1"/>
            </a:solidFill>
            <a:prstDash val="solid"/>
          </a:ln>
        </p:spPr>
      </p:sp>
      <p:sp>
        <p:nvSpPr>
          <p:cNvPr id="8" name="Shape 6"/>
          <p:cNvSpPr/>
          <p:nvPr/>
        </p:nvSpPr>
        <p:spPr>
          <a:xfrm>
            <a:off x="10095890" y="406908"/>
            <a:ext cx="118872" cy="118872"/>
          </a:xfrm>
          <a:prstGeom prst="ellipse">
            <a:avLst/>
          </a:prstGeom>
          <a:solidFill>
            <a:schemeClr val="accent1"/>
          </a:solidFill>
          <a:ln w="3175">
            <a:solidFill>
              <a:schemeClr val="accent1"/>
            </a:solidFill>
            <a:prstDash val="solid"/>
          </a:ln>
        </p:spPr>
      </p:sp>
      <p:sp>
        <p:nvSpPr>
          <p:cNvPr id="9" name="Shape 7"/>
          <p:cNvSpPr/>
          <p:nvPr/>
        </p:nvSpPr>
        <p:spPr>
          <a:xfrm>
            <a:off x="10328148" y="406908"/>
            <a:ext cx="118872" cy="118872"/>
          </a:xfrm>
          <a:prstGeom prst="ellipse">
            <a:avLst/>
          </a:prstGeom>
          <a:solidFill>
            <a:schemeClr val="accent1"/>
          </a:solidFill>
          <a:ln w="3175">
            <a:solidFill>
              <a:schemeClr val="accent1"/>
            </a:solidFill>
            <a:prstDash val="solid"/>
          </a:ln>
        </p:spPr>
      </p:sp>
      <p:sp>
        <p:nvSpPr>
          <p:cNvPr id="10" name="Shape 8"/>
          <p:cNvSpPr/>
          <p:nvPr/>
        </p:nvSpPr>
        <p:spPr>
          <a:xfrm>
            <a:off x="10528402" y="374904"/>
            <a:ext cx="182880" cy="182880"/>
          </a:xfrm>
          <a:prstGeom prst="ellipse">
            <a:avLst/>
          </a:prstGeom>
          <a:solidFill>
            <a:schemeClr val="accent3"/>
          </a:solidFill>
          <a:ln w="3175">
            <a:solidFill>
              <a:schemeClr val="accent3"/>
            </a:solidFill>
            <a:prstDash val="solid"/>
          </a:ln>
        </p:spPr>
      </p:sp>
      <p:sp>
        <p:nvSpPr>
          <p:cNvPr id="11" name="Shape 9"/>
          <p:cNvSpPr/>
          <p:nvPr/>
        </p:nvSpPr>
        <p:spPr>
          <a:xfrm>
            <a:off x="10792663" y="406908"/>
            <a:ext cx="118872" cy="118872"/>
          </a:xfrm>
          <a:prstGeom prst="ellipse">
            <a:avLst/>
          </a:prstGeom>
          <a:solidFill>
            <a:srgbClr val="C4D3DF"/>
          </a:solidFill>
          <a:ln w="3175">
            <a:solidFill>
              <a:srgbClr val="C4D3DF"/>
            </a:solidFill>
            <a:prstDash val="solid"/>
          </a:ln>
        </p:spPr>
      </p:sp>
      <p:sp>
        <p:nvSpPr>
          <p:cNvPr id="12" name="Shape 10"/>
          <p:cNvSpPr/>
          <p:nvPr/>
        </p:nvSpPr>
        <p:spPr>
          <a:xfrm>
            <a:off x="11024921" y="406908"/>
            <a:ext cx="118872" cy="118872"/>
          </a:xfrm>
          <a:prstGeom prst="ellipse">
            <a:avLst/>
          </a:prstGeom>
          <a:solidFill>
            <a:srgbClr val="C4D3DF"/>
          </a:solidFill>
          <a:ln w="3175">
            <a:solidFill>
              <a:srgbClr val="C4D3DF"/>
            </a:solidFill>
            <a:prstDash val="solid"/>
          </a:ln>
        </p:spPr>
      </p:sp>
      <p:sp>
        <p:nvSpPr>
          <p:cNvPr id="13" name="Shape 11"/>
          <p:cNvSpPr/>
          <p:nvPr/>
        </p:nvSpPr>
        <p:spPr>
          <a:xfrm>
            <a:off x="11257178" y="406908"/>
            <a:ext cx="118872" cy="118872"/>
          </a:xfrm>
          <a:prstGeom prst="ellipse">
            <a:avLst/>
          </a:prstGeom>
          <a:solidFill>
            <a:srgbClr val="C4D3DF"/>
          </a:solidFill>
          <a:ln w="3175">
            <a:solidFill>
              <a:srgbClr val="C4D3DF"/>
            </a:solidFill>
            <a:prstDash val="solid"/>
          </a:ln>
        </p:spPr>
      </p:sp>
      <p:sp>
        <p:nvSpPr>
          <p:cNvPr id="14" name="Shape 12"/>
          <p:cNvSpPr/>
          <p:nvPr/>
        </p:nvSpPr>
        <p:spPr>
          <a:xfrm>
            <a:off x="11489436" y="406908"/>
            <a:ext cx="118872" cy="118872"/>
          </a:xfrm>
          <a:prstGeom prst="ellipse">
            <a:avLst/>
          </a:prstGeom>
          <a:solidFill>
            <a:srgbClr val="C4D3DF"/>
          </a:solidFill>
          <a:ln w="3175">
            <a:solidFill>
              <a:srgbClr val="C4D3DF"/>
            </a:solidFill>
            <a:prstDash val="solid"/>
          </a:ln>
        </p:spPr>
      </p:sp>
      <p:sp>
        <p:nvSpPr>
          <p:cNvPr id="16" name="Shape 13"/>
          <p:cNvSpPr/>
          <p:nvPr/>
        </p:nvSpPr>
        <p:spPr>
          <a:xfrm>
            <a:off x="548640" y="1554480"/>
            <a:ext cx="3017520" cy="4663440"/>
          </a:xfrm>
          <a:prstGeom prst="roundRect">
            <a:avLst>
              <a:gd name="adj" fmla="val 4848"/>
            </a:avLst>
          </a:prstGeom>
          <a:solidFill>
            <a:schemeClr val="tx1"/>
          </a:solidFill>
          <a:ln w="9525">
            <a:solidFill>
              <a:schemeClr val="tx2"/>
            </a:solidFill>
            <a:prstDash val="solid"/>
          </a:ln>
          <a:effectLst>
            <a:outerShdw sx="100000" sy="100000" kx="0" ky="0" algn="bl" rotWithShape="0" blurRad="127000" dist="38100" dir="5400000">
              <a:srgbClr val="0B2545">
                <a:alpha val="14000"/>
              </a:srgbClr>
            </a:outerShdw>
          </a:effectLst>
        </p:spPr>
      </p:sp>
      <p:sp>
        <p:nvSpPr>
          <p:cNvPr id="17" name="Text 14"/>
          <p:cNvSpPr txBox="1"/>
          <p:nvPr/>
        </p:nvSpPr>
        <p:spPr>
          <a:xfrm>
            <a:off x="548640" y="2011680"/>
            <a:ext cx="3017520" cy="1371600"/>
          </a:xfrm>
          <a:prstGeom prst="rect">
            <a:avLst/>
          </a:prstGeom>
          <a:noFill/>
          <a:ln/>
        </p:spPr>
        <p:txBody>
          <a:bodyPr wrap="square" lIns="0" tIns="0" rIns="0" bIns="0" rtlCol="0" anchor="ctr"/>
          <a:lstStyle/>
          <a:p>
            <a:pPr algn="ctr" indent="0" marL="0">
              <a:buNone/>
            </a:pPr>
            <a:r>
              <a:rPr lang="en-US" sz="8800" b="1" dirty="0">
                <a:solidFill>
                  <a:schemeClr val="accent3"/>
                </a:solidFill>
              </a:rPr>
              <a:t>~35</a:t>
            </a:r>
            <a:endParaRPr lang="en-US" sz="8800" dirty="0"/>
          </a:p>
        </p:txBody>
      </p:sp>
      <p:sp>
        <p:nvSpPr>
          <p:cNvPr id="18" name="Text 15"/>
          <p:cNvSpPr txBox="1"/>
          <p:nvPr/>
        </p:nvSpPr>
        <p:spPr>
          <a:xfrm>
            <a:off x="548640" y="3429000"/>
            <a:ext cx="3017520" cy="457200"/>
          </a:xfrm>
          <a:prstGeom prst="rect">
            <a:avLst/>
          </a:prstGeom>
          <a:noFill/>
          <a:ln/>
        </p:spPr>
        <p:txBody>
          <a:bodyPr wrap="square" lIns="0" tIns="0" rIns="0" bIns="0" rtlCol="0" anchor="ctr"/>
          <a:lstStyle/>
          <a:p>
            <a:pPr algn="ctr" indent="0" marL="0">
              <a:buNone/>
            </a:pPr>
            <a:r>
              <a:rPr lang="en-US" sz="2400" b="1" dirty="0">
                <a:solidFill>
                  <a:schemeClr val="bg1"/>
                </a:solidFill>
              </a:rPr>
              <a:t>DAX measures</a:t>
            </a:r>
            <a:endParaRPr lang="en-US" sz="2400" dirty="0"/>
          </a:p>
        </p:txBody>
      </p:sp>
      <p:sp>
        <p:nvSpPr>
          <p:cNvPr id="19" name="Text 16"/>
          <p:cNvSpPr txBox="1"/>
          <p:nvPr/>
        </p:nvSpPr>
        <p:spPr>
          <a:xfrm>
            <a:off x="777240" y="4160520"/>
            <a:ext cx="2560320" cy="640080"/>
          </a:xfrm>
          <a:prstGeom prst="rect">
            <a:avLst/>
          </a:prstGeom>
          <a:noFill/>
          <a:ln/>
        </p:spPr>
        <p:txBody>
          <a:bodyPr wrap="square" lIns="0" tIns="0" rIns="0" bIns="0" rtlCol="0" anchor="ctr"/>
          <a:lstStyle/>
          <a:p>
            <a:pPr algn="ctr" indent="0" marL="0">
              <a:buNone/>
            </a:pPr>
            <a:r>
              <a:rPr lang="en-US" sz="1400" dirty="0">
                <a:solidFill>
                  <a:srgbClr val="BFE3F2"/>
                </a:solidFill>
              </a:rPr>
              <a:t>Check: Total Employees = 3,400</a:t>
            </a:r>
            <a:endParaRPr lang="en-US" sz="1400" dirty="0"/>
          </a:p>
        </p:txBody>
      </p:sp>
      <p:sp>
        <p:nvSpPr>
          <p:cNvPr id="20" name="Shape 17"/>
          <p:cNvSpPr/>
          <p:nvPr/>
        </p:nvSpPr>
        <p:spPr>
          <a:xfrm>
            <a:off x="1371600" y="5029200"/>
            <a:ext cx="731520" cy="731520"/>
          </a:xfrm>
          <a:prstGeom prst="ellipse">
            <a:avLst/>
          </a:prstGeom>
          <a:solidFill>
            <a:schemeClr val="accent1"/>
          </a:solidFill>
          <a:ln w="6350">
            <a:solidFill>
              <a:schemeClr val="accent1"/>
            </a:solidFill>
            <a:prstDash val="solid"/>
          </a:ln>
        </p:spPr>
      </p:sp>
      <p:pic>
        <p:nvPicPr>
          <p:cNvPr id="21" name="Image 0" descr="preencoded.png">    </p:cNvPr>
          <p:cNvPicPr>
            <a:picLocks noChangeAspect="1"/>
          </p:cNvPicPr>
          <p:nvPr/>
        </p:nvPicPr>
        <p:blipFill>
          <a:blip r:embed="rId1"/>
          <a:stretch>
            <a:fillRect/>
          </a:stretch>
        </p:blipFill>
        <p:spPr>
          <a:xfrm>
            <a:off x="1547165" y="5204765"/>
            <a:ext cx="380390" cy="380390"/>
          </a:xfrm>
          <a:prstGeom prst="rect">
            <a:avLst/>
          </a:prstGeom>
        </p:spPr>
      </p:pic>
      <p:sp>
        <p:nvSpPr>
          <p:cNvPr id="22" name="Shape 18"/>
          <p:cNvSpPr/>
          <p:nvPr/>
        </p:nvSpPr>
        <p:spPr>
          <a:xfrm>
            <a:off x="3840480" y="1554480"/>
            <a:ext cx="2468880" cy="1417320"/>
          </a:xfrm>
          <a:prstGeom prst="roundRect">
            <a:avLst>
              <a:gd name="adj" fmla="val 9032"/>
            </a:avLst>
          </a:prstGeom>
          <a:solidFill>
            <a:schemeClr val="bg1"/>
          </a:solidFill>
          <a:ln w="9525">
            <a:solidFill>
              <a:srgbClr val="D5E3EE"/>
            </a:solidFill>
            <a:prstDash val="solid"/>
          </a:ln>
          <a:effectLst>
            <a:outerShdw sx="100000" sy="100000" kx="0" ky="0" algn="bl" rotWithShape="0" blurRad="127000" dist="38100" dir="5400000">
              <a:srgbClr val="0B2545">
                <a:alpha val="14000"/>
              </a:srgbClr>
            </a:outerShdw>
          </a:effectLst>
        </p:spPr>
      </p:sp>
      <p:sp>
        <p:nvSpPr>
          <p:cNvPr id="23" name="Shape 19"/>
          <p:cNvSpPr/>
          <p:nvPr/>
        </p:nvSpPr>
        <p:spPr>
          <a:xfrm>
            <a:off x="4023360" y="1719072"/>
            <a:ext cx="411480" cy="411480"/>
          </a:xfrm>
          <a:prstGeom prst="ellipse">
            <a:avLst/>
          </a:prstGeom>
          <a:solidFill>
            <a:schemeClr val="accent1"/>
          </a:solidFill>
          <a:ln w="6350">
            <a:solidFill>
              <a:schemeClr val="accent1"/>
            </a:solidFill>
            <a:prstDash val="solid"/>
          </a:ln>
        </p:spPr>
      </p:sp>
      <p:pic>
        <p:nvPicPr>
          <p:cNvPr id="24" name="Image 1" descr="preencoded.png">    </p:cNvPr>
          <p:cNvPicPr>
            <a:picLocks noChangeAspect="1"/>
          </p:cNvPicPr>
          <p:nvPr/>
        </p:nvPicPr>
        <p:blipFill>
          <a:blip r:embed="rId2"/>
          <a:stretch>
            <a:fillRect/>
          </a:stretch>
        </p:blipFill>
        <p:spPr>
          <a:xfrm>
            <a:off x="4122115" y="1817827"/>
            <a:ext cx="213970" cy="213970"/>
          </a:xfrm>
          <a:prstGeom prst="rect">
            <a:avLst/>
          </a:prstGeom>
        </p:spPr>
      </p:pic>
      <p:sp>
        <p:nvSpPr>
          <p:cNvPr id="25" name="Text 20"/>
          <p:cNvSpPr txBox="1"/>
          <p:nvPr/>
        </p:nvSpPr>
        <p:spPr>
          <a:xfrm>
            <a:off x="4023360" y="2212848"/>
            <a:ext cx="2194560" cy="457200"/>
          </a:xfrm>
          <a:prstGeom prst="rect">
            <a:avLst/>
          </a:prstGeom>
          <a:noFill/>
          <a:ln/>
        </p:spPr>
        <p:txBody>
          <a:bodyPr wrap="square" lIns="0" tIns="0" rIns="0" bIns="0" rtlCol="0" anchor="ctr"/>
          <a:lstStyle/>
          <a:p>
            <a:pPr indent="0" marL="0">
              <a:buNone/>
            </a:pPr>
            <a:r>
              <a:rPr lang="en-US" sz="2600" b="1" dirty="0">
                <a:solidFill>
                  <a:schemeClr val="tx1"/>
                </a:solidFill>
              </a:rPr>
              <a:t>3,400</a:t>
            </a:r>
            <a:endParaRPr lang="en-US" sz="2600" dirty="0"/>
          </a:p>
        </p:txBody>
      </p:sp>
      <p:sp>
        <p:nvSpPr>
          <p:cNvPr id="26" name="Text 21"/>
          <p:cNvSpPr txBox="1"/>
          <p:nvPr/>
        </p:nvSpPr>
        <p:spPr>
          <a:xfrm>
            <a:off x="4023360" y="2624328"/>
            <a:ext cx="2194560" cy="274320"/>
          </a:xfrm>
          <a:prstGeom prst="rect">
            <a:avLst/>
          </a:prstGeom>
          <a:noFill/>
          <a:ln/>
        </p:spPr>
        <p:txBody>
          <a:bodyPr wrap="square" lIns="0" tIns="0" rIns="0" bIns="0" rtlCol="0" anchor="ctr"/>
          <a:lstStyle/>
          <a:p>
            <a:pPr indent="0" marL="0">
              <a:buNone/>
            </a:pPr>
            <a:r>
              <a:rPr lang="en-US" sz="1400" dirty="0">
                <a:solidFill>
                  <a:srgbClr val="5B7083"/>
                </a:solidFill>
              </a:rPr>
              <a:t>Total Employees</a:t>
            </a:r>
            <a:endParaRPr lang="en-US" sz="1400" dirty="0"/>
          </a:p>
        </p:txBody>
      </p:sp>
      <p:sp>
        <p:nvSpPr>
          <p:cNvPr id="27" name="Shape 22"/>
          <p:cNvSpPr/>
          <p:nvPr/>
        </p:nvSpPr>
        <p:spPr>
          <a:xfrm>
            <a:off x="6492240" y="1554480"/>
            <a:ext cx="2468880" cy="1417320"/>
          </a:xfrm>
          <a:prstGeom prst="roundRect">
            <a:avLst>
              <a:gd name="adj" fmla="val 9032"/>
            </a:avLst>
          </a:prstGeom>
          <a:solidFill>
            <a:schemeClr val="bg1"/>
          </a:solidFill>
          <a:ln w="9525">
            <a:solidFill>
              <a:srgbClr val="D5E3EE"/>
            </a:solidFill>
            <a:prstDash val="solid"/>
          </a:ln>
          <a:effectLst>
            <a:outerShdw sx="100000" sy="100000" kx="0" ky="0" algn="bl" rotWithShape="0" blurRad="127000" dist="38100" dir="5400000">
              <a:srgbClr val="0B2545">
                <a:alpha val="14000"/>
              </a:srgbClr>
            </a:outerShdw>
          </a:effectLst>
        </p:spPr>
      </p:sp>
      <p:sp>
        <p:nvSpPr>
          <p:cNvPr id="28" name="Shape 23"/>
          <p:cNvSpPr/>
          <p:nvPr/>
        </p:nvSpPr>
        <p:spPr>
          <a:xfrm>
            <a:off x="6675120" y="1719072"/>
            <a:ext cx="411480" cy="411480"/>
          </a:xfrm>
          <a:prstGeom prst="ellipse">
            <a:avLst/>
          </a:prstGeom>
          <a:solidFill>
            <a:schemeClr val="accent3"/>
          </a:solidFill>
          <a:ln w="6350">
            <a:solidFill>
              <a:schemeClr val="accent3"/>
            </a:solidFill>
            <a:prstDash val="solid"/>
          </a:ln>
        </p:spPr>
      </p:sp>
      <p:pic>
        <p:nvPicPr>
          <p:cNvPr id="29" name="Image 2" descr="preencoded.png">    </p:cNvPr>
          <p:cNvPicPr>
            <a:picLocks noChangeAspect="1"/>
          </p:cNvPicPr>
          <p:nvPr/>
        </p:nvPicPr>
        <p:blipFill>
          <a:blip r:embed="rId3"/>
          <a:stretch>
            <a:fillRect/>
          </a:stretch>
        </p:blipFill>
        <p:spPr>
          <a:xfrm>
            <a:off x="6773875" y="1817827"/>
            <a:ext cx="213970" cy="213970"/>
          </a:xfrm>
          <a:prstGeom prst="rect">
            <a:avLst/>
          </a:prstGeom>
        </p:spPr>
      </p:pic>
      <p:sp>
        <p:nvSpPr>
          <p:cNvPr id="30" name="Text 24"/>
          <p:cNvSpPr txBox="1"/>
          <p:nvPr/>
        </p:nvSpPr>
        <p:spPr>
          <a:xfrm>
            <a:off x="6675120" y="2212848"/>
            <a:ext cx="2194560" cy="457200"/>
          </a:xfrm>
          <a:prstGeom prst="rect">
            <a:avLst/>
          </a:prstGeom>
          <a:noFill/>
          <a:ln/>
        </p:spPr>
        <p:txBody>
          <a:bodyPr wrap="square" lIns="0" tIns="0" rIns="0" bIns="0" rtlCol="0" anchor="ctr"/>
          <a:lstStyle/>
          <a:p>
            <a:pPr indent="0" marL="0">
              <a:buNone/>
            </a:pPr>
            <a:r>
              <a:rPr lang="en-US" sz="2600" b="1" dirty="0">
                <a:solidFill>
                  <a:schemeClr val="tx1"/>
                </a:solidFill>
              </a:rPr>
              <a:t>50.7%</a:t>
            </a:r>
            <a:endParaRPr lang="en-US" sz="2600" dirty="0"/>
          </a:p>
        </p:txBody>
      </p:sp>
      <p:sp>
        <p:nvSpPr>
          <p:cNvPr id="31" name="Text 25"/>
          <p:cNvSpPr txBox="1"/>
          <p:nvPr/>
        </p:nvSpPr>
        <p:spPr>
          <a:xfrm>
            <a:off x="6675120" y="2624328"/>
            <a:ext cx="2194560" cy="274320"/>
          </a:xfrm>
          <a:prstGeom prst="rect">
            <a:avLst/>
          </a:prstGeom>
          <a:noFill/>
          <a:ln/>
        </p:spPr>
        <p:txBody>
          <a:bodyPr wrap="square" lIns="0" tIns="0" rIns="0" bIns="0" rtlCol="0" anchor="ctr"/>
          <a:lstStyle/>
          <a:p>
            <a:pPr indent="0" marL="0">
              <a:buNone/>
            </a:pPr>
            <a:r>
              <a:rPr lang="en-US" sz="1400" dirty="0">
                <a:solidFill>
                  <a:srgbClr val="5B7083"/>
                </a:solidFill>
              </a:rPr>
              <a:t>Attrition Rate</a:t>
            </a:r>
            <a:endParaRPr lang="en-US" sz="1400" dirty="0"/>
          </a:p>
        </p:txBody>
      </p:sp>
      <p:sp>
        <p:nvSpPr>
          <p:cNvPr id="32" name="Shape 26"/>
          <p:cNvSpPr/>
          <p:nvPr/>
        </p:nvSpPr>
        <p:spPr>
          <a:xfrm>
            <a:off x="9144000" y="1554480"/>
            <a:ext cx="2468880" cy="1417320"/>
          </a:xfrm>
          <a:prstGeom prst="roundRect">
            <a:avLst>
              <a:gd name="adj" fmla="val 9032"/>
            </a:avLst>
          </a:prstGeom>
          <a:solidFill>
            <a:schemeClr val="bg1"/>
          </a:solidFill>
          <a:ln w="9525">
            <a:solidFill>
              <a:srgbClr val="D5E3EE"/>
            </a:solidFill>
            <a:prstDash val="solid"/>
          </a:ln>
          <a:effectLst>
            <a:outerShdw sx="100000" sy="100000" kx="0" ky="0" algn="bl" rotWithShape="0" blurRad="127000" dist="38100" dir="5400000">
              <a:srgbClr val="0B2545">
                <a:alpha val="14000"/>
              </a:srgbClr>
            </a:outerShdw>
          </a:effectLst>
        </p:spPr>
      </p:sp>
      <p:sp>
        <p:nvSpPr>
          <p:cNvPr id="33" name="Shape 27"/>
          <p:cNvSpPr/>
          <p:nvPr/>
        </p:nvSpPr>
        <p:spPr>
          <a:xfrm>
            <a:off x="9326880" y="1719072"/>
            <a:ext cx="411480" cy="411480"/>
          </a:xfrm>
          <a:prstGeom prst="ellipse">
            <a:avLst/>
          </a:prstGeom>
          <a:solidFill>
            <a:schemeClr val="accent1"/>
          </a:solidFill>
          <a:ln w="6350">
            <a:solidFill>
              <a:schemeClr val="accent1"/>
            </a:solidFill>
            <a:prstDash val="solid"/>
          </a:ln>
        </p:spPr>
      </p:sp>
      <p:pic>
        <p:nvPicPr>
          <p:cNvPr id="34" name="Image 3" descr="preencoded.png">    </p:cNvPr>
          <p:cNvPicPr>
            <a:picLocks noChangeAspect="1"/>
          </p:cNvPicPr>
          <p:nvPr/>
        </p:nvPicPr>
        <p:blipFill>
          <a:blip r:embed="rId4"/>
          <a:stretch>
            <a:fillRect/>
          </a:stretch>
        </p:blipFill>
        <p:spPr>
          <a:xfrm>
            <a:off x="9425635" y="1817827"/>
            <a:ext cx="213970" cy="213970"/>
          </a:xfrm>
          <a:prstGeom prst="rect">
            <a:avLst/>
          </a:prstGeom>
        </p:spPr>
      </p:pic>
      <p:sp>
        <p:nvSpPr>
          <p:cNvPr id="35" name="Text 28"/>
          <p:cNvSpPr txBox="1"/>
          <p:nvPr/>
        </p:nvSpPr>
        <p:spPr>
          <a:xfrm>
            <a:off x="9326880" y="2212848"/>
            <a:ext cx="2194560" cy="457200"/>
          </a:xfrm>
          <a:prstGeom prst="rect">
            <a:avLst/>
          </a:prstGeom>
          <a:noFill/>
          <a:ln/>
        </p:spPr>
        <p:txBody>
          <a:bodyPr wrap="square" lIns="0" tIns="0" rIns="0" bIns="0" rtlCol="0" anchor="ctr"/>
          <a:lstStyle/>
          <a:p>
            <a:pPr indent="0" marL="0">
              <a:buNone/>
            </a:pPr>
            <a:r>
              <a:rPr lang="en-US" sz="2600" b="1" dirty="0">
                <a:solidFill>
                  <a:schemeClr val="tx1"/>
                </a:solidFill>
              </a:rPr>
              <a:t>1,74,26,235</a:t>
            </a:r>
            <a:endParaRPr lang="en-US" sz="2600" dirty="0"/>
          </a:p>
        </p:txBody>
      </p:sp>
      <p:sp>
        <p:nvSpPr>
          <p:cNvPr id="36" name="Text 29"/>
          <p:cNvSpPr txBox="1"/>
          <p:nvPr/>
        </p:nvSpPr>
        <p:spPr>
          <a:xfrm>
            <a:off x="9326880" y="2624328"/>
            <a:ext cx="2194560" cy="274320"/>
          </a:xfrm>
          <a:prstGeom prst="rect">
            <a:avLst/>
          </a:prstGeom>
          <a:noFill/>
          <a:ln/>
        </p:spPr>
        <p:txBody>
          <a:bodyPr wrap="square" lIns="0" tIns="0" rIns="0" bIns="0" rtlCol="0" anchor="ctr"/>
          <a:lstStyle/>
          <a:p>
            <a:pPr indent="0" marL="0">
              <a:buNone/>
            </a:pPr>
            <a:r>
              <a:rPr lang="en-US" sz="1400" dirty="0">
                <a:solidFill>
                  <a:srgbClr val="5B7083"/>
                </a:solidFill>
              </a:rPr>
              <a:t>Monthly Payroll</a:t>
            </a:r>
            <a:endParaRPr lang="en-US" sz="1400" dirty="0"/>
          </a:p>
        </p:txBody>
      </p:sp>
      <p:sp>
        <p:nvSpPr>
          <p:cNvPr id="37" name="Shape 30"/>
          <p:cNvSpPr/>
          <p:nvPr/>
        </p:nvSpPr>
        <p:spPr>
          <a:xfrm>
            <a:off x="3840480" y="3154680"/>
            <a:ext cx="2468880" cy="1417320"/>
          </a:xfrm>
          <a:prstGeom prst="roundRect">
            <a:avLst>
              <a:gd name="adj" fmla="val 9032"/>
            </a:avLst>
          </a:prstGeom>
          <a:solidFill>
            <a:schemeClr val="bg1"/>
          </a:solidFill>
          <a:ln w="9525">
            <a:solidFill>
              <a:srgbClr val="D5E3EE"/>
            </a:solidFill>
            <a:prstDash val="solid"/>
          </a:ln>
          <a:effectLst>
            <a:outerShdw sx="100000" sy="100000" kx="0" ky="0" algn="bl" rotWithShape="0" blurRad="127000" dist="38100" dir="5400000">
              <a:srgbClr val="0B2545">
                <a:alpha val="14000"/>
              </a:srgbClr>
            </a:outerShdw>
          </a:effectLst>
        </p:spPr>
      </p:sp>
      <p:sp>
        <p:nvSpPr>
          <p:cNvPr id="38" name="Shape 31"/>
          <p:cNvSpPr/>
          <p:nvPr/>
        </p:nvSpPr>
        <p:spPr>
          <a:xfrm>
            <a:off x="4023360" y="3319272"/>
            <a:ext cx="411480" cy="411480"/>
          </a:xfrm>
          <a:prstGeom prst="ellipse">
            <a:avLst/>
          </a:prstGeom>
          <a:solidFill>
            <a:schemeClr val="accent1"/>
          </a:solidFill>
          <a:ln w="6350">
            <a:solidFill>
              <a:schemeClr val="accent1"/>
            </a:solidFill>
            <a:prstDash val="solid"/>
          </a:ln>
        </p:spPr>
      </p:sp>
      <p:pic>
        <p:nvPicPr>
          <p:cNvPr id="39" name="Image 4" descr="preencoded.png">    </p:cNvPr>
          <p:cNvPicPr>
            <a:picLocks noChangeAspect="1"/>
          </p:cNvPicPr>
          <p:nvPr/>
        </p:nvPicPr>
        <p:blipFill>
          <a:blip r:embed="rId5"/>
          <a:stretch>
            <a:fillRect/>
          </a:stretch>
        </p:blipFill>
        <p:spPr>
          <a:xfrm>
            <a:off x="4122115" y="3418027"/>
            <a:ext cx="213970" cy="213970"/>
          </a:xfrm>
          <a:prstGeom prst="rect">
            <a:avLst/>
          </a:prstGeom>
        </p:spPr>
      </p:pic>
      <p:sp>
        <p:nvSpPr>
          <p:cNvPr id="40" name="Text 32"/>
          <p:cNvSpPr txBox="1"/>
          <p:nvPr/>
        </p:nvSpPr>
        <p:spPr>
          <a:xfrm>
            <a:off x="4023360" y="3813048"/>
            <a:ext cx="2194560" cy="457200"/>
          </a:xfrm>
          <a:prstGeom prst="rect">
            <a:avLst/>
          </a:prstGeom>
          <a:noFill/>
          <a:ln/>
        </p:spPr>
        <p:txBody>
          <a:bodyPr wrap="square" lIns="0" tIns="0" rIns="0" bIns="0" rtlCol="0" anchor="ctr"/>
          <a:lstStyle/>
          <a:p>
            <a:pPr indent="0" marL="0">
              <a:buNone/>
            </a:pPr>
            <a:r>
              <a:rPr lang="en-US" sz="2600" b="1" dirty="0">
                <a:solidFill>
                  <a:schemeClr val="tx1"/>
                </a:solidFill>
              </a:rPr>
              <a:t>5,125</a:t>
            </a:r>
            <a:endParaRPr lang="en-US" sz="2600" dirty="0"/>
          </a:p>
        </p:txBody>
      </p:sp>
      <p:sp>
        <p:nvSpPr>
          <p:cNvPr id="41" name="Text 33"/>
          <p:cNvSpPr txBox="1"/>
          <p:nvPr/>
        </p:nvSpPr>
        <p:spPr>
          <a:xfrm>
            <a:off x="4023360" y="4224528"/>
            <a:ext cx="2194560" cy="274320"/>
          </a:xfrm>
          <a:prstGeom prst="rect">
            <a:avLst/>
          </a:prstGeom>
          <a:noFill/>
          <a:ln/>
        </p:spPr>
        <p:txBody>
          <a:bodyPr wrap="square" lIns="0" tIns="0" rIns="0" bIns="0" rtlCol="0" anchor="ctr"/>
          <a:lstStyle/>
          <a:p>
            <a:pPr indent="0" marL="0">
              <a:buNone/>
            </a:pPr>
            <a:r>
              <a:rPr lang="en-US" sz="1400" dirty="0">
                <a:solidFill>
                  <a:srgbClr val="5B7083"/>
                </a:solidFill>
              </a:rPr>
              <a:t>Avg Monthly Income</a:t>
            </a:r>
            <a:endParaRPr lang="en-US" sz="1400" dirty="0"/>
          </a:p>
        </p:txBody>
      </p:sp>
      <p:sp>
        <p:nvSpPr>
          <p:cNvPr id="42" name="Shape 34"/>
          <p:cNvSpPr/>
          <p:nvPr/>
        </p:nvSpPr>
        <p:spPr>
          <a:xfrm>
            <a:off x="6492240" y="3154680"/>
            <a:ext cx="2468880" cy="1417320"/>
          </a:xfrm>
          <a:prstGeom prst="roundRect">
            <a:avLst>
              <a:gd name="adj" fmla="val 9032"/>
            </a:avLst>
          </a:prstGeom>
          <a:solidFill>
            <a:schemeClr val="bg1"/>
          </a:solidFill>
          <a:ln w="9525">
            <a:solidFill>
              <a:srgbClr val="D5E3EE"/>
            </a:solidFill>
            <a:prstDash val="solid"/>
          </a:ln>
          <a:effectLst>
            <a:outerShdw sx="100000" sy="100000" kx="0" ky="0" algn="bl" rotWithShape="0" blurRad="127000" dist="38100" dir="5400000">
              <a:srgbClr val="0B2545">
                <a:alpha val="14000"/>
              </a:srgbClr>
            </a:outerShdw>
          </a:effectLst>
        </p:spPr>
      </p:sp>
      <p:sp>
        <p:nvSpPr>
          <p:cNvPr id="43" name="Shape 35"/>
          <p:cNvSpPr/>
          <p:nvPr/>
        </p:nvSpPr>
        <p:spPr>
          <a:xfrm>
            <a:off x="6675120" y="3319272"/>
            <a:ext cx="411480" cy="411480"/>
          </a:xfrm>
          <a:prstGeom prst="ellipse">
            <a:avLst/>
          </a:prstGeom>
          <a:solidFill>
            <a:schemeClr val="accent1"/>
          </a:solidFill>
          <a:ln w="6350">
            <a:solidFill>
              <a:schemeClr val="accent1"/>
            </a:solidFill>
            <a:prstDash val="solid"/>
          </a:ln>
        </p:spPr>
      </p:sp>
      <p:pic>
        <p:nvPicPr>
          <p:cNvPr id="44" name="Image 5" descr="preencoded.png">    </p:cNvPr>
          <p:cNvPicPr>
            <a:picLocks noChangeAspect="1"/>
          </p:cNvPicPr>
          <p:nvPr/>
        </p:nvPicPr>
        <p:blipFill>
          <a:blip r:embed="rId6"/>
          <a:stretch>
            <a:fillRect/>
          </a:stretch>
        </p:blipFill>
        <p:spPr>
          <a:xfrm>
            <a:off x="6773875" y="3418027"/>
            <a:ext cx="213970" cy="213970"/>
          </a:xfrm>
          <a:prstGeom prst="rect">
            <a:avLst/>
          </a:prstGeom>
        </p:spPr>
      </p:pic>
      <p:sp>
        <p:nvSpPr>
          <p:cNvPr id="45" name="Text 36"/>
          <p:cNvSpPr txBox="1"/>
          <p:nvPr/>
        </p:nvSpPr>
        <p:spPr>
          <a:xfrm>
            <a:off x="6675120" y="3813048"/>
            <a:ext cx="2194560" cy="457200"/>
          </a:xfrm>
          <a:prstGeom prst="rect">
            <a:avLst/>
          </a:prstGeom>
          <a:noFill/>
          <a:ln/>
        </p:spPr>
        <p:txBody>
          <a:bodyPr wrap="square" lIns="0" tIns="0" rIns="0" bIns="0" rtlCol="0" anchor="ctr"/>
          <a:lstStyle/>
          <a:p>
            <a:pPr indent="0" marL="0">
              <a:buNone/>
            </a:pPr>
            <a:r>
              <a:rPr lang="en-US" sz="2600" b="1" dirty="0">
                <a:solidFill>
                  <a:schemeClr val="tx1"/>
                </a:solidFill>
              </a:rPr>
              <a:t>41.0%</a:t>
            </a:r>
            <a:endParaRPr lang="en-US" sz="2600" dirty="0"/>
          </a:p>
        </p:txBody>
      </p:sp>
      <p:sp>
        <p:nvSpPr>
          <p:cNvPr id="46" name="Text 37"/>
          <p:cNvSpPr txBox="1"/>
          <p:nvPr/>
        </p:nvSpPr>
        <p:spPr>
          <a:xfrm>
            <a:off x="6675120" y="4224528"/>
            <a:ext cx="2194560" cy="274320"/>
          </a:xfrm>
          <a:prstGeom prst="rect">
            <a:avLst/>
          </a:prstGeom>
          <a:noFill/>
          <a:ln/>
        </p:spPr>
        <p:txBody>
          <a:bodyPr wrap="square" lIns="0" tIns="0" rIns="0" bIns="0" rtlCol="0" anchor="ctr"/>
          <a:lstStyle/>
          <a:p>
            <a:pPr indent="0" marL="0">
              <a:buNone/>
            </a:pPr>
            <a:r>
              <a:rPr lang="en-US" sz="1400" dirty="0">
                <a:solidFill>
                  <a:srgbClr val="5B7083"/>
                </a:solidFill>
              </a:rPr>
              <a:t>High Performer %</a:t>
            </a:r>
            <a:endParaRPr lang="en-US" sz="1400" dirty="0"/>
          </a:p>
        </p:txBody>
      </p:sp>
      <p:sp>
        <p:nvSpPr>
          <p:cNvPr id="47" name="Shape 38"/>
          <p:cNvSpPr/>
          <p:nvPr/>
        </p:nvSpPr>
        <p:spPr>
          <a:xfrm>
            <a:off x="9144000" y="3154680"/>
            <a:ext cx="2468880" cy="1417320"/>
          </a:xfrm>
          <a:prstGeom prst="roundRect">
            <a:avLst>
              <a:gd name="adj" fmla="val 9032"/>
            </a:avLst>
          </a:prstGeom>
          <a:solidFill>
            <a:schemeClr val="bg1"/>
          </a:solidFill>
          <a:ln w="9525">
            <a:solidFill>
              <a:srgbClr val="D5E3EE"/>
            </a:solidFill>
            <a:prstDash val="solid"/>
          </a:ln>
          <a:effectLst>
            <a:outerShdw sx="100000" sy="100000" kx="0" ky="0" algn="bl" rotWithShape="0" blurRad="127000" dist="38100" dir="5400000">
              <a:srgbClr val="0B2545">
                <a:alpha val="14000"/>
              </a:srgbClr>
            </a:outerShdw>
          </a:effectLst>
        </p:spPr>
      </p:sp>
      <p:sp>
        <p:nvSpPr>
          <p:cNvPr id="48" name="Shape 39"/>
          <p:cNvSpPr/>
          <p:nvPr/>
        </p:nvSpPr>
        <p:spPr>
          <a:xfrm>
            <a:off x="9326880" y="3319272"/>
            <a:ext cx="411480" cy="411480"/>
          </a:xfrm>
          <a:prstGeom prst="ellipse">
            <a:avLst/>
          </a:prstGeom>
          <a:solidFill>
            <a:schemeClr val="accent1"/>
          </a:solidFill>
          <a:ln w="6350">
            <a:solidFill>
              <a:schemeClr val="accent1"/>
            </a:solidFill>
            <a:prstDash val="solid"/>
          </a:ln>
        </p:spPr>
      </p:sp>
      <p:pic>
        <p:nvPicPr>
          <p:cNvPr id="49" name="Image 6" descr="preencoded.png">    </p:cNvPr>
          <p:cNvPicPr>
            <a:picLocks noChangeAspect="1"/>
          </p:cNvPicPr>
          <p:nvPr/>
        </p:nvPicPr>
        <p:blipFill>
          <a:blip r:embed="rId7"/>
          <a:stretch>
            <a:fillRect/>
          </a:stretch>
        </p:blipFill>
        <p:spPr>
          <a:xfrm>
            <a:off x="9425635" y="3418027"/>
            <a:ext cx="213970" cy="213970"/>
          </a:xfrm>
          <a:prstGeom prst="rect">
            <a:avLst/>
          </a:prstGeom>
        </p:spPr>
      </p:pic>
      <p:sp>
        <p:nvSpPr>
          <p:cNvPr id="50" name="Text 40"/>
          <p:cNvSpPr txBox="1"/>
          <p:nvPr/>
        </p:nvSpPr>
        <p:spPr>
          <a:xfrm>
            <a:off x="9326880" y="3813048"/>
            <a:ext cx="2194560" cy="457200"/>
          </a:xfrm>
          <a:prstGeom prst="rect">
            <a:avLst/>
          </a:prstGeom>
          <a:noFill/>
          <a:ln/>
        </p:spPr>
        <p:txBody>
          <a:bodyPr wrap="square" lIns="0" tIns="0" rIns="0" bIns="0" rtlCol="0" anchor="ctr"/>
          <a:lstStyle/>
          <a:p>
            <a:pPr indent="0" marL="0">
              <a:buNone/>
            </a:pPr>
            <a:r>
              <a:rPr lang="en-US" sz="2600" b="1" dirty="0">
                <a:solidFill>
                  <a:schemeClr val="tx1"/>
                </a:solidFill>
              </a:rPr>
              <a:t>48.2%</a:t>
            </a:r>
            <a:endParaRPr lang="en-US" sz="2600" dirty="0"/>
          </a:p>
        </p:txBody>
      </p:sp>
      <p:sp>
        <p:nvSpPr>
          <p:cNvPr id="51" name="Text 41"/>
          <p:cNvSpPr txBox="1"/>
          <p:nvPr/>
        </p:nvSpPr>
        <p:spPr>
          <a:xfrm>
            <a:off x="9326880" y="4224528"/>
            <a:ext cx="2194560" cy="274320"/>
          </a:xfrm>
          <a:prstGeom prst="rect">
            <a:avLst/>
          </a:prstGeom>
          <a:noFill/>
          <a:ln/>
        </p:spPr>
        <p:txBody>
          <a:bodyPr wrap="square" lIns="0" tIns="0" rIns="0" bIns="0" rtlCol="0" anchor="ctr"/>
          <a:lstStyle/>
          <a:p>
            <a:pPr indent="0" marL="0">
              <a:buNone/>
            </a:pPr>
            <a:r>
              <a:rPr lang="en-US" sz="1400" dirty="0">
                <a:solidFill>
                  <a:srgbClr val="5B7083"/>
                </a:solidFill>
              </a:rPr>
              <a:t>Overtime %</a:t>
            </a:r>
            <a:endParaRPr lang="en-US" sz="1400" dirty="0"/>
          </a:p>
        </p:txBody>
      </p:sp>
      <p:sp>
        <p:nvSpPr>
          <p:cNvPr id="52" name="Shape 42"/>
          <p:cNvSpPr/>
          <p:nvPr/>
        </p:nvSpPr>
        <p:spPr>
          <a:xfrm>
            <a:off x="3840480" y="4800600"/>
            <a:ext cx="2468880" cy="1417320"/>
          </a:xfrm>
          <a:prstGeom prst="roundRect">
            <a:avLst>
              <a:gd name="adj" fmla="val 9032"/>
            </a:avLst>
          </a:prstGeom>
          <a:solidFill>
            <a:schemeClr val="tx2"/>
          </a:solidFill>
          <a:ln w="9525">
            <a:solidFill>
              <a:schemeClr val="accent1"/>
            </a:solidFill>
            <a:prstDash val="solid"/>
          </a:ln>
          <a:effectLst>
            <a:outerShdw sx="100000" sy="100000" kx="0" ky="0" algn="bl" rotWithShape="0" blurRad="127000" dist="38100" dir="5400000">
              <a:srgbClr val="0B2545">
                <a:alpha val="14000"/>
              </a:srgbClr>
            </a:outerShdw>
          </a:effectLst>
        </p:spPr>
      </p:sp>
      <p:sp>
        <p:nvSpPr>
          <p:cNvPr id="53" name="Text 43"/>
          <p:cNvSpPr txBox="1"/>
          <p:nvPr/>
        </p:nvSpPr>
        <p:spPr>
          <a:xfrm>
            <a:off x="4023360" y="4937760"/>
            <a:ext cx="2103120" cy="320040"/>
          </a:xfrm>
          <a:prstGeom prst="rect">
            <a:avLst/>
          </a:prstGeom>
          <a:noFill/>
          <a:ln/>
        </p:spPr>
        <p:txBody>
          <a:bodyPr wrap="square" lIns="0" tIns="0" rIns="0" bIns="0" rtlCol="0" anchor="ctr"/>
          <a:lstStyle/>
          <a:p>
            <a:pPr indent="0" marL="0">
              <a:buNone/>
            </a:pPr>
            <a:r>
              <a:rPr lang="en-US" sz="1600" b="1" dirty="0">
                <a:solidFill>
                  <a:schemeClr val="accent3"/>
                </a:solidFill>
              </a:rPr>
              <a:t>Attrition Rate</a:t>
            </a:r>
            <a:endParaRPr lang="en-US" sz="1600" dirty="0"/>
          </a:p>
        </p:txBody>
      </p:sp>
      <p:sp>
        <p:nvSpPr>
          <p:cNvPr id="54" name="Text 44"/>
          <p:cNvSpPr txBox="1"/>
          <p:nvPr/>
        </p:nvSpPr>
        <p:spPr>
          <a:xfrm>
            <a:off x="4023360" y="5303520"/>
            <a:ext cx="2103120" cy="777240"/>
          </a:xfrm>
          <a:prstGeom prst="rect">
            <a:avLst/>
          </a:prstGeom>
          <a:noFill/>
          <a:ln/>
        </p:spPr>
        <p:txBody>
          <a:bodyPr wrap="square" lIns="0" tIns="0" rIns="0" bIns="0" rtlCol="0" anchor="ctr"/>
          <a:lstStyle/>
          <a:p>
            <a:pPr indent="0" marL="0">
              <a:buNone/>
            </a:pPr>
            <a:r>
              <a:rPr lang="en-US" sz="1400" dirty="0">
                <a:solidFill>
                  <a:schemeClr val="bg1"/>
                </a:solidFill>
              </a:rPr>
              <a:t>Employees who left ÷ Total employees</a:t>
            </a:r>
            <a:endParaRPr lang="en-US" sz="1400" dirty="0"/>
          </a:p>
        </p:txBody>
      </p:sp>
      <p:sp>
        <p:nvSpPr>
          <p:cNvPr id="55" name="Shape 45"/>
          <p:cNvSpPr/>
          <p:nvPr/>
        </p:nvSpPr>
        <p:spPr>
          <a:xfrm>
            <a:off x="6492240" y="4800600"/>
            <a:ext cx="2468880" cy="1417320"/>
          </a:xfrm>
          <a:prstGeom prst="roundRect">
            <a:avLst>
              <a:gd name="adj" fmla="val 9032"/>
            </a:avLst>
          </a:prstGeom>
          <a:solidFill>
            <a:schemeClr val="tx2"/>
          </a:solidFill>
          <a:ln w="9525">
            <a:solidFill>
              <a:schemeClr val="accent1"/>
            </a:solidFill>
            <a:prstDash val="solid"/>
          </a:ln>
          <a:effectLst>
            <a:outerShdw sx="100000" sy="100000" kx="0" ky="0" algn="bl" rotWithShape="0" blurRad="127000" dist="38100" dir="5400000">
              <a:srgbClr val="0B2545">
                <a:alpha val="14000"/>
              </a:srgbClr>
            </a:outerShdw>
          </a:effectLst>
        </p:spPr>
      </p:sp>
      <p:sp>
        <p:nvSpPr>
          <p:cNvPr id="56" name="Text 46"/>
          <p:cNvSpPr txBox="1"/>
          <p:nvPr/>
        </p:nvSpPr>
        <p:spPr>
          <a:xfrm>
            <a:off x="6675120" y="4937760"/>
            <a:ext cx="2103120" cy="320040"/>
          </a:xfrm>
          <a:prstGeom prst="rect">
            <a:avLst/>
          </a:prstGeom>
          <a:noFill/>
          <a:ln/>
        </p:spPr>
        <p:txBody>
          <a:bodyPr wrap="square" lIns="0" tIns="0" rIns="0" bIns="0" rtlCol="0" anchor="ctr"/>
          <a:lstStyle/>
          <a:p>
            <a:pPr indent="0" marL="0">
              <a:buNone/>
            </a:pPr>
            <a:r>
              <a:rPr lang="en-US" sz="1600" b="1" dirty="0">
                <a:solidFill>
                  <a:schemeClr val="accent3"/>
                </a:solidFill>
              </a:rPr>
              <a:t>Monthly Payroll</a:t>
            </a:r>
            <a:endParaRPr lang="en-US" sz="1600" dirty="0"/>
          </a:p>
        </p:txBody>
      </p:sp>
      <p:sp>
        <p:nvSpPr>
          <p:cNvPr id="57" name="Text 47"/>
          <p:cNvSpPr txBox="1"/>
          <p:nvPr/>
        </p:nvSpPr>
        <p:spPr>
          <a:xfrm>
            <a:off x="6675120" y="5303520"/>
            <a:ext cx="2103120" cy="777240"/>
          </a:xfrm>
          <a:prstGeom prst="rect">
            <a:avLst/>
          </a:prstGeom>
          <a:noFill/>
          <a:ln/>
        </p:spPr>
        <p:txBody>
          <a:bodyPr wrap="square" lIns="0" tIns="0" rIns="0" bIns="0" rtlCol="0" anchor="ctr"/>
          <a:lstStyle/>
          <a:p>
            <a:pPr indent="0" marL="0">
              <a:buNone/>
            </a:pPr>
            <a:r>
              <a:rPr lang="en-US" sz="1400" dirty="0">
                <a:solidFill>
                  <a:schemeClr val="bg1"/>
                </a:solidFill>
              </a:rPr>
              <a:t>Sum of every monthly income</a:t>
            </a:r>
            <a:endParaRPr lang="en-US" sz="1400" dirty="0"/>
          </a:p>
        </p:txBody>
      </p:sp>
      <p:sp>
        <p:nvSpPr>
          <p:cNvPr id="58" name="Shape 48"/>
          <p:cNvSpPr/>
          <p:nvPr/>
        </p:nvSpPr>
        <p:spPr>
          <a:xfrm>
            <a:off x="9144000" y="4800600"/>
            <a:ext cx="2468880" cy="1417320"/>
          </a:xfrm>
          <a:prstGeom prst="roundRect">
            <a:avLst>
              <a:gd name="adj" fmla="val 9032"/>
            </a:avLst>
          </a:prstGeom>
          <a:solidFill>
            <a:schemeClr val="tx2"/>
          </a:solidFill>
          <a:ln w="9525">
            <a:solidFill>
              <a:schemeClr val="accent1"/>
            </a:solidFill>
            <a:prstDash val="solid"/>
          </a:ln>
          <a:effectLst>
            <a:outerShdw sx="100000" sy="100000" kx="0" ky="0" algn="bl" rotWithShape="0" blurRad="127000" dist="38100" dir="5400000">
              <a:srgbClr val="0B2545">
                <a:alpha val="14000"/>
              </a:srgbClr>
            </a:outerShdw>
          </a:effectLst>
        </p:spPr>
      </p:sp>
      <p:sp>
        <p:nvSpPr>
          <p:cNvPr id="59" name="Text 49"/>
          <p:cNvSpPr txBox="1"/>
          <p:nvPr/>
        </p:nvSpPr>
        <p:spPr>
          <a:xfrm>
            <a:off x="9326880" y="4937760"/>
            <a:ext cx="2103120" cy="320040"/>
          </a:xfrm>
          <a:prstGeom prst="rect">
            <a:avLst/>
          </a:prstGeom>
          <a:noFill/>
          <a:ln/>
        </p:spPr>
        <p:txBody>
          <a:bodyPr wrap="square" lIns="0" tIns="0" rIns="0" bIns="0" rtlCol="0" anchor="ctr"/>
          <a:lstStyle/>
          <a:p>
            <a:pPr indent="0" marL="0">
              <a:buNone/>
            </a:pPr>
            <a:r>
              <a:rPr lang="en-US" sz="1600" b="1" dirty="0">
                <a:solidFill>
                  <a:schemeClr val="accent3"/>
                </a:solidFill>
              </a:rPr>
              <a:t>High Performer %</a:t>
            </a:r>
            <a:endParaRPr lang="en-US" sz="1600" dirty="0"/>
          </a:p>
        </p:txBody>
      </p:sp>
      <p:sp>
        <p:nvSpPr>
          <p:cNvPr id="60" name="Text 50"/>
          <p:cNvSpPr txBox="1"/>
          <p:nvPr/>
        </p:nvSpPr>
        <p:spPr>
          <a:xfrm>
            <a:off x="9326880" y="5303520"/>
            <a:ext cx="2103120" cy="777240"/>
          </a:xfrm>
          <a:prstGeom prst="rect">
            <a:avLst/>
          </a:prstGeom>
          <a:noFill/>
          <a:ln/>
        </p:spPr>
        <p:txBody>
          <a:bodyPr wrap="square" lIns="0" tIns="0" rIns="0" bIns="0" rtlCol="0" anchor="ctr"/>
          <a:lstStyle/>
          <a:p>
            <a:pPr indent="0" marL="0">
              <a:buNone/>
            </a:pPr>
            <a:r>
              <a:rPr lang="en-US" sz="1400" dirty="0">
                <a:solidFill>
                  <a:schemeClr val="bg1"/>
                </a:solidFill>
              </a:rPr>
              <a:t>Rating 4 or 5 ÷ Total employees</a:t>
            </a:r>
            <a:endParaRPr lang="en-US" sz="14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9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txBox="1"/>
          <p:nvPr>
            <p:ph idx="101" type="title" hasCustomPrompt="1"/>
          </p:nvPr>
        </p:nvSpPr>
        <p:spPr>
          <a:xfrm>
            <a:off x="548640" y="621792"/>
            <a:ext cx="11091672" cy="731520"/>
          </a:xfrm>
          <a:prstGeom prst="rect">
            <a:avLst/>
          </a:prstGeom>
          <a:noFill/>
          <a:ln/>
        </p:spPr>
        <p:txBody>
          <a:bodyPr wrap="square" lIns="0" tIns="0" rIns="0" bIns="0" rtlCol="0" anchor="ctr"/>
          <a:lstStyle/>
          <a:p>
            <a:pPr algn="l" indent="0" marL="0">
              <a:buNone/>
            </a:pPr>
            <a:r>
              <a:rPr lang="en-US" sz="3600" b="1" dirty="0">
                <a:solidFill>
                  <a:schemeClr val="tx1"/>
                </a:solidFill>
              </a:rPr>
              <a:t>Dashboard Development – 5 Pages</a:t>
            </a:r>
            <a:endParaRPr lang="en-US" sz="3600" dirty="0"/>
          </a:p>
        </p:txBody>
      </p:sp>
      <p:sp>
        <p:nvSpPr>
          <p:cNvPr id="3" name="Text 1"/>
          <p:cNvSpPr txBox="1"/>
          <p:nvPr/>
        </p:nvSpPr>
        <p:spPr>
          <a:xfrm>
            <a:off x="548640" y="329184"/>
            <a:ext cx="77724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STEP 08 OF 11  ·  DASHBOARD DEVELOPMENT · OVERVIEW</a:t>
            </a:r>
            <a:endParaRPr lang="en-US" sz="1200" dirty="0"/>
          </a:p>
        </p:txBody>
      </p:sp>
      <p:sp>
        <p:nvSpPr>
          <p:cNvPr id="4" name="Shape 2"/>
          <p:cNvSpPr/>
          <p:nvPr/>
        </p:nvSpPr>
        <p:spPr>
          <a:xfrm>
            <a:off x="9166860" y="406908"/>
            <a:ext cx="118872" cy="118872"/>
          </a:xfrm>
          <a:prstGeom prst="ellipse">
            <a:avLst/>
          </a:prstGeom>
          <a:solidFill>
            <a:schemeClr val="accent1"/>
          </a:solidFill>
          <a:ln w="3175">
            <a:solidFill>
              <a:schemeClr val="accent1"/>
            </a:solidFill>
            <a:prstDash val="solid"/>
          </a:ln>
        </p:spPr>
      </p:sp>
      <p:sp>
        <p:nvSpPr>
          <p:cNvPr id="5" name="Shape 3"/>
          <p:cNvSpPr/>
          <p:nvPr/>
        </p:nvSpPr>
        <p:spPr>
          <a:xfrm>
            <a:off x="9399118" y="406908"/>
            <a:ext cx="118872" cy="118872"/>
          </a:xfrm>
          <a:prstGeom prst="ellipse">
            <a:avLst/>
          </a:prstGeom>
          <a:solidFill>
            <a:schemeClr val="accent1"/>
          </a:solidFill>
          <a:ln w="3175">
            <a:solidFill>
              <a:schemeClr val="accent1"/>
            </a:solidFill>
            <a:prstDash val="solid"/>
          </a:ln>
        </p:spPr>
      </p:sp>
      <p:sp>
        <p:nvSpPr>
          <p:cNvPr id="6" name="Shape 4"/>
          <p:cNvSpPr/>
          <p:nvPr/>
        </p:nvSpPr>
        <p:spPr>
          <a:xfrm>
            <a:off x="9631375" y="406908"/>
            <a:ext cx="118872" cy="118872"/>
          </a:xfrm>
          <a:prstGeom prst="ellipse">
            <a:avLst/>
          </a:prstGeom>
          <a:solidFill>
            <a:schemeClr val="accent1"/>
          </a:solidFill>
          <a:ln w="3175">
            <a:solidFill>
              <a:schemeClr val="accent1"/>
            </a:solidFill>
            <a:prstDash val="solid"/>
          </a:ln>
        </p:spPr>
      </p:sp>
      <p:sp>
        <p:nvSpPr>
          <p:cNvPr id="7" name="Shape 5"/>
          <p:cNvSpPr/>
          <p:nvPr/>
        </p:nvSpPr>
        <p:spPr>
          <a:xfrm>
            <a:off x="9863633" y="406908"/>
            <a:ext cx="118872" cy="118872"/>
          </a:xfrm>
          <a:prstGeom prst="ellipse">
            <a:avLst/>
          </a:prstGeom>
          <a:solidFill>
            <a:schemeClr val="accent1"/>
          </a:solidFill>
          <a:ln w="3175">
            <a:solidFill>
              <a:schemeClr val="accent1"/>
            </a:solidFill>
            <a:prstDash val="solid"/>
          </a:ln>
        </p:spPr>
      </p:sp>
      <p:sp>
        <p:nvSpPr>
          <p:cNvPr id="8" name="Shape 6"/>
          <p:cNvSpPr/>
          <p:nvPr/>
        </p:nvSpPr>
        <p:spPr>
          <a:xfrm>
            <a:off x="10095890" y="406908"/>
            <a:ext cx="118872" cy="118872"/>
          </a:xfrm>
          <a:prstGeom prst="ellipse">
            <a:avLst/>
          </a:prstGeom>
          <a:solidFill>
            <a:schemeClr val="accent1"/>
          </a:solidFill>
          <a:ln w="3175">
            <a:solidFill>
              <a:schemeClr val="accent1"/>
            </a:solidFill>
            <a:prstDash val="solid"/>
          </a:ln>
        </p:spPr>
      </p:sp>
      <p:sp>
        <p:nvSpPr>
          <p:cNvPr id="9" name="Shape 7"/>
          <p:cNvSpPr/>
          <p:nvPr/>
        </p:nvSpPr>
        <p:spPr>
          <a:xfrm>
            <a:off x="10328148" y="406908"/>
            <a:ext cx="118872" cy="118872"/>
          </a:xfrm>
          <a:prstGeom prst="ellipse">
            <a:avLst/>
          </a:prstGeom>
          <a:solidFill>
            <a:schemeClr val="accent1"/>
          </a:solidFill>
          <a:ln w="3175">
            <a:solidFill>
              <a:schemeClr val="accent1"/>
            </a:solidFill>
            <a:prstDash val="solid"/>
          </a:ln>
        </p:spPr>
      </p:sp>
      <p:sp>
        <p:nvSpPr>
          <p:cNvPr id="10" name="Shape 8"/>
          <p:cNvSpPr/>
          <p:nvPr/>
        </p:nvSpPr>
        <p:spPr>
          <a:xfrm>
            <a:off x="10560406" y="406908"/>
            <a:ext cx="118872" cy="118872"/>
          </a:xfrm>
          <a:prstGeom prst="ellipse">
            <a:avLst/>
          </a:prstGeom>
          <a:solidFill>
            <a:schemeClr val="accent1"/>
          </a:solidFill>
          <a:ln w="3175">
            <a:solidFill>
              <a:schemeClr val="accent1"/>
            </a:solidFill>
            <a:prstDash val="solid"/>
          </a:ln>
        </p:spPr>
      </p:sp>
      <p:sp>
        <p:nvSpPr>
          <p:cNvPr id="11" name="Shape 9"/>
          <p:cNvSpPr/>
          <p:nvPr/>
        </p:nvSpPr>
        <p:spPr>
          <a:xfrm>
            <a:off x="10760659" y="374904"/>
            <a:ext cx="182880" cy="182880"/>
          </a:xfrm>
          <a:prstGeom prst="ellipse">
            <a:avLst/>
          </a:prstGeom>
          <a:solidFill>
            <a:schemeClr val="accent3"/>
          </a:solidFill>
          <a:ln w="3175">
            <a:solidFill>
              <a:schemeClr val="accent3"/>
            </a:solidFill>
            <a:prstDash val="solid"/>
          </a:ln>
        </p:spPr>
      </p:sp>
      <p:sp>
        <p:nvSpPr>
          <p:cNvPr id="12" name="Shape 10"/>
          <p:cNvSpPr/>
          <p:nvPr/>
        </p:nvSpPr>
        <p:spPr>
          <a:xfrm>
            <a:off x="11024921" y="406908"/>
            <a:ext cx="118872" cy="118872"/>
          </a:xfrm>
          <a:prstGeom prst="ellipse">
            <a:avLst/>
          </a:prstGeom>
          <a:solidFill>
            <a:srgbClr val="C4D3DF"/>
          </a:solidFill>
          <a:ln w="3175">
            <a:solidFill>
              <a:srgbClr val="C4D3DF"/>
            </a:solidFill>
            <a:prstDash val="solid"/>
          </a:ln>
        </p:spPr>
      </p:sp>
      <p:sp>
        <p:nvSpPr>
          <p:cNvPr id="13" name="Shape 11"/>
          <p:cNvSpPr/>
          <p:nvPr/>
        </p:nvSpPr>
        <p:spPr>
          <a:xfrm>
            <a:off x="11257178" y="406908"/>
            <a:ext cx="118872" cy="118872"/>
          </a:xfrm>
          <a:prstGeom prst="ellipse">
            <a:avLst/>
          </a:prstGeom>
          <a:solidFill>
            <a:srgbClr val="C4D3DF"/>
          </a:solidFill>
          <a:ln w="3175">
            <a:solidFill>
              <a:srgbClr val="C4D3DF"/>
            </a:solidFill>
            <a:prstDash val="solid"/>
          </a:ln>
        </p:spPr>
      </p:sp>
      <p:sp>
        <p:nvSpPr>
          <p:cNvPr id="14" name="Shape 12"/>
          <p:cNvSpPr/>
          <p:nvPr/>
        </p:nvSpPr>
        <p:spPr>
          <a:xfrm>
            <a:off x="11489436" y="406908"/>
            <a:ext cx="118872" cy="118872"/>
          </a:xfrm>
          <a:prstGeom prst="ellipse">
            <a:avLst/>
          </a:prstGeom>
          <a:solidFill>
            <a:srgbClr val="C4D3DF"/>
          </a:solidFill>
          <a:ln w="3175">
            <a:solidFill>
              <a:srgbClr val="C4D3DF"/>
            </a:solidFill>
            <a:prstDash val="solid"/>
          </a:ln>
        </p:spPr>
      </p:sp>
      <p:sp>
        <p:nvSpPr>
          <p:cNvPr id="16" name="Shape 13"/>
          <p:cNvSpPr/>
          <p:nvPr/>
        </p:nvSpPr>
        <p:spPr>
          <a:xfrm>
            <a:off x="598932" y="1499616"/>
            <a:ext cx="3493008" cy="2011680"/>
          </a:xfrm>
          <a:prstGeom prst="roundRect">
            <a:avLst>
              <a:gd name="adj" fmla="val 4545"/>
            </a:avLst>
          </a:prstGeom>
          <a:solidFill>
            <a:schemeClr val="bg1"/>
          </a:solidFill>
          <a:ln w="9525">
            <a:solidFill>
              <a:srgbClr val="D5E3EE"/>
            </a:solidFill>
            <a:prstDash val="solid"/>
          </a:ln>
          <a:effectLst>
            <a:outerShdw sx="100000" sy="100000" kx="0" ky="0" algn="bl" rotWithShape="0" blurRad="127000" dist="38100" dir="5400000">
              <a:srgbClr val="0B2545">
                <a:alpha val="14000"/>
              </a:srgbClr>
            </a:outerShdw>
          </a:effectLst>
        </p:spPr>
      </p:sp>
      <p:pic>
        <p:nvPicPr>
          <p:cNvPr id="17" name="Image 0" descr="Executive Overview dashboard">    </p:cNvPr>
          <p:cNvPicPr>
            <a:picLocks noChangeAspect="1"/>
          </p:cNvPicPr>
          <p:nvPr/>
        </p:nvPicPr>
        <p:blipFill>
          <a:blip r:embed="rId1"/>
          <a:stretch>
            <a:fillRect/>
          </a:stretch>
        </p:blipFill>
        <p:spPr>
          <a:xfrm>
            <a:off x="653796" y="1554480"/>
            <a:ext cx="3383280" cy="1906524"/>
          </a:xfrm>
          <a:prstGeom prst="rect">
            <a:avLst/>
          </a:prstGeom>
        </p:spPr>
      </p:pic>
      <p:pic>
        <p:nvPicPr>
          <p:cNvPr id="18" name="Image 1" descr="preencoded.png">
            <a:hlinkClick r:id="rId3" tooltip="Go to Executive Overview" action="ppaction://hlinksldjump"/>
          </p:cNvPr>
          <p:cNvPicPr>
            <a:picLocks noChangeAspect="1"/>
          </p:cNvPicPr>
          <p:nvPr/>
        </p:nvPicPr>
        <p:blipFill>
          <a:blip r:embed="rId2"/>
          <a:stretch>
            <a:fillRect/>
          </a:stretch>
        </p:blipFill>
        <p:spPr>
          <a:xfrm>
            <a:off x="598932" y="1499616"/>
            <a:ext cx="3493008" cy="2011680"/>
          </a:xfrm>
          <a:prstGeom prst="rect">
            <a:avLst/>
          </a:prstGeom>
        </p:spPr>
      </p:pic>
      <p:sp>
        <p:nvSpPr>
          <p:cNvPr id="19" name="Shape 14"/>
          <p:cNvSpPr/>
          <p:nvPr/>
        </p:nvSpPr>
        <p:spPr>
          <a:xfrm>
            <a:off x="745236" y="1645920"/>
            <a:ext cx="384048" cy="384048"/>
          </a:xfrm>
          <a:prstGeom prst="ellipse">
            <a:avLst/>
          </a:prstGeom>
          <a:solidFill>
            <a:schemeClr val="accent3"/>
          </a:solidFill>
          <a:ln w="19050">
            <a:solidFill>
              <a:schemeClr val="bg1"/>
            </a:solidFill>
            <a:prstDash val="solid"/>
          </a:ln>
        </p:spPr>
      </p:sp>
      <p:sp>
        <p:nvSpPr>
          <p:cNvPr id="20" name="Text 15"/>
          <p:cNvSpPr txBox="1"/>
          <p:nvPr/>
        </p:nvSpPr>
        <p:spPr>
          <a:xfrm>
            <a:off x="745236" y="1645920"/>
            <a:ext cx="384048" cy="384048"/>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21" name="Text 16"/>
          <p:cNvSpPr txBox="1"/>
          <p:nvPr/>
        </p:nvSpPr>
        <p:spPr>
          <a:xfrm>
            <a:off x="653796" y="3566160"/>
            <a:ext cx="3383280" cy="274320"/>
          </a:xfrm>
          <a:prstGeom prst="rect">
            <a:avLst/>
          </a:prstGeom>
          <a:noFill/>
          <a:ln/>
        </p:spPr>
        <p:txBody>
          <a:bodyPr wrap="square" lIns="0" tIns="0" rIns="0" bIns="0" rtlCol="0" anchor="ctr"/>
          <a:lstStyle/>
          <a:p>
            <a:pPr indent="0" marL="0">
              <a:buNone/>
            </a:pPr>
            <a:r>
              <a:rPr lang="en-US" sz="1500" b="1" dirty="0">
                <a:solidFill>
                  <a:schemeClr val="tx1"/>
                </a:solidFill>
              </a:rPr>
              <a:t>Executive Overview</a:t>
            </a:r>
            <a:endParaRPr lang="en-US" sz="1500" dirty="0"/>
          </a:p>
        </p:txBody>
      </p:sp>
      <p:sp>
        <p:nvSpPr>
          <p:cNvPr id="22" name="Shape 17"/>
          <p:cNvSpPr/>
          <p:nvPr/>
        </p:nvSpPr>
        <p:spPr>
          <a:xfrm>
            <a:off x="4347972" y="1499616"/>
            <a:ext cx="3493008" cy="2011680"/>
          </a:xfrm>
          <a:prstGeom prst="roundRect">
            <a:avLst>
              <a:gd name="adj" fmla="val 4545"/>
            </a:avLst>
          </a:prstGeom>
          <a:solidFill>
            <a:schemeClr val="bg1"/>
          </a:solidFill>
          <a:ln w="9525">
            <a:solidFill>
              <a:srgbClr val="D5E3EE"/>
            </a:solidFill>
            <a:prstDash val="solid"/>
          </a:ln>
          <a:effectLst>
            <a:outerShdw sx="100000" sy="100000" kx="0" ky="0" algn="bl" rotWithShape="0" blurRad="127000" dist="38100" dir="5400000">
              <a:srgbClr val="0B2545">
                <a:alpha val="14000"/>
              </a:srgbClr>
            </a:outerShdw>
          </a:effectLst>
        </p:spPr>
      </p:sp>
      <p:pic>
        <p:nvPicPr>
          <p:cNvPr id="23" name="Image 2" descr="Attrition Analysis dashboard">    </p:cNvPr>
          <p:cNvPicPr>
            <a:picLocks noChangeAspect="1"/>
          </p:cNvPicPr>
          <p:nvPr/>
        </p:nvPicPr>
        <p:blipFill>
          <a:blip r:embed="rId4"/>
          <a:stretch>
            <a:fillRect/>
          </a:stretch>
        </p:blipFill>
        <p:spPr>
          <a:xfrm>
            <a:off x="4402836" y="1554480"/>
            <a:ext cx="3383280" cy="1906524"/>
          </a:xfrm>
          <a:prstGeom prst="rect">
            <a:avLst/>
          </a:prstGeom>
        </p:spPr>
      </p:pic>
      <p:pic>
        <p:nvPicPr>
          <p:cNvPr id="24" name="Image 3" descr="preencoded.png">
            <a:hlinkClick r:id="rId6" tooltip="Go to Attrition Analysis" action="ppaction://hlinksldjump"/>
          </p:cNvPr>
          <p:cNvPicPr>
            <a:picLocks noChangeAspect="1"/>
          </p:cNvPicPr>
          <p:nvPr/>
        </p:nvPicPr>
        <p:blipFill>
          <a:blip r:embed="rId5"/>
          <a:stretch>
            <a:fillRect/>
          </a:stretch>
        </p:blipFill>
        <p:spPr>
          <a:xfrm>
            <a:off x="4347972" y="1499616"/>
            <a:ext cx="3493008" cy="2011680"/>
          </a:xfrm>
          <a:prstGeom prst="rect">
            <a:avLst/>
          </a:prstGeom>
        </p:spPr>
      </p:pic>
      <p:sp>
        <p:nvSpPr>
          <p:cNvPr id="25" name="Shape 18"/>
          <p:cNvSpPr/>
          <p:nvPr/>
        </p:nvSpPr>
        <p:spPr>
          <a:xfrm>
            <a:off x="4494276" y="1645920"/>
            <a:ext cx="384048" cy="384048"/>
          </a:xfrm>
          <a:prstGeom prst="ellipse">
            <a:avLst/>
          </a:prstGeom>
          <a:solidFill>
            <a:schemeClr val="accent3"/>
          </a:solidFill>
          <a:ln w="19050">
            <a:solidFill>
              <a:schemeClr val="bg1"/>
            </a:solidFill>
            <a:prstDash val="solid"/>
          </a:ln>
        </p:spPr>
      </p:sp>
      <p:sp>
        <p:nvSpPr>
          <p:cNvPr id="26" name="Text 19"/>
          <p:cNvSpPr txBox="1"/>
          <p:nvPr/>
        </p:nvSpPr>
        <p:spPr>
          <a:xfrm>
            <a:off x="4494276" y="1645920"/>
            <a:ext cx="384048" cy="384048"/>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27" name="Text 20"/>
          <p:cNvSpPr txBox="1"/>
          <p:nvPr/>
        </p:nvSpPr>
        <p:spPr>
          <a:xfrm>
            <a:off x="4402836" y="3566160"/>
            <a:ext cx="3383280" cy="274320"/>
          </a:xfrm>
          <a:prstGeom prst="rect">
            <a:avLst/>
          </a:prstGeom>
          <a:noFill/>
          <a:ln/>
        </p:spPr>
        <p:txBody>
          <a:bodyPr wrap="square" lIns="0" tIns="0" rIns="0" bIns="0" rtlCol="0" anchor="ctr"/>
          <a:lstStyle/>
          <a:p>
            <a:pPr indent="0" marL="0">
              <a:buNone/>
            </a:pPr>
            <a:r>
              <a:rPr lang="en-US" sz="1500" b="1" dirty="0">
                <a:solidFill>
                  <a:schemeClr val="tx1"/>
                </a:solidFill>
              </a:rPr>
              <a:t>Attrition Analysis</a:t>
            </a:r>
            <a:endParaRPr lang="en-US" sz="1500" dirty="0"/>
          </a:p>
        </p:txBody>
      </p:sp>
      <p:sp>
        <p:nvSpPr>
          <p:cNvPr id="28" name="Shape 21"/>
          <p:cNvSpPr/>
          <p:nvPr/>
        </p:nvSpPr>
        <p:spPr>
          <a:xfrm>
            <a:off x="8097012" y="1499616"/>
            <a:ext cx="3493008" cy="2011680"/>
          </a:xfrm>
          <a:prstGeom prst="roundRect">
            <a:avLst>
              <a:gd name="adj" fmla="val 4545"/>
            </a:avLst>
          </a:prstGeom>
          <a:solidFill>
            <a:schemeClr val="bg1"/>
          </a:solidFill>
          <a:ln w="9525">
            <a:solidFill>
              <a:srgbClr val="D5E3EE"/>
            </a:solidFill>
            <a:prstDash val="solid"/>
          </a:ln>
          <a:effectLst>
            <a:outerShdw sx="100000" sy="100000" kx="0" ky="0" algn="bl" rotWithShape="0" blurRad="127000" dist="38100" dir="5400000">
              <a:srgbClr val="0B2545">
                <a:alpha val="14000"/>
              </a:srgbClr>
            </a:outerShdw>
          </a:effectLst>
        </p:spPr>
      </p:sp>
      <p:pic>
        <p:nvPicPr>
          <p:cNvPr id="29" name="Image 4" descr="Payroll Analysis dashboard">    </p:cNvPr>
          <p:cNvPicPr>
            <a:picLocks noChangeAspect="1"/>
          </p:cNvPicPr>
          <p:nvPr/>
        </p:nvPicPr>
        <p:blipFill>
          <a:blip r:embed="rId7"/>
          <a:stretch>
            <a:fillRect/>
          </a:stretch>
        </p:blipFill>
        <p:spPr>
          <a:xfrm>
            <a:off x="8151876" y="1554480"/>
            <a:ext cx="3383280" cy="1906524"/>
          </a:xfrm>
          <a:prstGeom prst="rect">
            <a:avLst/>
          </a:prstGeom>
        </p:spPr>
      </p:pic>
      <p:pic>
        <p:nvPicPr>
          <p:cNvPr id="30" name="Image 5" descr="preencoded.png">
            <a:hlinkClick r:id="rId9" tooltip="Go to Payroll Analysis" action="ppaction://hlinksldjump"/>
          </p:cNvPr>
          <p:cNvPicPr>
            <a:picLocks noChangeAspect="1"/>
          </p:cNvPicPr>
          <p:nvPr/>
        </p:nvPicPr>
        <p:blipFill>
          <a:blip r:embed="rId8"/>
          <a:stretch>
            <a:fillRect/>
          </a:stretch>
        </p:blipFill>
        <p:spPr>
          <a:xfrm>
            <a:off x="8097012" y="1499616"/>
            <a:ext cx="3493008" cy="2011680"/>
          </a:xfrm>
          <a:prstGeom prst="rect">
            <a:avLst/>
          </a:prstGeom>
        </p:spPr>
      </p:pic>
      <p:sp>
        <p:nvSpPr>
          <p:cNvPr id="31" name="Shape 22"/>
          <p:cNvSpPr/>
          <p:nvPr/>
        </p:nvSpPr>
        <p:spPr>
          <a:xfrm>
            <a:off x="8243316" y="1645920"/>
            <a:ext cx="384048" cy="384048"/>
          </a:xfrm>
          <a:prstGeom prst="ellipse">
            <a:avLst/>
          </a:prstGeom>
          <a:solidFill>
            <a:schemeClr val="accent3"/>
          </a:solidFill>
          <a:ln w="19050">
            <a:solidFill>
              <a:schemeClr val="bg1"/>
            </a:solidFill>
            <a:prstDash val="solid"/>
          </a:ln>
        </p:spPr>
      </p:sp>
      <p:sp>
        <p:nvSpPr>
          <p:cNvPr id="32" name="Text 23"/>
          <p:cNvSpPr txBox="1"/>
          <p:nvPr/>
        </p:nvSpPr>
        <p:spPr>
          <a:xfrm>
            <a:off x="8243316" y="1645920"/>
            <a:ext cx="384048" cy="384048"/>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33" name="Text 24"/>
          <p:cNvSpPr txBox="1"/>
          <p:nvPr/>
        </p:nvSpPr>
        <p:spPr>
          <a:xfrm>
            <a:off x="8151876" y="3566160"/>
            <a:ext cx="3383280" cy="274320"/>
          </a:xfrm>
          <a:prstGeom prst="rect">
            <a:avLst/>
          </a:prstGeom>
          <a:noFill/>
          <a:ln/>
        </p:spPr>
        <p:txBody>
          <a:bodyPr wrap="square" lIns="0" tIns="0" rIns="0" bIns="0" rtlCol="0" anchor="ctr"/>
          <a:lstStyle/>
          <a:p>
            <a:pPr indent="0" marL="0">
              <a:buNone/>
            </a:pPr>
            <a:r>
              <a:rPr lang="en-US" sz="1500" b="1" dirty="0">
                <a:solidFill>
                  <a:schemeClr val="tx1"/>
                </a:solidFill>
              </a:rPr>
              <a:t>Payroll Analysis</a:t>
            </a:r>
            <a:endParaRPr lang="en-US" sz="1500" dirty="0"/>
          </a:p>
        </p:txBody>
      </p:sp>
      <p:sp>
        <p:nvSpPr>
          <p:cNvPr id="34" name="Shape 25"/>
          <p:cNvSpPr/>
          <p:nvPr/>
        </p:nvSpPr>
        <p:spPr>
          <a:xfrm>
            <a:off x="598932" y="3831336"/>
            <a:ext cx="3493008" cy="2011680"/>
          </a:xfrm>
          <a:prstGeom prst="roundRect">
            <a:avLst>
              <a:gd name="adj" fmla="val 4545"/>
            </a:avLst>
          </a:prstGeom>
          <a:solidFill>
            <a:schemeClr val="bg1"/>
          </a:solidFill>
          <a:ln w="9525">
            <a:solidFill>
              <a:srgbClr val="D5E3EE"/>
            </a:solidFill>
            <a:prstDash val="solid"/>
          </a:ln>
          <a:effectLst>
            <a:outerShdw sx="100000" sy="100000" kx="0" ky="0" algn="bl" rotWithShape="0" blurRad="127000" dist="38100" dir="5400000">
              <a:srgbClr val="0B2545">
                <a:alpha val="14000"/>
              </a:srgbClr>
            </a:outerShdw>
          </a:effectLst>
        </p:spPr>
      </p:sp>
      <p:pic>
        <p:nvPicPr>
          <p:cNvPr id="35" name="Image 6" descr="Performance &amp; Engagement dashboard">    </p:cNvPr>
          <p:cNvPicPr>
            <a:picLocks noChangeAspect="1"/>
          </p:cNvPicPr>
          <p:nvPr/>
        </p:nvPicPr>
        <p:blipFill>
          <a:blip r:embed="rId10"/>
          <a:stretch>
            <a:fillRect/>
          </a:stretch>
        </p:blipFill>
        <p:spPr>
          <a:xfrm>
            <a:off x="653796" y="3886200"/>
            <a:ext cx="3383280" cy="1906524"/>
          </a:xfrm>
          <a:prstGeom prst="rect">
            <a:avLst/>
          </a:prstGeom>
        </p:spPr>
      </p:pic>
      <p:pic>
        <p:nvPicPr>
          <p:cNvPr id="36" name="Image 7" descr="preencoded.png">
            <a:hlinkClick r:id="rId12" tooltip="Go to Performance &amp; Engagement" action="ppaction://hlinksldjump"/>
          </p:cNvPr>
          <p:cNvPicPr>
            <a:picLocks noChangeAspect="1"/>
          </p:cNvPicPr>
          <p:nvPr/>
        </p:nvPicPr>
        <p:blipFill>
          <a:blip r:embed="rId11"/>
          <a:stretch>
            <a:fillRect/>
          </a:stretch>
        </p:blipFill>
        <p:spPr>
          <a:xfrm>
            <a:off x="598932" y="3831336"/>
            <a:ext cx="3493008" cy="2011680"/>
          </a:xfrm>
          <a:prstGeom prst="rect">
            <a:avLst/>
          </a:prstGeom>
        </p:spPr>
      </p:pic>
      <p:sp>
        <p:nvSpPr>
          <p:cNvPr id="37" name="Shape 26"/>
          <p:cNvSpPr/>
          <p:nvPr/>
        </p:nvSpPr>
        <p:spPr>
          <a:xfrm>
            <a:off x="745236" y="3977640"/>
            <a:ext cx="384048" cy="384048"/>
          </a:xfrm>
          <a:prstGeom prst="ellipse">
            <a:avLst/>
          </a:prstGeom>
          <a:solidFill>
            <a:schemeClr val="accent3"/>
          </a:solidFill>
          <a:ln w="19050">
            <a:solidFill>
              <a:schemeClr val="bg1"/>
            </a:solidFill>
            <a:prstDash val="solid"/>
          </a:ln>
        </p:spPr>
      </p:sp>
      <p:sp>
        <p:nvSpPr>
          <p:cNvPr id="38" name="Text 27"/>
          <p:cNvSpPr txBox="1"/>
          <p:nvPr/>
        </p:nvSpPr>
        <p:spPr>
          <a:xfrm>
            <a:off x="745236" y="3977640"/>
            <a:ext cx="384048" cy="384048"/>
          </a:xfrm>
          <a:prstGeom prst="rect">
            <a:avLst/>
          </a:prstGeom>
          <a:noFill/>
          <a:ln/>
        </p:spPr>
        <p:txBody>
          <a:bodyPr wrap="square" lIns="0" tIns="0" rIns="0" bIns="0" rtlCol="0" anchor="ctr"/>
          <a:lstStyle/>
          <a:p>
            <a:pPr algn="ctr" indent="0" marL="0">
              <a:buNone/>
            </a:pPr>
            <a:r>
              <a:rPr lang="en-US" sz="1600" b="1" dirty="0">
                <a:solidFill>
                  <a:schemeClr val="tx1"/>
                </a:solidFill>
              </a:rPr>
              <a:t>4</a:t>
            </a:r>
            <a:endParaRPr lang="en-US" sz="1600" dirty="0"/>
          </a:p>
        </p:txBody>
      </p:sp>
      <p:sp>
        <p:nvSpPr>
          <p:cNvPr id="39" name="Text 28"/>
          <p:cNvSpPr txBox="1"/>
          <p:nvPr/>
        </p:nvSpPr>
        <p:spPr>
          <a:xfrm>
            <a:off x="653796" y="5897880"/>
            <a:ext cx="3383280" cy="274320"/>
          </a:xfrm>
          <a:prstGeom prst="rect">
            <a:avLst/>
          </a:prstGeom>
          <a:noFill/>
          <a:ln/>
        </p:spPr>
        <p:txBody>
          <a:bodyPr wrap="square" lIns="0" tIns="0" rIns="0" bIns="0" rtlCol="0" anchor="ctr"/>
          <a:lstStyle/>
          <a:p>
            <a:pPr indent="0" marL="0">
              <a:buNone/>
            </a:pPr>
            <a:r>
              <a:rPr lang="en-US" sz="1500" b="1" dirty="0">
                <a:solidFill>
                  <a:schemeClr val="tx1"/>
                </a:solidFill>
              </a:rPr>
              <a:t>Performance &amp; Engagement</a:t>
            </a:r>
            <a:endParaRPr lang="en-US" sz="1500" dirty="0"/>
          </a:p>
        </p:txBody>
      </p:sp>
      <p:sp>
        <p:nvSpPr>
          <p:cNvPr id="40" name="Shape 29"/>
          <p:cNvSpPr/>
          <p:nvPr/>
        </p:nvSpPr>
        <p:spPr>
          <a:xfrm>
            <a:off x="4347972" y="3831336"/>
            <a:ext cx="3493008" cy="2011680"/>
          </a:xfrm>
          <a:prstGeom prst="roundRect">
            <a:avLst>
              <a:gd name="adj" fmla="val 4545"/>
            </a:avLst>
          </a:prstGeom>
          <a:solidFill>
            <a:schemeClr val="bg1"/>
          </a:solidFill>
          <a:ln w="9525">
            <a:solidFill>
              <a:srgbClr val="D5E3EE"/>
            </a:solidFill>
            <a:prstDash val="solid"/>
          </a:ln>
          <a:effectLst>
            <a:outerShdw sx="100000" sy="100000" kx="0" ky="0" algn="bl" rotWithShape="0" blurRad="127000" dist="38100" dir="5400000">
              <a:srgbClr val="0B2545">
                <a:alpha val="14000"/>
              </a:srgbClr>
            </a:outerShdw>
          </a:effectLst>
        </p:spPr>
      </p:sp>
      <p:pic>
        <p:nvPicPr>
          <p:cNvPr id="41" name="Image 8" descr="Employee Details dashboard">    </p:cNvPr>
          <p:cNvPicPr>
            <a:picLocks noChangeAspect="1"/>
          </p:cNvPicPr>
          <p:nvPr/>
        </p:nvPicPr>
        <p:blipFill>
          <a:blip r:embed="rId13"/>
          <a:stretch>
            <a:fillRect/>
          </a:stretch>
        </p:blipFill>
        <p:spPr>
          <a:xfrm>
            <a:off x="4402836" y="3886200"/>
            <a:ext cx="3383280" cy="1906524"/>
          </a:xfrm>
          <a:prstGeom prst="rect">
            <a:avLst/>
          </a:prstGeom>
        </p:spPr>
      </p:pic>
      <p:pic>
        <p:nvPicPr>
          <p:cNvPr id="42" name="Image 9" descr="preencoded.png">
            <a:hlinkClick r:id="rId15" tooltip="Go to Employee Details" action="ppaction://hlinksldjump"/>
          </p:cNvPr>
          <p:cNvPicPr>
            <a:picLocks noChangeAspect="1"/>
          </p:cNvPicPr>
          <p:nvPr/>
        </p:nvPicPr>
        <p:blipFill>
          <a:blip r:embed="rId14"/>
          <a:stretch>
            <a:fillRect/>
          </a:stretch>
        </p:blipFill>
        <p:spPr>
          <a:xfrm>
            <a:off x="4347972" y="3831336"/>
            <a:ext cx="3493008" cy="2011680"/>
          </a:xfrm>
          <a:prstGeom prst="rect">
            <a:avLst/>
          </a:prstGeom>
        </p:spPr>
      </p:pic>
      <p:sp>
        <p:nvSpPr>
          <p:cNvPr id="43" name="Shape 30"/>
          <p:cNvSpPr/>
          <p:nvPr/>
        </p:nvSpPr>
        <p:spPr>
          <a:xfrm>
            <a:off x="4494276" y="3977640"/>
            <a:ext cx="384048" cy="384048"/>
          </a:xfrm>
          <a:prstGeom prst="ellipse">
            <a:avLst/>
          </a:prstGeom>
          <a:solidFill>
            <a:schemeClr val="accent3"/>
          </a:solidFill>
          <a:ln w="19050">
            <a:solidFill>
              <a:schemeClr val="bg1"/>
            </a:solidFill>
            <a:prstDash val="solid"/>
          </a:ln>
        </p:spPr>
      </p:sp>
      <p:sp>
        <p:nvSpPr>
          <p:cNvPr id="44" name="Text 31"/>
          <p:cNvSpPr txBox="1"/>
          <p:nvPr/>
        </p:nvSpPr>
        <p:spPr>
          <a:xfrm>
            <a:off x="4494276" y="3977640"/>
            <a:ext cx="384048" cy="384048"/>
          </a:xfrm>
          <a:prstGeom prst="rect">
            <a:avLst/>
          </a:prstGeom>
          <a:noFill/>
          <a:ln/>
        </p:spPr>
        <p:txBody>
          <a:bodyPr wrap="square" lIns="0" tIns="0" rIns="0" bIns="0" rtlCol="0" anchor="ctr"/>
          <a:lstStyle/>
          <a:p>
            <a:pPr algn="ctr" indent="0" marL="0">
              <a:buNone/>
            </a:pPr>
            <a:r>
              <a:rPr lang="en-US" sz="1600" b="1" dirty="0">
                <a:solidFill>
                  <a:schemeClr val="tx1"/>
                </a:solidFill>
              </a:rPr>
              <a:t>5</a:t>
            </a:r>
            <a:endParaRPr lang="en-US" sz="1600" dirty="0"/>
          </a:p>
        </p:txBody>
      </p:sp>
      <p:sp>
        <p:nvSpPr>
          <p:cNvPr id="45" name="Text 32"/>
          <p:cNvSpPr txBox="1"/>
          <p:nvPr/>
        </p:nvSpPr>
        <p:spPr>
          <a:xfrm>
            <a:off x="4402836" y="5897880"/>
            <a:ext cx="3383280" cy="274320"/>
          </a:xfrm>
          <a:prstGeom prst="rect">
            <a:avLst/>
          </a:prstGeom>
          <a:noFill/>
          <a:ln/>
        </p:spPr>
        <p:txBody>
          <a:bodyPr wrap="square" lIns="0" tIns="0" rIns="0" bIns="0" rtlCol="0" anchor="ctr"/>
          <a:lstStyle/>
          <a:p>
            <a:pPr indent="0" marL="0">
              <a:buNone/>
            </a:pPr>
            <a:r>
              <a:rPr lang="en-US" sz="1500" b="1" dirty="0">
                <a:solidFill>
                  <a:schemeClr val="tx1"/>
                </a:solidFill>
              </a:rPr>
              <a:t>Employee Details</a:t>
            </a:r>
            <a:endParaRPr lang="en-US" sz="1500" dirty="0"/>
          </a:p>
        </p:txBody>
      </p:sp>
      <p:sp>
        <p:nvSpPr>
          <p:cNvPr id="46" name="Shape 33"/>
          <p:cNvSpPr/>
          <p:nvPr/>
        </p:nvSpPr>
        <p:spPr>
          <a:xfrm>
            <a:off x="8097012" y="3831336"/>
            <a:ext cx="3493008" cy="2011680"/>
          </a:xfrm>
          <a:prstGeom prst="roundRect">
            <a:avLst>
              <a:gd name="adj" fmla="val 7273"/>
            </a:avLst>
          </a:prstGeom>
          <a:solidFill>
            <a:schemeClr val="tx1"/>
          </a:solidFill>
          <a:ln w="9525">
            <a:solidFill>
              <a:schemeClr val="tx2"/>
            </a:solidFill>
            <a:prstDash val="solid"/>
          </a:ln>
          <a:effectLst>
            <a:outerShdw sx="100000" sy="100000" kx="0" ky="0" algn="bl" rotWithShape="0" blurRad="127000" dist="38100" dir="5400000">
              <a:srgbClr val="0B2545">
                <a:alpha val="14000"/>
              </a:srgbClr>
            </a:outerShdw>
          </a:effectLst>
        </p:spPr>
      </p:sp>
      <p:sp>
        <p:nvSpPr>
          <p:cNvPr id="47" name="Text 34"/>
          <p:cNvSpPr txBox="1"/>
          <p:nvPr/>
        </p:nvSpPr>
        <p:spPr>
          <a:xfrm>
            <a:off x="8403336" y="3977640"/>
            <a:ext cx="3108960" cy="365760"/>
          </a:xfrm>
          <a:prstGeom prst="rect">
            <a:avLst/>
          </a:prstGeom>
          <a:noFill/>
          <a:ln/>
        </p:spPr>
        <p:txBody>
          <a:bodyPr wrap="square" lIns="0" tIns="0" rIns="0" bIns="0" rtlCol="0" anchor="ctr"/>
          <a:lstStyle/>
          <a:p>
            <a:pPr indent="0" marL="0">
              <a:buNone/>
            </a:pPr>
            <a:r>
              <a:rPr lang="en-US" sz="1800" b="1" dirty="0">
                <a:solidFill>
                  <a:schemeClr val="accent3"/>
                </a:solidFill>
              </a:rPr>
              <a:t>In every page</a:t>
            </a:r>
            <a:endParaRPr lang="en-US" sz="1800" dirty="0"/>
          </a:p>
        </p:txBody>
      </p:sp>
      <p:sp>
        <p:nvSpPr>
          <p:cNvPr id="48" name="Text 35"/>
          <p:cNvSpPr txBox="1"/>
          <p:nvPr/>
        </p:nvSpPr>
        <p:spPr>
          <a:xfrm>
            <a:off x="8403336" y="4389120"/>
            <a:ext cx="3017520" cy="1280160"/>
          </a:xfrm>
          <a:prstGeom prst="rect">
            <a:avLst/>
          </a:prstGeom>
          <a:noFill/>
          <a:ln/>
        </p:spPr>
        <p:txBody>
          <a:bodyPr wrap="square" lIns="0" tIns="0" rIns="0" bIns="0" rtlCol="0" anchor="ctr"/>
          <a:lstStyle/>
          <a:p>
            <a:pPr marL="342900" indent="-342900">
              <a:spcAft>
                <a:spcPts val="400"/>
              </a:spcAft>
              <a:buSzPct val="100000"/>
              <a:buChar char="•"/>
            </a:pPr>
            <a:r>
              <a:rPr lang="en-US" sz="1500" dirty="0">
                <a:solidFill>
                  <a:schemeClr val="bg1"/>
                </a:solidFill>
              </a:rPr>
              <a:t>Job Role slicer</a:t>
            </a:r>
            <a:endParaRPr lang="en-US" sz="1500" dirty="0"/>
          </a:p>
          <a:p>
            <a:pPr marL="342900" indent="-342900">
              <a:spcAft>
                <a:spcPts val="400"/>
              </a:spcAft>
              <a:buSzPct val="100000"/>
              <a:buChar char="•"/>
            </a:pPr>
            <a:r>
              <a:rPr lang="en-US" sz="1500" dirty="0">
                <a:solidFill>
                  <a:schemeClr val="bg1"/>
                </a:solidFill>
              </a:rPr>
              <a:t>Department slicer</a:t>
            </a:r>
            <a:endParaRPr lang="en-US" sz="1500" dirty="0"/>
          </a:p>
          <a:p>
            <a:pPr marL="342900" indent="-342900">
              <a:spcAft>
                <a:spcPts val="400"/>
              </a:spcAft>
              <a:buSzPct val="100000"/>
              <a:buChar char="•"/>
            </a:pPr>
            <a:r>
              <a:rPr lang="en-US" sz="1500" dirty="0">
                <a:solidFill>
                  <a:schemeClr val="bg1"/>
                </a:solidFill>
              </a:rPr>
              <a:t>Cross-filtering visuals</a:t>
            </a:r>
            <a:endParaRPr lang="en-US" sz="1500" dirty="0"/>
          </a:p>
          <a:p>
            <a:pPr marL="342900" indent="-342900">
              <a:spcAft>
                <a:spcPts val="400"/>
              </a:spcAft>
              <a:buSzPct val="100000"/>
              <a:buChar char="•"/>
            </a:pPr>
            <a:r>
              <a:rPr lang="en-US" sz="1500" dirty="0">
                <a:solidFill>
                  <a:schemeClr val="bg1"/>
                </a:solidFill>
              </a:rPr>
              <a:t>Custom colour theme</a:t>
            </a:r>
            <a:endParaRPr lang="en-US" sz="15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9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txBox="1"/>
          <p:nvPr>
            <p:ph idx="101" type="title" hasCustomPrompt="1"/>
          </p:nvPr>
        </p:nvSpPr>
        <p:spPr>
          <a:xfrm>
            <a:off x="548640" y="621792"/>
            <a:ext cx="11091672" cy="731520"/>
          </a:xfrm>
          <a:prstGeom prst="rect">
            <a:avLst/>
          </a:prstGeom>
          <a:noFill/>
          <a:ln/>
        </p:spPr>
        <p:txBody>
          <a:bodyPr wrap="square" lIns="0" tIns="0" rIns="0" bIns="0" rtlCol="0" anchor="ctr"/>
          <a:lstStyle/>
          <a:p>
            <a:pPr algn="l" indent="0" marL="0">
              <a:buNone/>
            </a:pPr>
            <a:r>
              <a:rPr lang="en-US" sz="3600" b="1" dirty="0">
                <a:solidFill>
                  <a:schemeClr val="tx1"/>
                </a:solidFill>
              </a:rPr>
              <a:t>Dashboard 1: Executive Overview</a:t>
            </a:r>
            <a:endParaRPr lang="en-US" sz="3600" dirty="0"/>
          </a:p>
        </p:txBody>
      </p:sp>
      <p:sp>
        <p:nvSpPr>
          <p:cNvPr id="3" name="Text 1"/>
          <p:cNvSpPr txBox="1"/>
          <p:nvPr/>
        </p:nvSpPr>
        <p:spPr>
          <a:xfrm>
            <a:off x="548640" y="329184"/>
            <a:ext cx="77724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STEP 08 OF 11  ·  DASHBOARD DEVELOPMENT · PAGE 1 OF 5</a:t>
            </a:r>
            <a:endParaRPr lang="en-US" sz="1200" dirty="0"/>
          </a:p>
        </p:txBody>
      </p:sp>
      <p:sp>
        <p:nvSpPr>
          <p:cNvPr id="4" name="Shape 2"/>
          <p:cNvSpPr/>
          <p:nvPr/>
        </p:nvSpPr>
        <p:spPr>
          <a:xfrm>
            <a:off x="9166860" y="406908"/>
            <a:ext cx="118872" cy="118872"/>
          </a:xfrm>
          <a:prstGeom prst="ellipse">
            <a:avLst/>
          </a:prstGeom>
          <a:solidFill>
            <a:schemeClr val="accent1"/>
          </a:solidFill>
          <a:ln w="3175">
            <a:solidFill>
              <a:schemeClr val="accent1"/>
            </a:solidFill>
            <a:prstDash val="solid"/>
          </a:ln>
        </p:spPr>
      </p:sp>
      <p:sp>
        <p:nvSpPr>
          <p:cNvPr id="5" name="Shape 3"/>
          <p:cNvSpPr/>
          <p:nvPr/>
        </p:nvSpPr>
        <p:spPr>
          <a:xfrm>
            <a:off x="9399118" y="406908"/>
            <a:ext cx="118872" cy="118872"/>
          </a:xfrm>
          <a:prstGeom prst="ellipse">
            <a:avLst/>
          </a:prstGeom>
          <a:solidFill>
            <a:schemeClr val="accent1"/>
          </a:solidFill>
          <a:ln w="3175">
            <a:solidFill>
              <a:schemeClr val="accent1"/>
            </a:solidFill>
            <a:prstDash val="solid"/>
          </a:ln>
        </p:spPr>
      </p:sp>
      <p:sp>
        <p:nvSpPr>
          <p:cNvPr id="6" name="Shape 4"/>
          <p:cNvSpPr/>
          <p:nvPr/>
        </p:nvSpPr>
        <p:spPr>
          <a:xfrm>
            <a:off x="9631375" y="406908"/>
            <a:ext cx="118872" cy="118872"/>
          </a:xfrm>
          <a:prstGeom prst="ellipse">
            <a:avLst/>
          </a:prstGeom>
          <a:solidFill>
            <a:schemeClr val="accent1"/>
          </a:solidFill>
          <a:ln w="3175">
            <a:solidFill>
              <a:schemeClr val="accent1"/>
            </a:solidFill>
            <a:prstDash val="solid"/>
          </a:ln>
        </p:spPr>
      </p:sp>
      <p:sp>
        <p:nvSpPr>
          <p:cNvPr id="7" name="Shape 5"/>
          <p:cNvSpPr/>
          <p:nvPr/>
        </p:nvSpPr>
        <p:spPr>
          <a:xfrm>
            <a:off x="9863633" y="406908"/>
            <a:ext cx="118872" cy="118872"/>
          </a:xfrm>
          <a:prstGeom prst="ellipse">
            <a:avLst/>
          </a:prstGeom>
          <a:solidFill>
            <a:schemeClr val="accent1"/>
          </a:solidFill>
          <a:ln w="3175">
            <a:solidFill>
              <a:schemeClr val="accent1"/>
            </a:solidFill>
            <a:prstDash val="solid"/>
          </a:ln>
        </p:spPr>
      </p:sp>
      <p:sp>
        <p:nvSpPr>
          <p:cNvPr id="8" name="Shape 6"/>
          <p:cNvSpPr/>
          <p:nvPr/>
        </p:nvSpPr>
        <p:spPr>
          <a:xfrm>
            <a:off x="10095890" y="406908"/>
            <a:ext cx="118872" cy="118872"/>
          </a:xfrm>
          <a:prstGeom prst="ellipse">
            <a:avLst/>
          </a:prstGeom>
          <a:solidFill>
            <a:schemeClr val="accent1"/>
          </a:solidFill>
          <a:ln w="3175">
            <a:solidFill>
              <a:schemeClr val="accent1"/>
            </a:solidFill>
            <a:prstDash val="solid"/>
          </a:ln>
        </p:spPr>
      </p:sp>
      <p:sp>
        <p:nvSpPr>
          <p:cNvPr id="9" name="Shape 7"/>
          <p:cNvSpPr/>
          <p:nvPr/>
        </p:nvSpPr>
        <p:spPr>
          <a:xfrm>
            <a:off x="10328148" y="406908"/>
            <a:ext cx="118872" cy="118872"/>
          </a:xfrm>
          <a:prstGeom prst="ellipse">
            <a:avLst/>
          </a:prstGeom>
          <a:solidFill>
            <a:schemeClr val="accent1"/>
          </a:solidFill>
          <a:ln w="3175">
            <a:solidFill>
              <a:schemeClr val="accent1"/>
            </a:solidFill>
            <a:prstDash val="solid"/>
          </a:ln>
        </p:spPr>
      </p:sp>
      <p:sp>
        <p:nvSpPr>
          <p:cNvPr id="10" name="Shape 8"/>
          <p:cNvSpPr/>
          <p:nvPr/>
        </p:nvSpPr>
        <p:spPr>
          <a:xfrm>
            <a:off x="10560406" y="406908"/>
            <a:ext cx="118872" cy="118872"/>
          </a:xfrm>
          <a:prstGeom prst="ellipse">
            <a:avLst/>
          </a:prstGeom>
          <a:solidFill>
            <a:schemeClr val="accent1"/>
          </a:solidFill>
          <a:ln w="3175">
            <a:solidFill>
              <a:schemeClr val="accent1"/>
            </a:solidFill>
            <a:prstDash val="solid"/>
          </a:ln>
        </p:spPr>
      </p:sp>
      <p:sp>
        <p:nvSpPr>
          <p:cNvPr id="11" name="Shape 9"/>
          <p:cNvSpPr/>
          <p:nvPr/>
        </p:nvSpPr>
        <p:spPr>
          <a:xfrm>
            <a:off x="10760659" y="374904"/>
            <a:ext cx="182880" cy="182880"/>
          </a:xfrm>
          <a:prstGeom prst="ellipse">
            <a:avLst/>
          </a:prstGeom>
          <a:solidFill>
            <a:schemeClr val="accent3"/>
          </a:solidFill>
          <a:ln w="3175">
            <a:solidFill>
              <a:schemeClr val="accent3"/>
            </a:solidFill>
            <a:prstDash val="solid"/>
          </a:ln>
        </p:spPr>
      </p:sp>
      <p:sp>
        <p:nvSpPr>
          <p:cNvPr id="12" name="Shape 10"/>
          <p:cNvSpPr/>
          <p:nvPr/>
        </p:nvSpPr>
        <p:spPr>
          <a:xfrm>
            <a:off x="11024921" y="406908"/>
            <a:ext cx="118872" cy="118872"/>
          </a:xfrm>
          <a:prstGeom prst="ellipse">
            <a:avLst/>
          </a:prstGeom>
          <a:solidFill>
            <a:srgbClr val="C4D3DF"/>
          </a:solidFill>
          <a:ln w="3175">
            <a:solidFill>
              <a:srgbClr val="C4D3DF"/>
            </a:solidFill>
            <a:prstDash val="solid"/>
          </a:ln>
        </p:spPr>
      </p:sp>
      <p:sp>
        <p:nvSpPr>
          <p:cNvPr id="13" name="Shape 11"/>
          <p:cNvSpPr/>
          <p:nvPr/>
        </p:nvSpPr>
        <p:spPr>
          <a:xfrm>
            <a:off x="11257178" y="406908"/>
            <a:ext cx="118872" cy="118872"/>
          </a:xfrm>
          <a:prstGeom prst="ellipse">
            <a:avLst/>
          </a:prstGeom>
          <a:solidFill>
            <a:srgbClr val="C4D3DF"/>
          </a:solidFill>
          <a:ln w="3175">
            <a:solidFill>
              <a:srgbClr val="C4D3DF"/>
            </a:solidFill>
            <a:prstDash val="solid"/>
          </a:ln>
        </p:spPr>
      </p:sp>
      <p:sp>
        <p:nvSpPr>
          <p:cNvPr id="14" name="Shape 12"/>
          <p:cNvSpPr/>
          <p:nvPr/>
        </p:nvSpPr>
        <p:spPr>
          <a:xfrm>
            <a:off x="11489436" y="406908"/>
            <a:ext cx="118872" cy="118872"/>
          </a:xfrm>
          <a:prstGeom prst="ellipse">
            <a:avLst/>
          </a:prstGeom>
          <a:solidFill>
            <a:srgbClr val="C4D3DF"/>
          </a:solidFill>
          <a:ln w="3175">
            <a:solidFill>
              <a:srgbClr val="C4D3DF"/>
            </a:solidFill>
            <a:prstDash val="solid"/>
          </a:ln>
        </p:spPr>
      </p:sp>
      <p:sp>
        <p:nvSpPr>
          <p:cNvPr id="16" name="Shape 13"/>
          <p:cNvSpPr/>
          <p:nvPr/>
        </p:nvSpPr>
        <p:spPr>
          <a:xfrm>
            <a:off x="502920" y="1508760"/>
            <a:ext cx="7863840" cy="4480560"/>
          </a:xfrm>
          <a:prstGeom prst="roundRect">
            <a:avLst>
              <a:gd name="adj" fmla="val 2449"/>
            </a:avLst>
          </a:prstGeom>
          <a:solidFill>
            <a:schemeClr val="bg1"/>
          </a:solidFill>
          <a:ln w="9525">
            <a:solidFill>
              <a:srgbClr val="D5E3EE"/>
            </a:solidFill>
            <a:prstDash val="solid"/>
          </a:ln>
          <a:effectLst>
            <a:outerShdw sx="100000" sy="100000" kx="0" ky="0" algn="bl" rotWithShape="0" blurRad="127000" dist="38100" dir="5400000">
              <a:srgbClr val="0B2545">
                <a:alpha val="14000"/>
              </a:srgbClr>
            </a:outerShdw>
          </a:effectLst>
        </p:spPr>
      </p:sp>
      <p:pic>
        <p:nvPicPr>
          <p:cNvPr id="17" name="Image 0" descr="Executive Overview dashboard screenshot">    </p:cNvPr>
          <p:cNvPicPr>
            <a:picLocks noChangeAspect="1"/>
          </p:cNvPicPr>
          <p:nvPr/>
        </p:nvPicPr>
        <p:blipFill>
          <a:blip r:embed="rId1"/>
          <a:stretch>
            <a:fillRect/>
          </a:stretch>
        </p:blipFill>
        <p:spPr>
          <a:xfrm>
            <a:off x="594360" y="1600200"/>
            <a:ext cx="7680960" cy="4325112"/>
          </a:xfrm>
          <a:prstGeom prst="rect">
            <a:avLst/>
          </a:prstGeom>
        </p:spPr>
      </p:pic>
      <p:sp>
        <p:nvSpPr>
          <p:cNvPr id="18" name="Shape 14"/>
          <p:cNvSpPr/>
          <p:nvPr/>
        </p:nvSpPr>
        <p:spPr>
          <a:xfrm>
            <a:off x="8641080" y="1508760"/>
            <a:ext cx="2999232" cy="1417320"/>
          </a:xfrm>
          <a:prstGeom prst="roundRect">
            <a:avLst>
              <a:gd name="adj" fmla="val 9032"/>
            </a:avLst>
          </a:prstGeom>
          <a:solidFill>
            <a:schemeClr val="bg1"/>
          </a:solidFill>
          <a:ln w="9525">
            <a:solidFill>
              <a:srgbClr val="D5E3EE"/>
            </a:solidFill>
            <a:prstDash val="solid"/>
          </a:ln>
          <a:effectLst>
            <a:outerShdw sx="100000" sy="100000" kx="0" ky="0" algn="bl" rotWithShape="0" blurRad="127000" dist="38100" dir="5400000">
              <a:srgbClr val="0B2545">
                <a:alpha val="14000"/>
              </a:srgbClr>
            </a:outerShdw>
          </a:effectLst>
        </p:spPr>
      </p:sp>
      <p:sp>
        <p:nvSpPr>
          <p:cNvPr id="19" name="Shape 15"/>
          <p:cNvSpPr/>
          <p:nvPr/>
        </p:nvSpPr>
        <p:spPr>
          <a:xfrm>
            <a:off x="8823960" y="1673352"/>
            <a:ext cx="457200" cy="457200"/>
          </a:xfrm>
          <a:prstGeom prst="ellipse">
            <a:avLst/>
          </a:prstGeom>
          <a:solidFill>
            <a:schemeClr val="accent3"/>
          </a:solidFill>
          <a:ln w="6350">
            <a:solidFill>
              <a:schemeClr val="accent3"/>
            </a:solidFill>
            <a:prstDash val="solid"/>
          </a:ln>
        </p:spPr>
      </p:sp>
      <p:pic>
        <p:nvPicPr>
          <p:cNvPr id="20" name="Image 1" descr="preencoded.png">    </p:cNvPr>
          <p:cNvPicPr>
            <a:picLocks noChangeAspect="1"/>
          </p:cNvPicPr>
          <p:nvPr/>
        </p:nvPicPr>
        <p:blipFill>
          <a:blip r:embed="rId2"/>
          <a:stretch>
            <a:fillRect/>
          </a:stretch>
        </p:blipFill>
        <p:spPr>
          <a:xfrm>
            <a:off x="8933688" y="1783080"/>
            <a:ext cx="237744" cy="237744"/>
          </a:xfrm>
          <a:prstGeom prst="rect">
            <a:avLst/>
          </a:prstGeom>
        </p:spPr>
      </p:pic>
      <p:sp>
        <p:nvSpPr>
          <p:cNvPr id="21" name="Text 16"/>
          <p:cNvSpPr txBox="1"/>
          <p:nvPr/>
        </p:nvSpPr>
        <p:spPr>
          <a:xfrm>
            <a:off x="9418320" y="1645920"/>
            <a:ext cx="2148840" cy="512064"/>
          </a:xfrm>
          <a:prstGeom prst="rect">
            <a:avLst/>
          </a:prstGeom>
          <a:noFill/>
          <a:ln/>
        </p:spPr>
        <p:txBody>
          <a:bodyPr wrap="square" lIns="0" tIns="0" rIns="0" bIns="0" rtlCol="0" anchor="ctr"/>
          <a:lstStyle/>
          <a:p>
            <a:pPr indent="0" marL="0">
              <a:buNone/>
            </a:pPr>
            <a:r>
              <a:rPr lang="en-US" sz="1600" b="1" dirty="0">
                <a:solidFill>
                  <a:schemeClr val="tx1"/>
                </a:solidFill>
              </a:rPr>
              <a:t>Six KPI cards</a:t>
            </a:r>
            <a:endParaRPr lang="en-US" sz="1600" dirty="0"/>
          </a:p>
        </p:txBody>
      </p:sp>
      <p:sp>
        <p:nvSpPr>
          <p:cNvPr id="22" name="Text 17"/>
          <p:cNvSpPr txBox="1"/>
          <p:nvPr/>
        </p:nvSpPr>
        <p:spPr>
          <a:xfrm>
            <a:off x="8823960" y="2258568"/>
            <a:ext cx="2697480" cy="594360"/>
          </a:xfrm>
          <a:prstGeom prst="rect">
            <a:avLst/>
          </a:prstGeom>
          <a:noFill/>
          <a:ln/>
        </p:spPr>
        <p:txBody>
          <a:bodyPr wrap="square" lIns="0" tIns="0" rIns="0" bIns="0" rtlCol="0" anchor="ctr"/>
          <a:lstStyle/>
          <a:p>
            <a:pPr indent="0" marL="0">
              <a:buNone/>
            </a:pPr>
            <a:r>
              <a:rPr lang="en-US" sz="1400" dirty="0">
                <a:solidFill>
                  <a:srgbClr val="5B7083"/>
                </a:solidFill>
              </a:rPr>
              <a:t>3,400 staff · 50.7% attrition</a:t>
            </a:r>
            <a:endParaRPr lang="en-US" sz="1400" dirty="0"/>
          </a:p>
        </p:txBody>
      </p:sp>
      <p:sp>
        <p:nvSpPr>
          <p:cNvPr id="23" name="Shape 18"/>
          <p:cNvSpPr/>
          <p:nvPr/>
        </p:nvSpPr>
        <p:spPr>
          <a:xfrm>
            <a:off x="8641080" y="3035808"/>
            <a:ext cx="2999232" cy="1417320"/>
          </a:xfrm>
          <a:prstGeom prst="roundRect">
            <a:avLst>
              <a:gd name="adj" fmla="val 9032"/>
            </a:avLst>
          </a:prstGeom>
          <a:solidFill>
            <a:schemeClr val="bg1"/>
          </a:solidFill>
          <a:ln w="9525">
            <a:solidFill>
              <a:srgbClr val="D5E3EE"/>
            </a:solidFill>
            <a:prstDash val="solid"/>
          </a:ln>
          <a:effectLst>
            <a:outerShdw sx="100000" sy="100000" kx="0" ky="0" algn="bl" rotWithShape="0" blurRad="127000" dist="38100" dir="5400000">
              <a:srgbClr val="0B2545">
                <a:alpha val="14000"/>
              </a:srgbClr>
            </a:outerShdw>
          </a:effectLst>
        </p:spPr>
      </p:sp>
      <p:sp>
        <p:nvSpPr>
          <p:cNvPr id="24" name="Shape 19"/>
          <p:cNvSpPr/>
          <p:nvPr/>
        </p:nvSpPr>
        <p:spPr>
          <a:xfrm>
            <a:off x="8823960" y="3200400"/>
            <a:ext cx="457200" cy="457200"/>
          </a:xfrm>
          <a:prstGeom prst="ellipse">
            <a:avLst/>
          </a:prstGeom>
          <a:solidFill>
            <a:schemeClr val="accent1"/>
          </a:solidFill>
          <a:ln w="6350">
            <a:solidFill>
              <a:schemeClr val="accent1"/>
            </a:solidFill>
            <a:prstDash val="solid"/>
          </a:ln>
        </p:spPr>
      </p:sp>
      <p:pic>
        <p:nvPicPr>
          <p:cNvPr id="25" name="Image 2" descr="preencoded.png">    </p:cNvPr>
          <p:cNvPicPr>
            <a:picLocks noChangeAspect="1"/>
          </p:cNvPicPr>
          <p:nvPr/>
        </p:nvPicPr>
        <p:blipFill>
          <a:blip r:embed="rId3"/>
          <a:stretch>
            <a:fillRect/>
          </a:stretch>
        </p:blipFill>
        <p:spPr>
          <a:xfrm>
            <a:off x="8933688" y="3310128"/>
            <a:ext cx="237744" cy="237744"/>
          </a:xfrm>
          <a:prstGeom prst="rect">
            <a:avLst/>
          </a:prstGeom>
        </p:spPr>
      </p:pic>
      <p:sp>
        <p:nvSpPr>
          <p:cNvPr id="26" name="Text 20"/>
          <p:cNvSpPr txBox="1"/>
          <p:nvPr/>
        </p:nvSpPr>
        <p:spPr>
          <a:xfrm>
            <a:off x="9418320" y="3172968"/>
            <a:ext cx="2148840" cy="512064"/>
          </a:xfrm>
          <a:prstGeom prst="rect">
            <a:avLst/>
          </a:prstGeom>
          <a:noFill/>
          <a:ln/>
        </p:spPr>
        <p:txBody>
          <a:bodyPr wrap="square" lIns="0" tIns="0" rIns="0" bIns="0" rtlCol="0" anchor="ctr"/>
          <a:lstStyle/>
          <a:p>
            <a:pPr indent="0" marL="0">
              <a:buNone/>
            </a:pPr>
            <a:r>
              <a:rPr lang="en-US" sz="1600" b="1" dirty="0">
                <a:solidFill>
                  <a:schemeClr val="tx1"/>
                </a:solidFill>
              </a:rPr>
              <a:t>Department mix</a:t>
            </a:r>
            <a:endParaRPr lang="en-US" sz="1600" dirty="0"/>
          </a:p>
        </p:txBody>
      </p:sp>
      <p:sp>
        <p:nvSpPr>
          <p:cNvPr id="27" name="Text 21"/>
          <p:cNvSpPr txBox="1"/>
          <p:nvPr/>
        </p:nvSpPr>
        <p:spPr>
          <a:xfrm>
            <a:off x="8823960" y="3785616"/>
            <a:ext cx="2697480" cy="594360"/>
          </a:xfrm>
          <a:prstGeom prst="rect">
            <a:avLst/>
          </a:prstGeom>
          <a:noFill/>
          <a:ln/>
        </p:spPr>
        <p:txBody>
          <a:bodyPr wrap="square" lIns="0" tIns="0" rIns="0" bIns="0" rtlCol="0" anchor="ctr"/>
          <a:lstStyle/>
          <a:p>
            <a:pPr indent="0" marL="0">
              <a:buNone/>
            </a:pPr>
            <a:r>
              <a:rPr lang="en-US" sz="1400" dirty="0">
                <a:solidFill>
                  <a:srgbClr val="5B7083"/>
                </a:solidFill>
              </a:rPr>
              <a:t>About 650–700 per department</a:t>
            </a:r>
            <a:endParaRPr lang="en-US" sz="1400" dirty="0"/>
          </a:p>
        </p:txBody>
      </p:sp>
      <p:sp>
        <p:nvSpPr>
          <p:cNvPr id="28" name="Shape 22"/>
          <p:cNvSpPr/>
          <p:nvPr/>
        </p:nvSpPr>
        <p:spPr>
          <a:xfrm>
            <a:off x="8641080" y="4562856"/>
            <a:ext cx="2999232" cy="1417320"/>
          </a:xfrm>
          <a:prstGeom prst="roundRect">
            <a:avLst>
              <a:gd name="adj" fmla="val 9032"/>
            </a:avLst>
          </a:prstGeom>
          <a:solidFill>
            <a:schemeClr val="bg1"/>
          </a:solidFill>
          <a:ln w="9525">
            <a:solidFill>
              <a:srgbClr val="D5E3EE"/>
            </a:solidFill>
            <a:prstDash val="solid"/>
          </a:ln>
          <a:effectLst>
            <a:outerShdw sx="100000" sy="100000" kx="0" ky="0" algn="bl" rotWithShape="0" blurRad="127000" dist="38100" dir="5400000">
              <a:srgbClr val="0B2545">
                <a:alpha val="14000"/>
              </a:srgbClr>
            </a:outerShdw>
          </a:effectLst>
        </p:spPr>
      </p:sp>
      <p:sp>
        <p:nvSpPr>
          <p:cNvPr id="29" name="Shape 23"/>
          <p:cNvSpPr/>
          <p:nvPr/>
        </p:nvSpPr>
        <p:spPr>
          <a:xfrm>
            <a:off x="8823960" y="4727448"/>
            <a:ext cx="457200" cy="457200"/>
          </a:xfrm>
          <a:prstGeom prst="ellipse">
            <a:avLst/>
          </a:prstGeom>
          <a:solidFill>
            <a:schemeClr val="accent1"/>
          </a:solidFill>
          <a:ln w="6350">
            <a:solidFill>
              <a:schemeClr val="accent1"/>
            </a:solidFill>
            <a:prstDash val="solid"/>
          </a:ln>
        </p:spPr>
      </p:sp>
      <p:pic>
        <p:nvPicPr>
          <p:cNvPr id="30" name="Image 3" descr="preencoded.png">    </p:cNvPr>
          <p:cNvPicPr>
            <a:picLocks noChangeAspect="1"/>
          </p:cNvPicPr>
          <p:nvPr/>
        </p:nvPicPr>
        <p:blipFill>
          <a:blip r:embed="rId4"/>
          <a:stretch>
            <a:fillRect/>
          </a:stretch>
        </p:blipFill>
        <p:spPr>
          <a:xfrm>
            <a:off x="8933688" y="4837176"/>
            <a:ext cx="237744" cy="237744"/>
          </a:xfrm>
          <a:prstGeom prst="rect">
            <a:avLst/>
          </a:prstGeom>
        </p:spPr>
      </p:pic>
      <p:sp>
        <p:nvSpPr>
          <p:cNvPr id="31" name="Text 24"/>
          <p:cNvSpPr txBox="1"/>
          <p:nvPr/>
        </p:nvSpPr>
        <p:spPr>
          <a:xfrm>
            <a:off x="9418320" y="4700016"/>
            <a:ext cx="2148840" cy="512064"/>
          </a:xfrm>
          <a:prstGeom prst="rect">
            <a:avLst/>
          </a:prstGeom>
          <a:noFill/>
          <a:ln/>
        </p:spPr>
        <p:txBody>
          <a:bodyPr wrap="square" lIns="0" tIns="0" rIns="0" bIns="0" rtlCol="0" anchor="ctr"/>
          <a:lstStyle/>
          <a:p>
            <a:pPr indent="0" marL="0">
              <a:buNone/>
            </a:pPr>
            <a:r>
              <a:rPr lang="en-US" sz="1600" b="1" dirty="0">
                <a:solidFill>
                  <a:schemeClr val="tx1"/>
                </a:solidFill>
              </a:rPr>
              <a:t>Slicers</a:t>
            </a:r>
            <a:endParaRPr lang="en-US" sz="1600" dirty="0"/>
          </a:p>
        </p:txBody>
      </p:sp>
      <p:sp>
        <p:nvSpPr>
          <p:cNvPr id="32" name="Text 25"/>
          <p:cNvSpPr txBox="1"/>
          <p:nvPr/>
        </p:nvSpPr>
        <p:spPr>
          <a:xfrm>
            <a:off x="8823960" y="5312664"/>
            <a:ext cx="2697480" cy="594360"/>
          </a:xfrm>
          <a:prstGeom prst="rect">
            <a:avLst/>
          </a:prstGeom>
          <a:noFill/>
          <a:ln/>
        </p:spPr>
        <p:txBody>
          <a:bodyPr wrap="square" lIns="0" tIns="0" rIns="0" bIns="0" rtlCol="0" anchor="ctr"/>
          <a:lstStyle/>
          <a:p>
            <a:pPr indent="0" marL="0">
              <a:buNone/>
            </a:pPr>
            <a:r>
              <a:rPr lang="en-US" sz="1400" dirty="0">
                <a:solidFill>
                  <a:srgbClr val="5B7083"/>
                </a:solidFill>
              </a:rPr>
              <a:t>Job Role and Department filter all</a:t>
            </a:r>
            <a:endParaRPr lang="en-US" sz="1400" dirty="0"/>
          </a:p>
        </p:txBody>
      </p:sp>
      <p:sp>
        <p:nvSpPr>
          <p:cNvPr id="33" name="Shape 26"/>
          <p:cNvSpPr/>
          <p:nvPr/>
        </p:nvSpPr>
        <p:spPr>
          <a:xfrm>
            <a:off x="502920" y="6089904"/>
            <a:ext cx="3017520" cy="274320"/>
          </a:xfrm>
          <a:prstGeom prst="roundRect">
            <a:avLst>
              <a:gd name="adj" fmla="val 50000"/>
            </a:avLst>
          </a:prstGeom>
          <a:solidFill>
            <a:schemeClr val="bg2"/>
          </a:solidFill>
          <a:ln w="6350">
            <a:solidFill>
              <a:schemeClr val="accent1"/>
            </a:solidFill>
            <a:prstDash val="solid"/>
          </a:ln>
        </p:spPr>
      </p:sp>
      <p:sp>
        <p:nvSpPr>
          <p:cNvPr id="34" name="Text 27"/>
          <p:cNvSpPr txBox="1"/>
          <p:nvPr/>
        </p:nvSpPr>
        <p:spPr>
          <a:xfrm>
            <a:off x="502920" y="6089904"/>
            <a:ext cx="3017520" cy="274320"/>
          </a:xfrm>
          <a:prstGeom prst="rect">
            <a:avLst/>
          </a:prstGeom>
          <a:noFill/>
          <a:ln/>
        </p:spPr>
        <p:txBody>
          <a:bodyPr wrap="square" lIns="0" tIns="0" rIns="0" bIns="0" rtlCol="0" anchor="ctr"/>
          <a:lstStyle/>
          <a:p>
            <a:pPr algn="ctr" indent="0" marL="0">
              <a:buNone/>
            </a:pPr>
            <a:r>
              <a:rPr lang="en-US" sz="1200" b="1" dirty="0">
                <a:solidFill>
                  <a:schemeClr val="tx2"/>
                </a:solidFill>
              </a:rPr>
              <a:t>←  Back to dashboard overview</a:t>
            </a:r>
            <a:endParaRPr lang="en-US" sz="1200" dirty="0"/>
          </a:p>
        </p:txBody>
      </p:sp>
      <p:pic>
        <p:nvPicPr>
          <p:cNvPr id="35" name="Image 4" descr="preencoded.png">
            <a:hlinkClick r:id="rId6" tooltip="Back to overview" action="ppaction://hlinksldjump"/>
          </p:cNvPr>
          <p:cNvPicPr>
            <a:picLocks noChangeAspect="1"/>
          </p:cNvPicPr>
          <p:nvPr/>
        </p:nvPicPr>
        <p:blipFill>
          <a:blip r:embed="rId5"/>
          <a:stretch>
            <a:fillRect/>
          </a:stretch>
        </p:blipFill>
        <p:spPr>
          <a:xfrm>
            <a:off x="502920" y="6089904"/>
            <a:ext cx="3017520" cy="274320"/>
          </a:xfrm>
          <a:prstGeom prst="rect">
            <a:avLst/>
          </a:prstGeom>
        </p:spPr>
      </p:pic>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9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txBox="1"/>
          <p:nvPr>
            <p:ph idx="101" type="title" hasCustomPrompt="1"/>
          </p:nvPr>
        </p:nvSpPr>
        <p:spPr>
          <a:xfrm>
            <a:off x="548640" y="621792"/>
            <a:ext cx="11091672" cy="731520"/>
          </a:xfrm>
          <a:prstGeom prst="rect">
            <a:avLst/>
          </a:prstGeom>
          <a:noFill/>
          <a:ln/>
        </p:spPr>
        <p:txBody>
          <a:bodyPr wrap="square" lIns="0" tIns="0" rIns="0" bIns="0" rtlCol="0" anchor="ctr"/>
          <a:lstStyle/>
          <a:p>
            <a:pPr algn="l" indent="0" marL="0">
              <a:buNone/>
            </a:pPr>
            <a:r>
              <a:rPr lang="en-US" sz="3600" b="1" dirty="0">
                <a:solidFill>
                  <a:schemeClr val="tx1"/>
                </a:solidFill>
              </a:rPr>
              <a:t>Dashboard 2: Attrition Analysis</a:t>
            </a:r>
            <a:endParaRPr lang="en-US" sz="3600" dirty="0"/>
          </a:p>
        </p:txBody>
      </p:sp>
      <p:sp>
        <p:nvSpPr>
          <p:cNvPr id="3" name="Text 1"/>
          <p:cNvSpPr txBox="1"/>
          <p:nvPr/>
        </p:nvSpPr>
        <p:spPr>
          <a:xfrm>
            <a:off x="548640" y="329184"/>
            <a:ext cx="77724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STEP 08 OF 11  ·  DASHBOARD DEVELOPMENT · PAGE 2 OF 5</a:t>
            </a:r>
            <a:endParaRPr lang="en-US" sz="1200" dirty="0"/>
          </a:p>
        </p:txBody>
      </p:sp>
      <p:sp>
        <p:nvSpPr>
          <p:cNvPr id="4" name="Shape 2"/>
          <p:cNvSpPr/>
          <p:nvPr/>
        </p:nvSpPr>
        <p:spPr>
          <a:xfrm>
            <a:off x="9166860" y="406908"/>
            <a:ext cx="118872" cy="118872"/>
          </a:xfrm>
          <a:prstGeom prst="ellipse">
            <a:avLst/>
          </a:prstGeom>
          <a:solidFill>
            <a:schemeClr val="accent1"/>
          </a:solidFill>
          <a:ln w="3175">
            <a:solidFill>
              <a:schemeClr val="accent1"/>
            </a:solidFill>
            <a:prstDash val="solid"/>
          </a:ln>
        </p:spPr>
      </p:sp>
      <p:sp>
        <p:nvSpPr>
          <p:cNvPr id="5" name="Shape 3"/>
          <p:cNvSpPr/>
          <p:nvPr/>
        </p:nvSpPr>
        <p:spPr>
          <a:xfrm>
            <a:off x="9399118" y="406908"/>
            <a:ext cx="118872" cy="118872"/>
          </a:xfrm>
          <a:prstGeom prst="ellipse">
            <a:avLst/>
          </a:prstGeom>
          <a:solidFill>
            <a:schemeClr val="accent1"/>
          </a:solidFill>
          <a:ln w="3175">
            <a:solidFill>
              <a:schemeClr val="accent1"/>
            </a:solidFill>
            <a:prstDash val="solid"/>
          </a:ln>
        </p:spPr>
      </p:sp>
      <p:sp>
        <p:nvSpPr>
          <p:cNvPr id="6" name="Shape 4"/>
          <p:cNvSpPr/>
          <p:nvPr/>
        </p:nvSpPr>
        <p:spPr>
          <a:xfrm>
            <a:off x="9631375" y="406908"/>
            <a:ext cx="118872" cy="118872"/>
          </a:xfrm>
          <a:prstGeom prst="ellipse">
            <a:avLst/>
          </a:prstGeom>
          <a:solidFill>
            <a:schemeClr val="accent1"/>
          </a:solidFill>
          <a:ln w="3175">
            <a:solidFill>
              <a:schemeClr val="accent1"/>
            </a:solidFill>
            <a:prstDash val="solid"/>
          </a:ln>
        </p:spPr>
      </p:sp>
      <p:sp>
        <p:nvSpPr>
          <p:cNvPr id="7" name="Shape 5"/>
          <p:cNvSpPr/>
          <p:nvPr/>
        </p:nvSpPr>
        <p:spPr>
          <a:xfrm>
            <a:off x="9863633" y="406908"/>
            <a:ext cx="118872" cy="118872"/>
          </a:xfrm>
          <a:prstGeom prst="ellipse">
            <a:avLst/>
          </a:prstGeom>
          <a:solidFill>
            <a:schemeClr val="accent1"/>
          </a:solidFill>
          <a:ln w="3175">
            <a:solidFill>
              <a:schemeClr val="accent1"/>
            </a:solidFill>
            <a:prstDash val="solid"/>
          </a:ln>
        </p:spPr>
      </p:sp>
      <p:sp>
        <p:nvSpPr>
          <p:cNvPr id="8" name="Shape 6"/>
          <p:cNvSpPr/>
          <p:nvPr/>
        </p:nvSpPr>
        <p:spPr>
          <a:xfrm>
            <a:off x="10095890" y="406908"/>
            <a:ext cx="118872" cy="118872"/>
          </a:xfrm>
          <a:prstGeom prst="ellipse">
            <a:avLst/>
          </a:prstGeom>
          <a:solidFill>
            <a:schemeClr val="accent1"/>
          </a:solidFill>
          <a:ln w="3175">
            <a:solidFill>
              <a:schemeClr val="accent1"/>
            </a:solidFill>
            <a:prstDash val="solid"/>
          </a:ln>
        </p:spPr>
      </p:sp>
      <p:sp>
        <p:nvSpPr>
          <p:cNvPr id="9" name="Shape 7"/>
          <p:cNvSpPr/>
          <p:nvPr/>
        </p:nvSpPr>
        <p:spPr>
          <a:xfrm>
            <a:off x="10328148" y="406908"/>
            <a:ext cx="118872" cy="118872"/>
          </a:xfrm>
          <a:prstGeom prst="ellipse">
            <a:avLst/>
          </a:prstGeom>
          <a:solidFill>
            <a:schemeClr val="accent1"/>
          </a:solidFill>
          <a:ln w="3175">
            <a:solidFill>
              <a:schemeClr val="accent1"/>
            </a:solidFill>
            <a:prstDash val="solid"/>
          </a:ln>
        </p:spPr>
      </p:sp>
      <p:sp>
        <p:nvSpPr>
          <p:cNvPr id="10" name="Shape 8"/>
          <p:cNvSpPr/>
          <p:nvPr/>
        </p:nvSpPr>
        <p:spPr>
          <a:xfrm>
            <a:off x="10560406" y="406908"/>
            <a:ext cx="118872" cy="118872"/>
          </a:xfrm>
          <a:prstGeom prst="ellipse">
            <a:avLst/>
          </a:prstGeom>
          <a:solidFill>
            <a:schemeClr val="accent1"/>
          </a:solidFill>
          <a:ln w="3175">
            <a:solidFill>
              <a:schemeClr val="accent1"/>
            </a:solidFill>
            <a:prstDash val="solid"/>
          </a:ln>
        </p:spPr>
      </p:sp>
      <p:sp>
        <p:nvSpPr>
          <p:cNvPr id="11" name="Shape 9"/>
          <p:cNvSpPr/>
          <p:nvPr/>
        </p:nvSpPr>
        <p:spPr>
          <a:xfrm>
            <a:off x="10760659" y="374904"/>
            <a:ext cx="182880" cy="182880"/>
          </a:xfrm>
          <a:prstGeom prst="ellipse">
            <a:avLst/>
          </a:prstGeom>
          <a:solidFill>
            <a:schemeClr val="accent3"/>
          </a:solidFill>
          <a:ln w="3175">
            <a:solidFill>
              <a:schemeClr val="accent3"/>
            </a:solidFill>
            <a:prstDash val="solid"/>
          </a:ln>
        </p:spPr>
      </p:sp>
      <p:sp>
        <p:nvSpPr>
          <p:cNvPr id="12" name="Shape 10"/>
          <p:cNvSpPr/>
          <p:nvPr/>
        </p:nvSpPr>
        <p:spPr>
          <a:xfrm>
            <a:off x="11024921" y="406908"/>
            <a:ext cx="118872" cy="118872"/>
          </a:xfrm>
          <a:prstGeom prst="ellipse">
            <a:avLst/>
          </a:prstGeom>
          <a:solidFill>
            <a:srgbClr val="C4D3DF"/>
          </a:solidFill>
          <a:ln w="3175">
            <a:solidFill>
              <a:srgbClr val="C4D3DF"/>
            </a:solidFill>
            <a:prstDash val="solid"/>
          </a:ln>
        </p:spPr>
      </p:sp>
      <p:sp>
        <p:nvSpPr>
          <p:cNvPr id="13" name="Shape 11"/>
          <p:cNvSpPr/>
          <p:nvPr/>
        </p:nvSpPr>
        <p:spPr>
          <a:xfrm>
            <a:off x="11257178" y="406908"/>
            <a:ext cx="118872" cy="118872"/>
          </a:xfrm>
          <a:prstGeom prst="ellipse">
            <a:avLst/>
          </a:prstGeom>
          <a:solidFill>
            <a:srgbClr val="C4D3DF"/>
          </a:solidFill>
          <a:ln w="3175">
            <a:solidFill>
              <a:srgbClr val="C4D3DF"/>
            </a:solidFill>
            <a:prstDash val="solid"/>
          </a:ln>
        </p:spPr>
      </p:sp>
      <p:sp>
        <p:nvSpPr>
          <p:cNvPr id="14" name="Shape 12"/>
          <p:cNvSpPr/>
          <p:nvPr/>
        </p:nvSpPr>
        <p:spPr>
          <a:xfrm>
            <a:off x="11489436" y="406908"/>
            <a:ext cx="118872" cy="118872"/>
          </a:xfrm>
          <a:prstGeom prst="ellipse">
            <a:avLst/>
          </a:prstGeom>
          <a:solidFill>
            <a:srgbClr val="C4D3DF"/>
          </a:solidFill>
          <a:ln w="3175">
            <a:solidFill>
              <a:srgbClr val="C4D3DF"/>
            </a:solidFill>
            <a:prstDash val="solid"/>
          </a:ln>
        </p:spPr>
      </p:sp>
      <p:sp>
        <p:nvSpPr>
          <p:cNvPr id="16" name="Shape 13"/>
          <p:cNvSpPr/>
          <p:nvPr/>
        </p:nvSpPr>
        <p:spPr>
          <a:xfrm>
            <a:off x="502920" y="1508760"/>
            <a:ext cx="7863840" cy="4480560"/>
          </a:xfrm>
          <a:prstGeom prst="roundRect">
            <a:avLst>
              <a:gd name="adj" fmla="val 2449"/>
            </a:avLst>
          </a:prstGeom>
          <a:solidFill>
            <a:schemeClr val="bg1"/>
          </a:solidFill>
          <a:ln w="9525">
            <a:solidFill>
              <a:srgbClr val="D5E3EE"/>
            </a:solidFill>
            <a:prstDash val="solid"/>
          </a:ln>
          <a:effectLst>
            <a:outerShdw sx="100000" sy="100000" kx="0" ky="0" algn="bl" rotWithShape="0" blurRad="127000" dist="38100" dir="5400000">
              <a:srgbClr val="0B2545">
                <a:alpha val="14000"/>
              </a:srgbClr>
            </a:outerShdw>
          </a:effectLst>
        </p:spPr>
      </p:sp>
      <p:pic>
        <p:nvPicPr>
          <p:cNvPr id="17" name="Image 0" descr="Attrition Analysis dashboard screenshot">    </p:cNvPr>
          <p:cNvPicPr>
            <a:picLocks noChangeAspect="1"/>
          </p:cNvPicPr>
          <p:nvPr/>
        </p:nvPicPr>
        <p:blipFill>
          <a:blip r:embed="rId1"/>
          <a:stretch>
            <a:fillRect/>
          </a:stretch>
        </p:blipFill>
        <p:spPr>
          <a:xfrm>
            <a:off x="594360" y="1600200"/>
            <a:ext cx="7680960" cy="4325112"/>
          </a:xfrm>
          <a:prstGeom prst="rect">
            <a:avLst/>
          </a:prstGeom>
        </p:spPr>
      </p:pic>
      <p:sp>
        <p:nvSpPr>
          <p:cNvPr id="18" name="Shape 14"/>
          <p:cNvSpPr/>
          <p:nvPr/>
        </p:nvSpPr>
        <p:spPr>
          <a:xfrm>
            <a:off x="8641080" y="1508760"/>
            <a:ext cx="2999232" cy="1417320"/>
          </a:xfrm>
          <a:prstGeom prst="roundRect">
            <a:avLst>
              <a:gd name="adj" fmla="val 9032"/>
            </a:avLst>
          </a:prstGeom>
          <a:solidFill>
            <a:schemeClr val="bg1"/>
          </a:solidFill>
          <a:ln w="9525">
            <a:solidFill>
              <a:srgbClr val="D5E3EE"/>
            </a:solidFill>
            <a:prstDash val="solid"/>
          </a:ln>
          <a:effectLst>
            <a:outerShdw sx="100000" sy="100000" kx="0" ky="0" algn="bl" rotWithShape="0" blurRad="127000" dist="38100" dir="5400000">
              <a:srgbClr val="0B2545">
                <a:alpha val="14000"/>
              </a:srgbClr>
            </a:outerShdw>
          </a:effectLst>
        </p:spPr>
      </p:sp>
      <p:sp>
        <p:nvSpPr>
          <p:cNvPr id="19" name="Shape 15"/>
          <p:cNvSpPr/>
          <p:nvPr/>
        </p:nvSpPr>
        <p:spPr>
          <a:xfrm>
            <a:off x="8823960" y="1673352"/>
            <a:ext cx="457200" cy="457200"/>
          </a:xfrm>
          <a:prstGeom prst="ellipse">
            <a:avLst/>
          </a:prstGeom>
          <a:solidFill>
            <a:schemeClr val="accent3"/>
          </a:solidFill>
          <a:ln w="6350">
            <a:solidFill>
              <a:schemeClr val="accent3"/>
            </a:solidFill>
            <a:prstDash val="solid"/>
          </a:ln>
        </p:spPr>
      </p:sp>
      <p:pic>
        <p:nvPicPr>
          <p:cNvPr id="20" name="Image 1" descr="preencoded.png">    </p:cNvPr>
          <p:cNvPicPr>
            <a:picLocks noChangeAspect="1"/>
          </p:cNvPicPr>
          <p:nvPr/>
        </p:nvPicPr>
        <p:blipFill>
          <a:blip r:embed="rId2"/>
          <a:stretch>
            <a:fillRect/>
          </a:stretch>
        </p:blipFill>
        <p:spPr>
          <a:xfrm>
            <a:off x="8933688" y="1783080"/>
            <a:ext cx="237744" cy="237744"/>
          </a:xfrm>
          <a:prstGeom prst="rect">
            <a:avLst/>
          </a:prstGeom>
        </p:spPr>
      </p:pic>
      <p:sp>
        <p:nvSpPr>
          <p:cNvPr id="21" name="Text 16"/>
          <p:cNvSpPr txBox="1"/>
          <p:nvPr/>
        </p:nvSpPr>
        <p:spPr>
          <a:xfrm>
            <a:off x="9418320" y="1645920"/>
            <a:ext cx="2148840" cy="512064"/>
          </a:xfrm>
          <a:prstGeom prst="rect">
            <a:avLst/>
          </a:prstGeom>
          <a:noFill/>
          <a:ln/>
        </p:spPr>
        <p:txBody>
          <a:bodyPr wrap="square" lIns="0" tIns="0" rIns="0" bIns="0" rtlCol="0" anchor="ctr"/>
          <a:lstStyle/>
          <a:p>
            <a:pPr indent="0" marL="0">
              <a:buNone/>
            </a:pPr>
            <a:r>
              <a:rPr lang="en-US" sz="1600" b="1" dirty="0">
                <a:solidFill>
                  <a:schemeClr val="tx1"/>
                </a:solidFill>
              </a:rPr>
              <a:t>1,724 employees left</a:t>
            </a:r>
            <a:endParaRPr lang="en-US" sz="1600" dirty="0"/>
          </a:p>
        </p:txBody>
      </p:sp>
      <p:sp>
        <p:nvSpPr>
          <p:cNvPr id="22" name="Text 17"/>
          <p:cNvSpPr txBox="1"/>
          <p:nvPr/>
        </p:nvSpPr>
        <p:spPr>
          <a:xfrm>
            <a:off x="8823960" y="2258568"/>
            <a:ext cx="2697480" cy="594360"/>
          </a:xfrm>
          <a:prstGeom prst="rect">
            <a:avLst/>
          </a:prstGeom>
          <a:noFill/>
          <a:ln/>
        </p:spPr>
        <p:txBody>
          <a:bodyPr wrap="square" lIns="0" tIns="0" rIns="0" bIns="0" rtlCol="0" anchor="ctr"/>
          <a:lstStyle/>
          <a:p>
            <a:pPr indent="0" marL="0">
              <a:buNone/>
            </a:pPr>
            <a:r>
              <a:rPr lang="en-US" sz="1400" dirty="0">
                <a:solidFill>
                  <a:srgbClr val="5B7083"/>
                </a:solidFill>
              </a:rPr>
              <a:t>Half of all 3,400 staff</a:t>
            </a:r>
            <a:endParaRPr lang="en-US" sz="1400" dirty="0"/>
          </a:p>
        </p:txBody>
      </p:sp>
      <p:sp>
        <p:nvSpPr>
          <p:cNvPr id="23" name="Shape 18"/>
          <p:cNvSpPr/>
          <p:nvPr/>
        </p:nvSpPr>
        <p:spPr>
          <a:xfrm>
            <a:off x="8641080" y="3035808"/>
            <a:ext cx="2999232" cy="1417320"/>
          </a:xfrm>
          <a:prstGeom prst="roundRect">
            <a:avLst>
              <a:gd name="adj" fmla="val 9032"/>
            </a:avLst>
          </a:prstGeom>
          <a:solidFill>
            <a:schemeClr val="bg1"/>
          </a:solidFill>
          <a:ln w="9525">
            <a:solidFill>
              <a:srgbClr val="D5E3EE"/>
            </a:solidFill>
            <a:prstDash val="solid"/>
          </a:ln>
          <a:effectLst>
            <a:outerShdw sx="100000" sy="100000" kx="0" ky="0" algn="bl" rotWithShape="0" blurRad="127000" dist="38100" dir="5400000">
              <a:srgbClr val="0B2545">
                <a:alpha val="14000"/>
              </a:srgbClr>
            </a:outerShdw>
          </a:effectLst>
        </p:spPr>
      </p:sp>
      <p:sp>
        <p:nvSpPr>
          <p:cNvPr id="24" name="Shape 19"/>
          <p:cNvSpPr/>
          <p:nvPr/>
        </p:nvSpPr>
        <p:spPr>
          <a:xfrm>
            <a:off x="8823960" y="3200400"/>
            <a:ext cx="457200" cy="457200"/>
          </a:xfrm>
          <a:prstGeom prst="ellipse">
            <a:avLst/>
          </a:prstGeom>
          <a:solidFill>
            <a:schemeClr val="accent1"/>
          </a:solidFill>
          <a:ln w="6350">
            <a:solidFill>
              <a:schemeClr val="accent1"/>
            </a:solidFill>
            <a:prstDash val="solid"/>
          </a:ln>
        </p:spPr>
      </p:sp>
      <p:pic>
        <p:nvPicPr>
          <p:cNvPr id="25" name="Image 2" descr="preencoded.png">    </p:cNvPr>
          <p:cNvPicPr>
            <a:picLocks noChangeAspect="1"/>
          </p:cNvPicPr>
          <p:nvPr/>
        </p:nvPicPr>
        <p:blipFill>
          <a:blip r:embed="rId3"/>
          <a:stretch>
            <a:fillRect/>
          </a:stretch>
        </p:blipFill>
        <p:spPr>
          <a:xfrm>
            <a:off x="8933688" y="3310128"/>
            <a:ext cx="237744" cy="237744"/>
          </a:xfrm>
          <a:prstGeom prst="rect">
            <a:avLst/>
          </a:prstGeom>
        </p:spPr>
      </p:pic>
      <p:sp>
        <p:nvSpPr>
          <p:cNvPr id="26" name="Text 20"/>
          <p:cNvSpPr txBox="1"/>
          <p:nvPr/>
        </p:nvSpPr>
        <p:spPr>
          <a:xfrm>
            <a:off x="9418320" y="3172968"/>
            <a:ext cx="2148840" cy="512064"/>
          </a:xfrm>
          <a:prstGeom prst="rect">
            <a:avLst/>
          </a:prstGeom>
          <a:noFill/>
          <a:ln/>
        </p:spPr>
        <p:txBody>
          <a:bodyPr wrap="square" lIns="0" tIns="0" rIns="0" bIns="0" rtlCol="0" anchor="ctr"/>
          <a:lstStyle/>
          <a:p>
            <a:pPr indent="0" marL="0">
              <a:buNone/>
            </a:pPr>
            <a:r>
              <a:rPr lang="en-US" sz="1600" b="1" dirty="0">
                <a:solidFill>
                  <a:schemeClr val="tx1"/>
                </a:solidFill>
              </a:rPr>
              <a:t>Overtime</a:t>
            </a:r>
            <a:endParaRPr lang="en-US" sz="1600" dirty="0"/>
          </a:p>
        </p:txBody>
      </p:sp>
      <p:sp>
        <p:nvSpPr>
          <p:cNvPr id="27" name="Text 21"/>
          <p:cNvSpPr txBox="1"/>
          <p:nvPr/>
        </p:nvSpPr>
        <p:spPr>
          <a:xfrm>
            <a:off x="8823960" y="3785616"/>
            <a:ext cx="2697480" cy="594360"/>
          </a:xfrm>
          <a:prstGeom prst="rect">
            <a:avLst/>
          </a:prstGeom>
          <a:noFill/>
          <a:ln/>
        </p:spPr>
        <p:txBody>
          <a:bodyPr wrap="square" lIns="0" tIns="0" rIns="0" bIns="0" rtlCol="0" anchor="ctr"/>
          <a:lstStyle/>
          <a:p>
            <a:pPr indent="0" marL="0">
              <a:buNone/>
            </a:pPr>
            <a:r>
              <a:rPr lang="en-US" sz="1400" dirty="0">
                <a:solidFill>
                  <a:srgbClr val="5B7083"/>
                </a:solidFill>
              </a:rPr>
              <a:t>No overtime 53.1% vs 48.1%</a:t>
            </a:r>
            <a:endParaRPr lang="en-US" sz="1400" dirty="0"/>
          </a:p>
        </p:txBody>
      </p:sp>
      <p:sp>
        <p:nvSpPr>
          <p:cNvPr id="28" name="Shape 22"/>
          <p:cNvSpPr/>
          <p:nvPr/>
        </p:nvSpPr>
        <p:spPr>
          <a:xfrm>
            <a:off x="8641080" y="4562856"/>
            <a:ext cx="2999232" cy="1417320"/>
          </a:xfrm>
          <a:prstGeom prst="roundRect">
            <a:avLst>
              <a:gd name="adj" fmla="val 9032"/>
            </a:avLst>
          </a:prstGeom>
          <a:solidFill>
            <a:schemeClr val="bg1"/>
          </a:solidFill>
          <a:ln w="9525">
            <a:solidFill>
              <a:srgbClr val="D5E3EE"/>
            </a:solidFill>
            <a:prstDash val="solid"/>
          </a:ln>
          <a:effectLst>
            <a:outerShdw sx="100000" sy="100000" kx="0" ky="0" algn="bl" rotWithShape="0" blurRad="127000" dist="38100" dir="5400000">
              <a:srgbClr val="0B2545">
                <a:alpha val="14000"/>
              </a:srgbClr>
            </a:outerShdw>
          </a:effectLst>
        </p:spPr>
      </p:sp>
      <p:sp>
        <p:nvSpPr>
          <p:cNvPr id="29" name="Shape 23"/>
          <p:cNvSpPr/>
          <p:nvPr/>
        </p:nvSpPr>
        <p:spPr>
          <a:xfrm>
            <a:off x="8823960" y="4727448"/>
            <a:ext cx="457200" cy="457200"/>
          </a:xfrm>
          <a:prstGeom prst="ellipse">
            <a:avLst/>
          </a:prstGeom>
          <a:solidFill>
            <a:schemeClr val="accent1"/>
          </a:solidFill>
          <a:ln w="6350">
            <a:solidFill>
              <a:schemeClr val="accent1"/>
            </a:solidFill>
            <a:prstDash val="solid"/>
          </a:ln>
        </p:spPr>
      </p:sp>
      <p:pic>
        <p:nvPicPr>
          <p:cNvPr id="30" name="Image 3" descr="preencoded.png">    </p:cNvPr>
          <p:cNvPicPr>
            <a:picLocks noChangeAspect="1"/>
          </p:cNvPicPr>
          <p:nvPr/>
        </p:nvPicPr>
        <p:blipFill>
          <a:blip r:embed="rId4"/>
          <a:stretch>
            <a:fillRect/>
          </a:stretch>
        </p:blipFill>
        <p:spPr>
          <a:xfrm>
            <a:off x="8933688" y="4837176"/>
            <a:ext cx="237744" cy="237744"/>
          </a:xfrm>
          <a:prstGeom prst="rect">
            <a:avLst/>
          </a:prstGeom>
        </p:spPr>
      </p:pic>
      <p:sp>
        <p:nvSpPr>
          <p:cNvPr id="31" name="Text 24"/>
          <p:cNvSpPr txBox="1"/>
          <p:nvPr/>
        </p:nvSpPr>
        <p:spPr>
          <a:xfrm>
            <a:off x="9418320" y="4700016"/>
            <a:ext cx="2148840" cy="512064"/>
          </a:xfrm>
          <a:prstGeom prst="rect">
            <a:avLst/>
          </a:prstGeom>
          <a:noFill/>
          <a:ln/>
        </p:spPr>
        <p:txBody>
          <a:bodyPr wrap="square" lIns="0" tIns="0" rIns="0" bIns="0" rtlCol="0" anchor="ctr"/>
          <a:lstStyle/>
          <a:p>
            <a:pPr indent="0" marL="0">
              <a:buNone/>
            </a:pPr>
            <a:r>
              <a:rPr lang="en-US" sz="1600" b="1" dirty="0">
                <a:solidFill>
                  <a:schemeClr val="tx1"/>
                </a:solidFill>
              </a:rPr>
              <a:t>Role, tenure, age</a:t>
            </a:r>
            <a:endParaRPr lang="en-US" sz="1600" dirty="0"/>
          </a:p>
        </p:txBody>
      </p:sp>
      <p:sp>
        <p:nvSpPr>
          <p:cNvPr id="32" name="Text 25"/>
          <p:cNvSpPr txBox="1"/>
          <p:nvPr/>
        </p:nvSpPr>
        <p:spPr>
          <a:xfrm>
            <a:off x="8823960" y="5312664"/>
            <a:ext cx="2697480" cy="594360"/>
          </a:xfrm>
          <a:prstGeom prst="rect">
            <a:avLst/>
          </a:prstGeom>
          <a:noFill/>
          <a:ln/>
        </p:spPr>
        <p:txBody>
          <a:bodyPr wrap="square" lIns="0" tIns="0" rIns="0" bIns="0" rtlCol="0" anchor="ctr"/>
          <a:lstStyle/>
          <a:p>
            <a:pPr indent="0" marL="0">
              <a:buNone/>
            </a:pPr>
            <a:r>
              <a:rPr lang="en-US" sz="1400" dirty="0">
                <a:solidFill>
                  <a:srgbClr val="5B7083"/>
                </a:solidFill>
              </a:rPr>
              <a:t>All near 50%, no clear driver</a:t>
            </a:r>
            <a:endParaRPr lang="en-US" sz="1400" dirty="0"/>
          </a:p>
        </p:txBody>
      </p:sp>
      <p:sp>
        <p:nvSpPr>
          <p:cNvPr id="33" name="Shape 26"/>
          <p:cNvSpPr/>
          <p:nvPr/>
        </p:nvSpPr>
        <p:spPr>
          <a:xfrm>
            <a:off x="502920" y="6089904"/>
            <a:ext cx="3017520" cy="274320"/>
          </a:xfrm>
          <a:prstGeom prst="roundRect">
            <a:avLst>
              <a:gd name="adj" fmla="val 50000"/>
            </a:avLst>
          </a:prstGeom>
          <a:solidFill>
            <a:schemeClr val="bg2"/>
          </a:solidFill>
          <a:ln w="6350">
            <a:solidFill>
              <a:schemeClr val="accent1"/>
            </a:solidFill>
            <a:prstDash val="solid"/>
          </a:ln>
        </p:spPr>
      </p:sp>
      <p:sp>
        <p:nvSpPr>
          <p:cNvPr id="34" name="Text 27"/>
          <p:cNvSpPr txBox="1"/>
          <p:nvPr/>
        </p:nvSpPr>
        <p:spPr>
          <a:xfrm>
            <a:off x="502920" y="6089904"/>
            <a:ext cx="3017520" cy="274320"/>
          </a:xfrm>
          <a:prstGeom prst="rect">
            <a:avLst/>
          </a:prstGeom>
          <a:noFill/>
          <a:ln/>
        </p:spPr>
        <p:txBody>
          <a:bodyPr wrap="square" lIns="0" tIns="0" rIns="0" bIns="0" rtlCol="0" anchor="ctr"/>
          <a:lstStyle/>
          <a:p>
            <a:pPr algn="ctr" indent="0" marL="0">
              <a:buNone/>
            </a:pPr>
            <a:r>
              <a:rPr lang="en-US" sz="1200" b="1" dirty="0">
                <a:solidFill>
                  <a:schemeClr val="tx2"/>
                </a:solidFill>
              </a:rPr>
              <a:t>←  Back to dashboard overview</a:t>
            </a:r>
            <a:endParaRPr lang="en-US" sz="1200" dirty="0"/>
          </a:p>
        </p:txBody>
      </p:sp>
      <p:pic>
        <p:nvPicPr>
          <p:cNvPr id="35" name="Image 4" descr="preencoded.png">
            <a:hlinkClick r:id="rId6" tooltip="Back to overview" action="ppaction://hlinksldjump"/>
          </p:cNvPr>
          <p:cNvPicPr>
            <a:picLocks noChangeAspect="1"/>
          </p:cNvPicPr>
          <p:nvPr/>
        </p:nvPicPr>
        <p:blipFill>
          <a:blip r:embed="rId5"/>
          <a:stretch>
            <a:fillRect/>
          </a:stretch>
        </p:blipFill>
        <p:spPr>
          <a:xfrm>
            <a:off x="502920" y="6089904"/>
            <a:ext cx="3017520" cy="274320"/>
          </a:xfrm>
          <a:prstGeom prst="rect">
            <a:avLst/>
          </a:prstGeom>
        </p:spPr>
      </p:pic>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9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txBox="1"/>
          <p:nvPr>
            <p:ph idx="101" type="title" hasCustomPrompt="1"/>
          </p:nvPr>
        </p:nvSpPr>
        <p:spPr>
          <a:xfrm>
            <a:off x="548640" y="621792"/>
            <a:ext cx="11091672" cy="731520"/>
          </a:xfrm>
          <a:prstGeom prst="rect">
            <a:avLst/>
          </a:prstGeom>
          <a:noFill/>
          <a:ln/>
        </p:spPr>
        <p:txBody>
          <a:bodyPr wrap="square" lIns="0" tIns="0" rIns="0" bIns="0" rtlCol="0" anchor="ctr"/>
          <a:lstStyle/>
          <a:p>
            <a:pPr algn="l" indent="0" marL="0">
              <a:buNone/>
            </a:pPr>
            <a:r>
              <a:rPr lang="en-US" sz="3600" b="1" dirty="0">
                <a:solidFill>
                  <a:schemeClr val="tx1"/>
                </a:solidFill>
              </a:rPr>
              <a:t>Dashboard 3: Payroll Analysis</a:t>
            </a:r>
            <a:endParaRPr lang="en-US" sz="3600" dirty="0"/>
          </a:p>
        </p:txBody>
      </p:sp>
      <p:sp>
        <p:nvSpPr>
          <p:cNvPr id="3" name="Text 1"/>
          <p:cNvSpPr txBox="1"/>
          <p:nvPr/>
        </p:nvSpPr>
        <p:spPr>
          <a:xfrm>
            <a:off x="548640" y="329184"/>
            <a:ext cx="77724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STEP 08 OF 11  ·  DASHBOARD DEVELOPMENT · PAGE 3 OF 5</a:t>
            </a:r>
            <a:endParaRPr lang="en-US" sz="1200" dirty="0"/>
          </a:p>
        </p:txBody>
      </p:sp>
      <p:sp>
        <p:nvSpPr>
          <p:cNvPr id="4" name="Shape 2"/>
          <p:cNvSpPr/>
          <p:nvPr/>
        </p:nvSpPr>
        <p:spPr>
          <a:xfrm>
            <a:off x="9166860" y="406908"/>
            <a:ext cx="118872" cy="118872"/>
          </a:xfrm>
          <a:prstGeom prst="ellipse">
            <a:avLst/>
          </a:prstGeom>
          <a:solidFill>
            <a:schemeClr val="accent1"/>
          </a:solidFill>
          <a:ln w="3175">
            <a:solidFill>
              <a:schemeClr val="accent1"/>
            </a:solidFill>
            <a:prstDash val="solid"/>
          </a:ln>
        </p:spPr>
      </p:sp>
      <p:sp>
        <p:nvSpPr>
          <p:cNvPr id="5" name="Shape 3"/>
          <p:cNvSpPr/>
          <p:nvPr/>
        </p:nvSpPr>
        <p:spPr>
          <a:xfrm>
            <a:off x="9399118" y="406908"/>
            <a:ext cx="118872" cy="118872"/>
          </a:xfrm>
          <a:prstGeom prst="ellipse">
            <a:avLst/>
          </a:prstGeom>
          <a:solidFill>
            <a:schemeClr val="accent1"/>
          </a:solidFill>
          <a:ln w="3175">
            <a:solidFill>
              <a:schemeClr val="accent1"/>
            </a:solidFill>
            <a:prstDash val="solid"/>
          </a:ln>
        </p:spPr>
      </p:sp>
      <p:sp>
        <p:nvSpPr>
          <p:cNvPr id="6" name="Shape 4"/>
          <p:cNvSpPr/>
          <p:nvPr/>
        </p:nvSpPr>
        <p:spPr>
          <a:xfrm>
            <a:off x="9631375" y="406908"/>
            <a:ext cx="118872" cy="118872"/>
          </a:xfrm>
          <a:prstGeom prst="ellipse">
            <a:avLst/>
          </a:prstGeom>
          <a:solidFill>
            <a:schemeClr val="accent1"/>
          </a:solidFill>
          <a:ln w="3175">
            <a:solidFill>
              <a:schemeClr val="accent1"/>
            </a:solidFill>
            <a:prstDash val="solid"/>
          </a:ln>
        </p:spPr>
      </p:sp>
      <p:sp>
        <p:nvSpPr>
          <p:cNvPr id="7" name="Shape 5"/>
          <p:cNvSpPr/>
          <p:nvPr/>
        </p:nvSpPr>
        <p:spPr>
          <a:xfrm>
            <a:off x="9863633" y="406908"/>
            <a:ext cx="118872" cy="118872"/>
          </a:xfrm>
          <a:prstGeom prst="ellipse">
            <a:avLst/>
          </a:prstGeom>
          <a:solidFill>
            <a:schemeClr val="accent1"/>
          </a:solidFill>
          <a:ln w="3175">
            <a:solidFill>
              <a:schemeClr val="accent1"/>
            </a:solidFill>
            <a:prstDash val="solid"/>
          </a:ln>
        </p:spPr>
      </p:sp>
      <p:sp>
        <p:nvSpPr>
          <p:cNvPr id="8" name="Shape 6"/>
          <p:cNvSpPr/>
          <p:nvPr/>
        </p:nvSpPr>
        <p:spPr>
          <a:xfrm>
            <a:off x="10095890" y="406908"/>
            <a:ext cx="118872" cy="118872"/>
          </a:xfrm>
          <a:prstGeom prst="ellipse">
            <a:avLst/>
          </a:prstGeom>
          <a:solidFill>
            <a:schemeClr val="accent1"/>
          </a:solidFill>
          <a:ln w="3175">
            <a:solidFill>
              <a:schemeClr val="accent1"/>
            </a:solidFill>
            <a:prstDash val="solid"/>
          </a:ln>
        </p:spPr>
      </p:sp>
      <p:sp>
        <p:nvSpPr>
          <p:cNvPr id="9" name="Shape 7"/>
          <p:cNvSpPr/>
          <p:nvPr/>
        </p:nvSpPr>
        <p:spPr>
          <a:xfrm>
            <a:off x="10328148" y="406908"/>
            <a:ext cx="118872" cy="118872"/>
          </a:xfrm>
          <a:prstGeom prst="ellipse">
            <a:avLst/>
          </a:prstGeom>
          <a:solidFill>
            <a:schemeClr val="accent1"/>
          </a:solidFill>
          <a:ln w="3175">
            <a:solidFill>
              <a:schemeClr val="accent1"/>
            </a:solidFill>
            <a:prstDash val="solid"/>
          </a:ln>
        </p:spPr>
      </p:sp>
      <p:sp>
        <p:nvSpPr>
          <p:cNvPr id="10" name="Shape 8"/>
          <p:cNvSpPr/>
          <p:nvPr/>
        </p:nvSpPr>
        <p:spPr>
          <a:xfrm>
            <a:off x="10560406" y="406908"/>
            <a:ext cx="118872" cy="118872"/>
          </a:xfrm>
          <a:prstGeom prst="ellipse">
            <a:avLst/>
          </a:prstGeom>
          <a:solidFill>
            <a:schemeClr val="accent1"/>
          </a:solidFill>
          <a:ln w="3175">
            <a:solidFill>
              <a:schemeClr val="accent1"/>
            </a:solidFill>
            <a:prstDash val="solid"/>
          </a:ln>
        </p:spPr>
      </p:sp>
      <p:sp>
        <p:nvSpPr>
          <p:cNvPr id="11" name="Shape 9"/>
          <p:cNvSpPr/>
          <p:nvPr/>
        </p:nvSpPr>
        <p:spPr>
          <a:xfrm>
            <a:off x="10760659" y="374904"/>
            <a:ext cx="182880" cy="182880"/>
          </a:xfrm>
          <a:prstGeom prst="ellipse">
            <a:avLst/>
          </a:prstGeom>
          <a:solidFill>
            <a:schemeClr val="accent3"/>
          </a:solidFill>
          <a:ln w="3175">
            <a:solidFill>
              <a:schemeClr val="accent3"/>
            </a:solidFill>
            <a:prstDash val="solid"/>
          </a:ln>
        </p:spPr>
      </p:sp>
      <p:sp>
        <p:nvSpPr>
          <p:cNvPr id="12" name="Shape 10"/>
          <p:cNvSpPr/>
          <p:nvPr/>
        </p:nvSpPr>
        <p:spPr>
          <a:xfrm>
            <a:off x="11024921" y="406908"/>
            <a:ext cx="118872" cy="118872"/>
          </a:xfrm>
          <a:prstGeom prst="ellipse">
            <a:avLst/>
          </a:prstGeom>
          <a:solidFill>
            <a:srgbClr val="C4D3DF"/>
          </a:solidFill>
          <a:ln w="3175">
            <a:solidFill>
              <a:srgbClr val="C4D3DF"/>
            </a:solidFill>
            <a:prstDash val="solid"/>
          </a:ln>
        </p:spPr>
      </p:sp>
      <p:sp>
        <p:nvSpPr>
          <p:cNvPr id="13" name="Shape 11"/>
          <p:cNvSpPr/>
          <p:nvPr/>
        </p:nvSpPr>
        <p:spPr>
          <a:xfrm>
            <a:off x="11257178" y="406908"/>
            <a:ext cx="118872" cy="118872"/>
          </a:xfrm>
          <a:prstGeom prst="ellipse">
            <a:avLst/>
          </a:prstGeom>
          <a:solidFill>
            <a:srgbClr val="C4D3DF"/>
          </a:solidFill>
          <a:ln w="3175">
            <a:solidFill>
              <a:srgbClr val="C4D3DF"/>
            </a:solidFill>
            <a:prstDash val="solid"/>
          </a:ln>
        </p:spPr>
      </p:sp>
      <p:sp>
        <p:nvSpPr>
          <p:cNvPr id="14" name="Shape 12"/>
          <p:cNvSpPr/>
          <p:nvPr/>
        </p:nvSpPr>
        <p:spPr>
          <a:xfrm>
            <a:off x="11489436" y="406908"/>
            <a:ext cx="118872" cy="118872"/>
          </a:xfrm>
          <a:prstGeom prst="ellipse">
            <a:avLst/>
          </a:prstGeom>
          <a:solidFill>
            <a:srgbClr val="C4D3DF"/>
          </a:solidFill>
          <a:ln w="3175">
            <a:solidFill>
              <a:srgbClr val="C4D3DF"/>
            </a:solidFill>
            <a:prstDash val="solid"/>
          </a:ln>
        </p:spPr>
      </p:sp>
      <p:sp>
        <p:nvSpPr>
          <p:cNvPr id="16" name="Shape 13"/>
          <p:cNvSpPr/>
          <p:nvPr/>
        </p:nvSpPr>
        <p:spPr>
          <a:xfrm>
            <a:off x="502920" y="1508760"/>
            <a:ext cx="7863840" cy="4480560"/>
          </a:xfrm>
          <a:prstGeom prst="roundRect">
            <a:avLst>
              <a:gd name="adj" fmla="val 2449"/>
            </a:avLst>
          </a:prstGeom>
          <a:solidFill>
            <a:schemeClr val="bg1"/>
          </a:solidFill>
          <a:ln w="9525">
            <a:solidFill>
              <a:srgbClr val="D5E3EE"/>
            </a:solidFill>
            <a:prstDash val="solid"/>
          </a:ln>
          <a:effectLst>
            <a:outerShdw sx="100000" sy="100000" kx="0" ky="0" algn="bl" rotWithShape="0" blurRad="127000" dist="38100" dir="5400000">
              <a:srgbClr val="0B2545">
                <a:alpha val="14000"/>
              </a:srgbClr>
            </a:outerShdw>
          </a:effectLst>
        </p:spPr>
      </p:sp>
      <p:pic>
        <p:nvPicPr>
          <p:cNvPr id="17" name="Image 0" descr="Payroll Analysis dashboard screenshot">    </p:cNvPr>
          <p:cNvPicPr>
            <a:picLocks noChangeAspect="1"/>
          </p:cNvPicPr>
          <p:nvPr/>
        </p:nvPicPr>
        <p:blipFill>
          <a:blip r:embed="rId1"/>
          <a:stretch>
            <a:fillRect/>
          </a:stretch>
        </p:blipFill>
        <p:spPr>
          <a:xfrm>
            <a:off x="594360" y="1600200"/>
            <a:ext cx="7680960" cy="4325112"/>
          </a:xfrm>
          <a:prstGeom prst="rect">
            <a:avLst/>
          </a:prstGeom>
        </p:spPr>
      </p:pic>
      <p:sp>
        <p:nvSpPr>
          <p:cNvPr id="18" name="Shape 14"/>
          <p:cNvSpPr/>
          <p:nvPr/>
        </p:nvSpPr>
        <p:spPr>
          <a:xfrm>
            <a:off x="8641080" y="1508760"/>
            <a:ext cx="2999232" cy="1417320"/>
          </a:xfrm>
          <a:prstGeom prst="roundRect">
            <a:avLst>
              <a:gd name="adj" fmla="val 9032"/>
            </a:avLst>
          </a:prstGeom>
          <a:solidFill>
            <a:schemeClr val="bg1"/>
          </a:solidFill>
          <a:ln w="9525">
            <a:solidFill>
              <a:srgbClr val="D5E3EE"/>
            </a:solidFill>
            <a:prstDash val="solid"/>
          </a:ln>
          <a:effectLst>
            <a:outerShdw sx="100000" sy="100000" kx="0" ky="0" algn="bl" rotWithShape="0" blurRad="127000" dist="38100" dir="5400000">
              <a:srgbClr val="0B2545">
                <a:alpha val="14000"/>
              </a:srgbClr>
            </a:outerShdw>
          </a:effectLst>
        </p:spPr>
      </p:sp>
      <p:sp>
        <p:nvSpPr>
          <p:cNvPr id="19" name="Shape 15"/>
          <p:cNvSpPr/>
          <p:nvPr/>
        </p:nvSpPr>
        <p:spPr>
          <a:xfrm>
            <a:off x="8823960" y="1673352"/>
            <a:ext cx="457200" cy="457200"/>
          </a:xfrm>
          <a:prstGeom prst="ellipse">
            <a:avLst/>
          </a:prstGeom>
          <a:solidFill>
            <a:schemeClr val="accent3"/>
          </a:solidFill>
          <a:ln w="6350">
            <a:solidFill>
              <a:schemeClr val="accent3"/>
            </a:solidFill>
            <a:prstDash val="solid"/>
          </a:ln>
        </p:spPr>
      </p:sp>
      <p:pic>
        <p:nvPicPr>
          <p:cNvPr id="20" name="Image 1" descr="preencoded.png">    </p:cNvPr>
          <p:cNvPicPr>
            <a:picLocks noChangeAspect="1"/>
          </p:cNvPicPr>
          <p:nvPr/>
        </p:nvPicPr>
        <p:blipFill>
          <a:blip r:embed="rId2"/>
          <a:stretch>
            <a:fillRect/>
          </a:stretch>
        </p:blipFill>
        <p:spPr>
          <a:xfrm>
            <a:off x="8933688" y="1783080"/>
            <a:ext cx="237744" cy="237744"/>
          </a:xfrm>
          <a:prstGeom prst="rect">
            <a:avLst/>
          </a:prstGeom>
        </p:spPr>
      </p:pic>
      <p:sp>
        <p:nvSpPr>
          <p:cNvPr id="21" name="Text 16"/>
          <p:cNvSpPr txBox="1"/>
          <p:nvPr/>
        </p:nvSpPr>
        <p:spPr>
          <a:xfrm>
            <a:off x="9418320" y="1645920"/>
            <a:ext cx="2148840" cy="512064"/>
          </a:xfrm>
          <a:prstGeom prst="rect">
            <a:avLst/>
          </a:prstGeom>
          <a:noFill/>
          <a:ln/>
        </p:spPr>
        <p:txBody>
          <a:bodyPr wrap="square" lIns="0" tIns="0" rIns="0" bIns="0" rtlCol="0" anchor="ctr"/>
          <a:lstStyle/>
          <a:p>
            <a:pPr indent="0" marL="0">
              <a:buNone/>
            </a:pPr>
            <a:r>
              <a:rPr lang="en-US" sz="1600" b="1" dirty="0">
                <a:solidFill>
                  <a:schemeClr val="tx1"/>
                </a:solidFill>
              </a:rPr>
              <a:t>Payroll totals</a:t>
            </a:r>
            <a:endParaRPr lang="en-US" sz="1600" dirty="0"/>
          </a:p>
        </p:txBody>
      </p:sp>
      <p:sp>
        <p:nvSpPr>
          <p:cNvPr id="22" name="Text 17"/>
          <p:cNvSpPr txBox="1"/>
          <p:nvPr/>
        </p:nvSpPr>
        <p:spPr>
          <a:xfrm>
            <a:off x="8823960" y="2258568"/>
            <a:ext cx="2697480" cy="594360"/>
          </a:xfrm>
          <a:prstGeom prst="rect">
            <a:avLst/>
          </a:prstGeom>
          <a:noFill/>
          <a:ln/>
        </p:spPr>
        <p:txBody>
          <a:bodyPr wrap="square" lIns="0" tIns="0" rIns="0" bIns="0" rtlCol="0" anchor="ctr"/>
          <a:lstStyle/>
          <a:p>
            <a:pPr indent="0" marL="0">
              <a:buNone/>
            </a:pPr>
            <a:r>
              <a:rPr lang="en-US" sz="1400" dirty="0">
                <a:solidFill>
                  <a:srgbClr val="5B7083"/>
                </a:solidFill>
              </a:rPr>
              <a:t>Monthly 1,74,26,235 · Annual 20,91,14,820</a:t>
            </a:r>
            <a:endParaRPr lang="en-US" sz="1400" dirty="0"/>
          </a:p>
        </p:txBody>
      </p:sp>
      <p:sp>
        <p:nvSpPr>
          <p:cNvPr id="23" name="Shape 18"/>
          <p:cNvSpPr/>
          <p:nvPr/>
        </p:nvSpPr>
        <p:spPr>
          <a:xfrm>
            <a:off x="8641080" y="3035808"/>
            <a:ext cx="2999232" cy="1417320"/>
          </a:xfrm>
          <a:prstGeom prst="roundRect">
            <a:avLst>
              <a:gd name="adj" fmla="val 9032"/>
            </a:avLst>
          </a:prstGeom>
          <a:solidFill>
            <a:schemeClr val="bg1"/>
          </a:solidFill>
          <a:ln w="9525">
            <a:solidFill>
              <a:srgbClr val="D5E3EE"/>
            </a:solidFill>
            <a:prstDash val="solid"/>
          </a:ln>
          <a:effectLst>
            <a:outerShdw sx="100000" sy="100000" kx="0" ky="0" algn="bl" rotWithShape="0" blurRad="127000" dist="38100" dir="5400000">
              <a:srgbClr val="0B2545">
                <a:alpha val="14000"/>
              </a:srgbClr>
            </a:outerShdw>
          </a:effectLst>
        </p:spPr>
      </p:sp>
      <p:sp>
        <p:nvSpPr>
          <p:cNvPr id="24" name="Shape 19"/>
          <p:cNvSpPr/>
          <p:nvPr/>
        </p:nvSpPr>
        <p:spPr>
          <a:xfrm>
            <a:off x="8823960" y="3200400"/>
            <a:ext cx="457200" cy="457200"/>
          </a:xfrm>
          <a:prstGeom prst="ellipse">
            <a:avLst/>
          </a:prstGeom>
          <a:solidFill>
            <a:schemeClr val="accent1"/>
          </a:solidFill>
          <a:ln w="6350">
            <a:solidFill>
              <a:schemeClr val="accent1"/>
            </a:solidFill>
            <a:prstDash val="solid"/>
          </a:ln>
        </p:spPr>
      </p:sp>
      <p:pic>
        <p:nvPicPr>
          <p:cNvPr id="25" name="Image 2" descr="preencoded.png">    </p:cNvPr>
          <p:cNvPicPr>
            <a:picLocks noChangeAspect="1"/>
          </p:cNvPicPr>
          <p:nvPr/>
        </p:nvPicPr>
        <p:blipFill>
          <a:blip r:embed="rId3"/>
          <a:stretch>
            <a:fillRect/>
          </a:stretch>
        </p:blipFill>
        <p:spPr>
          <a:xfrm>
            <a:off x="8933688" y="3310128"/>
            <a:ext cx="237744" cy="237744"/>
          </a:xfrm>
          <a:prstGeom prst="rect">
            <a:avLst/>
          </a:prstGeom>
        </p:spPr>
      </p:pic>
      <p:sp>
        <p:nvSpPr>
          <p:cNvPr id="26" name="Text 20"/>
          <p:cNvSpPr txBox="1"/>
          <p:nvPr/>
        </p:nvSpPr>
        <p:spPr>
          <a:xfrm>
            <a:off x="9418320" y="3172968"/>
            <a:ext cx="2148840" cy="512064"/>
          </a:xfrm>
          <a:prstGeom prst="rect">
            <a:avLst/>
          </a:prstGeom>
          <a:noFill/>
          <a:ln/>
        </p:spPr>
        <p:txBody>
          <a:bodyPr wrap="square" lIns="0" tIns="0" rIns="0" bIns="0" rtlCol="0" anchor="ctr"/>
          <a:lstStyle/>
          <a:p>
            <a:pPr indent="0" marL="0">
              <a:buNone/>
            </a:pPr>
            <a:r>
              <a:rPr lang="en-US" sz="1600" b="1" dirty="0">
                <a:solidFill>
                  <a:schemeClr val="tx1"/>
                </a:solidFill>
              </a:rPr>
              <a:t>Average vs median</a:t>
            </a:r>
            <a:endParaRPr lang="en-US" sz="1600" dirty="0"/>
          </a:p>
        </p:txBody>
      </p:sp>
      <p:sp>
        <p:nvSpPr>
          <p:cNvPr id="27" name="Text 21"/>
          <p:cNvSpPr txBox="1"/>
          <p:nvPr/>
        </p:nvSpPr>
        <p:spPr>
          <a:xfrm>
            <a:off x="8823960" y="3785616"/>
            <a:ext cx="2697480" cy="594360"/>
          </a:xfrm>
          <a:prstGeom prst="rect">
            <a:avLst/>
          </a:prstGeom>
          <a:noFill/>
          <a:ln/>
        </p:spPr>
        <p:txBody>
          <a:bodyPr wrap="square" lIns="0" tIns="0" rIns="0" bIns="0" rtlCol="0" anchor="ctr"/>
          <a:lstStyle/>
          <a:p>
            <a:pPr indent="0" marL="0">
              <a:buNone/>
            </a:pPr>
            <a:r>
              <a:rPr lang="en-US" sz="1400" dirty="0">
                <a:solidFill>
                  <a:srgbClr val="5B7083"/>
                </a:solidFill>
              </a:rPr>
              <a:t>5,125 average · 4,326 median</a:t>
            </a:r>
            <a:endParaRPr lang="en-US" sz="1400" dirty="0"/>
          </a:p>
        </p:txBody>
      </p:sp>
      <p:sp>
        <p:nvSpPr>
          <p:cNvPr id="28" name="Shape 22"/>
          <p:cNvSpPr/>
          <p:nvPr/>
        </p:nvSpPr>
        <p:spPr>
          <a:xfrm>
            <a:off x="8641080" y="4562856"/>
            <a:ext cx="2999232" cy="1417320"/>
          </a:xfrm>
          <a:prstGeom prst="roundRect">
            <a:avLst>
              <a:gd name="adj" fmla="val 9032"/>
            </a:avLst>
          </a:prstGeom>
          <a:solidFill>
            <a:schemeClr val="bg1"/>
          </a:solidFill>
          <a:ln w="9525">
            <a:solidFill>
              <a:srgbClr val="D5E3EE"/>
            </a:solidFill>
            <a:prstDash val="solid"/>
          </a:ln>
          <a:effectLst>
            <a:outerShdw sx="100000" sy="100000" kx="0" ky="0" algn="bl" rotWithShape="0" blurRad="127000" dist="38100" dir="5400000">
              <a:srgbClr val="0B2545">
                <a:alpha val="14000"/>
              </a:srgbClr>
            </a:outerShdw>
          </a:effectLst>
        </p:spPr>
      </p:sp>
      <p:sp>
        <p:nvSpPr>
          <p:cNvPr id="29" name="Shape 23"/>
          <p:cNvSpPr/>
          <p:nvPr/>
        </p:nvSpPr>
        <p:spPr>
          <a:xfrm>
            <a:off x="8823960" y="4727448"/>
            <a:ext cx="457200" cy="457200"/>
          </a:xfrm>
          <a:prstGeom prst="ellipse">
            <a:avLst/>
          </a:prstGeom>
          <a:solidFill>
            <a:schemeClr val="accent1"/>
          </a:solidFill>
          <a:ln w="6350">
            <a:solidFill>
              <a:schemeClr val="accent1"/>
            </a:solidFill>
            <a:prstDash val="solid"/>
          </a:ln>
        </p:spPr>
      </p:sp>
      <p:pic>
        <p:nvPicPr>
          <p:cNvPr id="30" name="Image 3" descr="preencoded.png">    </p:cNvPr>
          <p:cNvPicPr>
            <a:picLocks noChangeAspect="1"/>
          </p:cNvPicPr>
          <p:nvPr/>
        </p:nvPicPr>
        <p:blipFill>
          <a:blip r:embed="rId4"/>
          <a:stretch>
            <a:fillRect/>
          </a:stretch>
        </p:blipFill>
        <p:spPr>
          <a:xfrm>
            <a:off x="8933688" y="4837176"/>
            <a:ext cx="237744" cy="237744"/>
          </a:xfrm>
          <a:prstGeom prst="rect">
            <a:avLst/>
          </a:prstGeom>
        </p:spPr>
      </p:pic>
      <p:sp>
        <p:nvSpPr>
          <p:cNvPr id="31" name="Text 24"/>
          <p:cNvSpPr txBox="1"/>
          <p:nvPr/>
        </p:nvSpPr>
        <p:spPr>
          <a:xfrm>
            <a:off x="9418320" y="4700016"/>
            <a:ext cx="2148840" cy="512064"/>
          </a:xfrm>
          <a:prstGeom prst="rect">
            <a:avLst/>
          </a:prstGeom>
          <a:noFill/>
          <a:ln/>
        </p:spPr>
        <p:txBody>
          <a:bodyPr wrap="square" lIns="0" tIns="0" rIns="0" bIns="0" rtlCol="0" anchor="ctr"/>
          <a:lstStyle/>
          <a:p>
            <a:pPr indent="0" marL="0">
              <a:buNone/>
            </a:pPr>
            <a:r>
              <a:rPr lang="en-US" sz="1600" b="1" dirty="0">
                <a:solidFill>
                  <a:schemeClr val="tx1"/>
                </a:solidFill>
              </a:rPr>
              <a:t>By job role</a:t>
            </a:r>
            <a:endParaRPr lang="en-US" sz="1600" dirty="0"/>
          </a:p>
        </p:txBody>
      </p:sp>
      <p:sp>
        <p:nvSpPr>
          <p:cNvPr id="32" name="Text 25"/>
          <p:cNvSpPr txBox="1"/>
          <p:nvPr/>
        </p:nvSpPr>
        <p:spPr>
          <a:xfrm>
            <a:off x="8823960" y="5312664"/>
            <a:ext cx="2697480" cy="594360"/>
          </a:xfrm>
          <a:prstGeom prst="rect">
            <a:avLst/>
          </a:prstGeom>
          <a:noFill/>
          <a:ln/>
        </p:spPr>
        <p:txBody>
          <a:bodyPr wrap="square" lIns="0" tIns="0" rIns="0" bIns="0" rtlCol="0" anchor="ctr"/>
          <a:lstStyle/>
          <a:p>
            <a:pPr indent="0" marL="0">
              <a:buNone/>
            </a:pPr>
            <a:r>
              <a:rPr lang="en-US" sz="1400" dirty="0">
                <a:solidFill>
                  <a:srgbClr val="5B7083"/>
                </a:solidFill>
              </a:rPr>
              <a:t>Manager 9,505 · Intern 1,243</a:t>
            </a:r>
            <a:endParaRPr lang="en-US" sz="1400" dirty="0"/>
          </a:p>
        </p:txBody>
      </p:sp>
      <p:sp>
        <p:nvSpPr>
          <p:cNvPr id="33" name="Shape 26"/>
          <p:cNvSpPr/>
          <p:nvPr/>
        </p:nvSpPr>
        <p:spPr>
          <a:xfrm>
            <a:off x="502920" y="6089904"/>
            <a:ext cx="3017520" cy="274320"/>
          </a:xfrm>
          <a:prstGeom prst="roundRect">
            <a:avLst>
              <a:gd name="adj" fmla="val 50000"/>
            </a:avLst>
          </a:prstGeom>
          <a:solidFill>
            <a:schemeClr val="bg2"/>
          </a:solidFill>
          <a:ln w="6350">
            <a:solidFill>
              <a:schemeClr val="accent1"/>
            </a:solidFill>
            <a:prstDash val="solid"/>
          </a:ln>
        </p:spPr>
      </p:sp>
      <p:sp>
        <p:nvSpPr>
          <p:cNvPr id="34" name="Text 27"/>
          <p:cNvSpPr txBox="1"/>
          <p:nvPr/>
        </p:nvSpPr>
        <p:spPr>
          <a:xfrm>
            <a:off x="502920" y="6089904"/>
            <a:ext cx="3017520" cy="274320"/>
          </a:xfrm>
          <a:prstGeom prst="rect">
            <a:avLst/>
          </a:prstGeom>
          <a:noFill/>
          <a:ln/>
        </p:spPr>
        <p:txBody>
          <a:bodyPr wrap="square" lIns="0" tIns="0" rIns="0" bIns="0" rtlCol="0" anchor="ctr"/>
          <a:lstStyle/>
          <a:p>
            <a:pPr algn="ctr" indent="0" marL="0">
              <a:buNone/>
            </a:pPr>
            <a:r>
              <a:rPr lang="en-US" sz="1200" b="1" dirty="0">
                <a:solidFill>
                  <a:schemeClr val="tx2"/>
                </a:solidFill>
              </a:rPr>
              <a:t>←  Back to dashboard overview</a:t>
            </a:r>
            <a:endParaRPr lang="en-US" sz="1200" dirty="0"/>
          </a:p>
        </p:txBody>
      </p:sp>
      <p:pic>
        <p:nvPicPr>
          <p:cNvPr id="35" name="Image 4" descr="preencoded.png">
            <a:hlinkClick r:id="rId6" tooltip="Back to overview" action="ppaction://hlinksldjump"/>
          </p:cNvPr>
          <p:cNvPicPr>
            <a:picLocks noChangeAspect="1"/>
          </p:cNvPicPr>
          <p:nvPr/>
        </p:nvPicPr>
        <p:blipFill>
          <a:blip r:embed="rId5"/>
          <a:stretch>
            <a:fillRect/>
          </a:stretch>
        </p:blipFill>
        <p:spPr>
          <a:xfrm>
            <a:off x="502920" y="6089904"/>
            <a:ext cx="3017520" cy="274320"/>
          </a:xfrm>
          <a:prstGeom prst="rect">
            <a:avLst/>
          </a:prstGeom>
        </p:spPr>
      </p:pic>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9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txBox="1"/>
          <p:nvPr>
            <p:ph idx="101" type="title" hasCustomPrompt="1"/>
          </p:nvPr>
        </p:nvSpPr>
        <p:spPr>
          <a:xfrm>
            <a:off x="548640" y="621792"/>
            <a:ext cx="11091672" cy="731520"/>
          </a:xfrm>
          <a:prstGeom prst="rect">
            <a:avLst/>
          </a:prstGeom>
          <a:noFill/>
          <a:ln/>
        </p:spPr>
        <p:txBody>
          <a:bodyPr wrap="square" lIns="0" tIns="0" rIns="0" bIns="0" rtlCol="0" anchor="ctr"/>
          <a:lstStyle/>
          <a:p>
            <a:pPr algn="l" indent="0" marL="0">
              <a:buNone/>
            </a:pPr>
            <a:r>
              <a:rPr lang="en-US" sz="3600" b="1" dirty="0">
                <a:solidFill>
                  <a:schemeClr val="tx1"/>
                </a:solidFill>
              </a:rPr>
              <a:t>Dashboard 4: Performance &amp; Engagement</a:t>
            </a:r>
            <a:endParaRPr lang="en-US" sz="3600" dirty="0"/>
          </a:p>
        </p:txBody>
      </p:sp>
      <p:sp>
        <p:nvSpPr>
          <p:cNvPr id="3" name="Text 1"/>
          <p:cNvSpPr txBox="1"/>
          <p:nvPr/>
        </p:nvSpPr>
        <p:spPr>
          <a:xfrm>
            <a:off x="548640" y="329184"/>
            <a:ext cx="77724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STEP 08 OF 11  ·  DASHBOARD DEVELOPMENT · PAGE 4 OF 5</a:t>
            </a:r>
            <a:endParaRPr lang="en-US" sz="1200" dirty="0"/>
          </a:p>
        </p:txBody>
      </p:sp>
      <p:sp>
        <p:nvSpPr>
          <p:cNvPr id="4" name="Shape 2"/>
          <p:cNvSpPr/>
          <p:nvPr/>
        </p:nvSpPr>
        <p:spPr>
          <a:xfrm>
            <a:off x="9166860" y="406908"/>
            <a:ext cx="118872" cy="118872"/>
          </a:xfrm>
          <a:prstGeom prst="ellipse">
            <a:avLst/>
          </a:prstGeom>
          <a:solidFill>
            <a:schemeClr val="accent1"/>
          </a:solidFill>
          <a:ln w="3175">
            <a:solidFill>
              <a:schemeClr val="accent1"/>
            </a:solidFill>
            <a:prstDash val="solid"/>
          </a:ln>
        </p:spPr>
      </p:sp>
      <p:sp>
        <p:nvSpPr>
          <p:cNvPr id="5" name="Shape 3"/>
          <p:cNvSpPr/>
          <p:nvPr/>
        </p:nvSpPr>
        <p:spPr>
          <a:xfrm>
            <a:off x="9399118" y="406908"/>
            <a:ext cx="118872" cy="118872"/>
          </a:xfrm>
          <a:prstGeom prst="ellipse">
            <a:avLst/>
          </a:prstGeom>
          <a:solidFill>
            <a:schemeClr val="accent1"/>
          </a:solidFill>
          <a:ln w="3175">
            <a:solidFill>
              <a:schemeClr val="accent1"/>
            </a:solidFill>
            <a:prstDash val="solid"/>
          </a:ln>
        </p:spPr>
      </p:sp>
      <p:sp>
        <p:nvSpPr>
          <p:cNvPr id="6" name="Shape 4"/>
          <p:cNvSpPr/>
          <p:nvPr/>
        </p:nvSpPr>
        <p:spPr>
          <a:xfrm>
            <a:off x="9631375" y="406908"/>
            <a:ext cx="118872" cy="118872"/>
          </a:xfrm>
          <a:prstGeom prst="ellipse">
            <a:avLst/>
          </a:prstGeom>
          <a:solidFill>
            <a:schemeClr val="accent1"/>
          </a:solidFill>
          <a:ln w="3175">
            <a:solidFill>
              <a:schemeClr val="accent1"/>
            </a:solidFill>
            <a:prstDash val="solid"/>
          </a:ln>
        </p:spPr>
      </p:sp>
      <p:sp>
        <p:nvSpPr>
          <p:cNvPr id="7" name="Shape 5"/>
          <p:cNvSpPr/>
          <p:nvPr/>
        </p:nvSpPr>
        <p:spPr>
          <a:xfrm>
            <a:off x="9863633" y="406908"/>
            <a:ext cx="118872" cy="118872"/>
          </a:xfrm>
          <a:prstGeom prst="ellipse">
            <a:avLst/>
          </a:prstGeom>
          <a:solidFill>
            <a:schemeClr val="accent1"/>
          </a:solidFill>
          <a:ln w="3175">
            <a:solidFill>
              <a:schemeClr val="accent1"/>
            </a:solidFill>
            <a:prstDash val="solid"/>
          </a:ln>
        </p:spPr>
      </p:sp>
      <p:sp>
        <p:nvSpPr>
          <p:cNvPr id="8" name="Shape 6"/>
          <p:cNvSpPr/>
          <p:nvPr/>
        </p:nvSpPr>
        <p:spPr>
          <a:xfrm>
            <a:off x="10095890" y="406908"/>
            <a:ext cx="118872" cy="118872"/>
          </a:xfrm>
          <a:prstGeom prst="ellipse">
            <a:avLst/>
          </a:prstGeom>
          <a:solidFill>
            <a:schemeClr val="accent1"/>
          </a:solidFill>
          <a:ln w="3175">
            <a:solidFill>
              <a:schemeClr val="accent1"/>
            </a:solidFill>
            <a:prstDash val="solid"/>
          </a:ln>
        </p:spPr>
      </p:sp>
      <p:sp>
        <p:nvSpPr>
          <p:cNvPr id="9" name="Shape 7"/>
          <p:cNvSpPr/>
          <p:nvPr/>
        </p:nvSpPr>
        <p:spPr>
          <a:xfrm>
            <a:off x="10328148" y="406908"/>
            <a:ext cx="118872" cy="118872"/>
          </a:xfrm>
          <a:prstGeom prst="ellipse">
            <a:avLst/>
          </a:prstGeom>
          <a:solidFill>
            <a:schemeClr val="accent1"/>
          </a:solidFill>
          <a:ln w="3175">
            <a:solidFill>
              <a:schemeClr val="accent1"/>
            </a:solidFill>
            <a:prstDash val="solid"/>
          </a:ln>
        </p:spPr>
      </p:sp>
      <p:sp>
        <p:nvSpPr>
          <p:cNvPr id="10" name="Shape 8"/>
          <p:cNvSpPr/>
          <p:nvPr/>
        </p:nvSpPr>
        <p:spPr>
          <a:xfrm>
            <a:off x="10560406" y="406908"/>
            <a:ext cx="118872" cy="118872"/>
          </a:xfrm>
          <a:prstGeom prst="ellipse">
            <a:avLst/>
          </a:prstGeom>
          <a:solidFill>
            <a:schemeClr val="accent1"/>
          </a:solidFill>
          <a:ln w="3175">
            <a:solidFill>
              <a:schemeClr val="accent1"/>
            </a:solidFill>
            <a:prstDash val="solid"/>
          </a:ln>
        </p:spPr>
      </p:sp>
      <p:sp>
        <p:nvSpPr>
          <p:cNvPr id="11" name="Shape 9"/>
          <p:cNvSpPr/>
          <p:nvPr/>
        </p:nvSpPr>
        <p:spPr>
          <a:xfrm>
            <a:off x="10760659" y="374904"/>
            <a:ext cx="182880" cy="182880"/>
          </a:xfrm>
          <a:prstGeom prst="ellipse">
            <a:avLst/>
          </a:prstGeom>
          <a:solidFill>
            <a:schemeClr val="accent3"/>
          </a:solidFill>
          <a:ln w="3175">
            <a:solidFill>
              <a:schemeClr val="accent3"/>
            </a:solidFill>
            <a:prstDash val="solid"/>
          </a:ln>
        </p:spPr>
      </p:sp>
      <p:sp>
        <p:nvSpPr>
          <p:cNvPr id="12" name="Shape 10"/>
          <p:cNvSpPr/>
          <p:nvPr/>
        </p:nvSpPr>
        <p:spPr>
          <a:xfrm>
            <a:off x="11024921" y="406908"/>
            <a:ext cx="118872" cy="118872"/>
          </a:xfrm>
          <a:prstGeom prst="ellipse">
            <a:avLst/>
          </a:prstGeom>
          <a:solidFill>
            <a:srgbClr val="C4D3DF"/>
          </a:solidFill>
          <a:ln w="3175">
            <a:solidFill>
              <a:srgbClr val="C4D3DF"/>
            </a:solidFill>
            <a:prstDash val="solid"/>
          </a:ln>
        </p:spPr>
      </p:sp>
      <p:sp>
        <p:nvSpPr>
          <p:cNvPr id="13" name="Shape 11"/>
          <p:cNvSpPr/>
          <p:nvPr/>
        </p:nvSpPr>
        <p:spPr>
          <a:xfrm>
            <a:off x="11257178" y="406908"/>
            <a:ext cx="118872" cy="118872"/>
          </a:xfrm>
          <a:prstGeom prst="ellipse">
            <a:avLst/>
          </a:prstGeom>
          <a:solidFill>
            <a:srgbClr val="C4D3DF"/>
          </a:solidFill>
          <a:ln w="3175">
            <a:solidFill>
              <a:srgbClr val="C4D3DF"/>
            </a:solidFill>
            <a:prstDash val="solid"/>
          </a:ln>
        </p:spPr>
      </p:sp>
      <p:sp>
        <p:nvSpPr>
          <p:cNvPr id="14" name="Shape 12"/>
          <p:cNvSpPr/>
          <p:nvPr/>
        </p:nvSpPr>
        <p:spPr>
          <a:xfrm>
            <a:off x="11489436" y="406908"/>
            <a:ext cx="118872" cy="118872"/>
          </a:xfrm>
          <a:prstGeom prst="ellipse">
            <a:avLst/>
          </a:prstGeom>
          <a:solidFill>
            <a:srgbClr val="C4D3DF"/>
          </a:solidFill>
          <a:ln w="3175">
            <a:solidFill>
              <a:srgbClr val="C4D3DF"/>
            </a:solidFill>
            <a:prstDash val="solid"/>
          </a:ln>
        </p:spPr>
      </p:sp>
      <p:sp>
        <p:nvSpPr>
          <p:cNvPr id="16" name="Shape 13"/>
          <p:cNvSpPr/>
          <p:nvPr/>
        </p:nvSpPr>
        <p:spPr>
          <a:xfrm>
            <a:off x="502920" y="1508760"/>
            <a:ext cx="7863840" cy="4480560"/>
          </a:xfrm>
          <a:prstGeom prst="roundRect">
            <a:avLst>
              <a:gd name="adj" fmla="val 2449"/>
            </a:avLst>
          </a:prstGeom>
          <a:solidFill>
            <a:schemeClr val="bg1"/>
          </a:solidFill>
          <a:ln w="9525">
            <a:solidFill>
              <a:srgbClr val="D5E3EE"/>
            </a:solidFill>
            <a:prstDash val="solid"/>
          </a:ln>
          <a:effectLst>
            <a:outerShdw sx="100000" sy="100000" kx="0" ky="0" algn="bl" rotWithShape="0" blurRad="127000" dist="38100" dir="5400000">
              <a:srgbClr val="0B2545">
                <a:alpha val="14000"/>
              </a:srgbClr>
            </a:outerShdw>
          </a:effectLst>
        </p:spPr>
      </p:sp>
      <p:pic>
        <p:nvPicPr>
          <p:cNvPr id="17" name="Image 0" descr="Performance &amp; Engagement dashboard screenshot">    </p:cNvPr>
          <p:cNvPicPr>
            <a:picLocks noChangeAspect="1"/>
          </p:cNvPicPr>
          <p:nvPr/>
        </p:nvPicPr>
        <p:blipFill>
          <a:blip r:embed="rId1"/>
          <a:stretch>
            <a:fillRect/>
          </a:stretch>
        </p:blipFill>
        <p:spPr>
          <a:xfrm>
            <a:off x="594360" y="1600200"/>
            <a:ext cx="7680960" cy="4325112"/>
          </a:xfrm>
          <a:prstGeom prst="rect">
            <a:avLst/>
          </a:prstGeom>
        </p:spPr>
      </p:pic>
      <p:sp>
        <p:nvSpPr>
          <p:cNvPr id="18" name="Shape 14"/>
          <p:cNvSpPr/>
          <p:nvPr/>
        </p:nvSpPr>
        <p:spPr>
          <a:xfrm>
            <a:off x="8641080" y="1508760"/>
            <a:ext cx="2999232" cy="1417320"/>
          </a:xfrm>
          <a:prstGeom prst="roundRect">
            <a:avLst>
              <a:gd name="adj" fmla="val 9032"/>
            </a:avLst>
          </a:prstGeom>
          <a:solidFill>
            <a:schemeClr val="bg1"/>
          </a:solidFill>
          <a:ln w="9525">
            <a:solidFill>
              <a:srgbClr val="D5E3EE"/>
            </a:solidFill>
            <a:prstDash val="solid"/>
          </a:ln>
          <a:effectLst>
            <a:outerShdw sx="100000" sy="100000" kx="0" ky="0" algn="bl" rotWithShape="0" blurRad="127000" dist="38100" dir="5400000">
              <a:srgbClr val="0B2545">
                <a:alpha val="14000"/>
              </a:srgbClr>
            </a:outerShdw>
          </a:effectLst>
        </p:spPr>
      </p:sp>
      <p:sp>
        <p:nvSpPr>
          <p:cNvPr id="19" name="Shape 15"/>
          <p:cNvSpPr/>
          <p:nvPr/>
        </p:nvSpPr>
        <p:spPr>
          <a:xfrm>
            <a:off x="8823960" y="1673352"/>
            <a:ext cx="457200" cy="457200"/>
          </a:xfrm>
          <a:prstGeom prst="ellipse">
            <a:avLst/>
          </a:prstGeom>
          <a:solidFill>
            <a:schemeClr val="accent3"/>
          </a:solidFill>
          <a:ln w="6350">
            <a:solidFill>
              <a:schemeClr val="accent3"/>
            </a:solidFill>
            <a:prstDash val="solid"/>
          </a:ln>
        </p:spPr>
      </p:sp>
      <p:pic>
        <p:nvPicPr>
          <p:cNvPr id="20" name="Image 1" descr="preencoded.png">    </p:cNvPr>
          <p:cNvPicPr>
            <a:picLocks noChangeAspect="1"/>
          </p:cNvPicPr>
          <p:nvPr/>
        </p:nvPicPr>
        <p:blipFill>
          <a:blip r:embed="rId2"/>
          <a:stretch>
            <a:fillRect/>
          </a:stretch>
        </p:blipFill>
        <p:spPr>
          <a:xfrm>
            <a:off x="8933688" y="1783080"/>
            <a:ext cx="237744" cy="237744"/>
          </a:xfrm>
          <a:prstGeom prst="rect">
            <a:avLst/>
          </a:prstGeom>
        </p:spPr>
      </p:pic>
      <p:sp>
        <p:nvSpPr>
          <p:cNvPr id="21" name="Text 16"/>
          <p:cNvSpPr txBox="1"/>
          <p:nvPr/>
        </p:nvSpPr>
        <p:spPr>
          <a:xfrm>
            <a:off x="9418320" y="1645920"/>
            <a:ext cx="2148840" cy="512064"/>
          </a:xfrm>
          <a:prstGeom prst="rect">
            <a:avLst/>
          </a:prstGeom>
          <a:noFill/>
          <a:ln/>
        </p:spPr>
        <p:txBody>
          <a:bodyPr wrap="square" lIns="0" tIns="0" rIns="0" bIns="0" rtlCol="0" anchor="ctr"/>
          <a:lstStyle/>
          <a:p>
            <a:pPr indent="0" marL="0">
              <a:buNone/>
            </a:pPr>
            <a:r>
              <a:rPr lang="en-US" sz="1600" b="1" dirty="0">
                <a:solidFill>
                  <a:schemeClr val="tx1"/>
                </a:solidFill>
              </a:rPr>
              <a:t>Average scores</a:t>
            </a:r>
            <a:endParaRPr lang="en-US" sz="1600" dirty="0"/>
          </a:p>
        </p:txBody>
      </p:sp>
      <p:sp>
        <p:nvSpPr>
          <p:cNvPr id="22" name="Text 17"/>
          <p:cNvSpPr txBox="1"/>
          <p:nvPr/>
        </p:nvSpPr>
        <p:spPr>
          <a:xfrm>
            <a:off x="8823960" y="2258568"/>
            <a:ext cx="2697480" cy="594360"/>
          </a:xfrm>
          <a:prstGeom prst="rect">
            <a:avLst/>
          </a:prstGeom>
          <a:noFill/>
          <a:ln/>
        </p:spPr>
        <p:txBody>
          <a:bodyPr wrap="square" lIns="0" tIns="0" rIns="0" bIns="0" rtlCol="0" anchor="ctr"/>
          <a:lstStyle/>
          <a:p>
            <a:pPr indent="0" marL="0">
              <a:buNone/>
            </a:pPr>
            <a:r>
              <a:rPr lang="en-US" sz="1400" dirty="0">
                <a:solidFill>
                  <a:srgbClr val="5B7083"/>
                </a:solidFill>
              </a:rPr>
              <a:t>Satisfaction, balance, performance ≈ 3.0</a:t>
            </a:r>
            <a:endParaRPr lang="en-US" sz="1400" dirty="0"/>
          </a:p>
        </p:txBody>
      </p:sp>
      <p:sp>
        <p:nvSpPr>
          <p:cNvPr id="23" name="Shape 18"/>
          <p:cNvSpPr/>
          <p:nvPr/>
        </p:nvSpPr>
        <p:spPr>
          <a:xfrm>
            <a:off x="8641080" y="3035808"/>
            <a:ext cx="2999232" cy="1417320"/>
          </a:xfrm>
          <a:prstGeom prst="roundRect">
            <a:avLst>
              <a:gd name="adj" fmla="val 9032"/>
            </a:avLst>
          </a:prstGeom>
          <a:solidFill>
            <a:schemeClr val="bg1"/>
          </a:solidFill>
          <a:ln w="9525">
            <a:solidFill>
              <a:srgbClr val="D5E3EE"/>
            </a:solidFill>
            <a:prstDash val="solid"/>
          </a:ln>
          <a:effectLst>
            <a:outerShdw sx="100000" sy="100000" kx="0" ky="0" algn="bl" rotWithShape="0" blurRad="127000" dist="38100" dir="5400000">
              <a:srgbClr val="0B2545">
                <a:alpha val="14000"/>
              </a:srgbClr>
            </a:outerShdw>
          </a:effectLst>
        </p:spPr>
      </p:sp>
      <p:sp>
        <p:nvSpPr>
          <p:cNvPr id="24" name="Shape 19"/>
          <p:cNvSpPr/>
          <p:nvPr/>
        </p:nvSpPr>
        <p:spPr>
          <a:xfrm>
            <a:off x="8823960" y="3200400"/>
            <a:ext cx="457200" cy="457200"/>
          </a:xfrm>
          <a:prstGeom prst="ellipse">
            <a:avLst/>
          </a:prstGeom>
          <a:solidFill>
            <a:schemeClr val="accent1"/>
          </a:solidFill>
          <a:ln w="6350">
            <a:solidFill>
              <a:schemeClr val="accent1"/>
            </a:solidFill>
            <a:prstDash val="solid"/>
          </a:ln>
        </p:spPr>
      </p:sp>
      <p:pic>
        <p:nvPicPr>
          <p:cNvPr id="25" name="Image 2" descr="preencoded.png">    </p:cNvPr>
          <p:cNvPicPr>
            <a:picLocks noChangeAspect="1"/>
          </p:cNvPicPr>
          <p:nvPr/>
        </p:nvPicPr>
        <p:blipFill>
          <a:blip r:embed="rId3"/>
          <a:stretch>
            <a:fillRect/>
          </a:stretch>
        </p:blipFill>
        <p:spPr>
          <a:xfrm>
            <a:off x="8933688" y="3310128"/>
            <a:ext cx="237744" cy="237744"/>
          </a:xfrm>
          <a:prstGeom prst="rect">
            <a:avLst/>
          </a:prstGeom>
        </p:spPr>
      </p:pic>
      <p:sp>
        <p:nvSpPr>
          <p:cNvPr id="26" name="Text 20"/>
          <p:cNvSpPr txBox="1"/>
          <p:nvPr/>
        </p:nvSpPr>
        <p:spPr>
          <a:xfrm>
            <a:off x="9418320" y="3172968"/>
            <a:ext cx="2148840" cy="512064"/>
          </a:xfrm>
          <a:prstGeom prst="rect">
            <a:avLst/>
          </a:prstGeom>
          <a:noFill/>
          <a:ln/>
        </p:spPr>
        <p:txBody>
          <a:bodyPr wrap="square" lIns="0" tIns="0" rIns="0" bIns="0" rtlCol="0" anchor="ctr"/>
          <a:lstStyle/>
          <a:p>
            <a:pPr indent="0" marL="0">
              <a:buNone/>
            </a:pPr>
            <a:r>
              <a:rPr lang="en-US" sz="1600" b="1" dirty="0">
                <a:solidFill>
                  <a:schemeClr val="tx1"/>
                </a:solidFill>
              </a:rPr>
              <a:t>High performers</a:t>
            </a:r>
            <a:endParaRPr lang="en-US" sz="1600" dirty="0"/>
          </a:p>
        </p:txBody>
      </p:sp>
      <p:sp>
        <p:nvSpPr>
          <p:cNvPr id="27" name="Text 21"/>
          <p:cNvSpPr txBox="1"/>
          <p:nvPr/>
        </p:nvSpPr>
        <p:spPr>
          <a:xfrm>
            <a:off x="8823960" y="3785616"/>
            <a:ext cx="2697480" cy="594360"/>
          </a:xfrm>
          <a:prstGeom prst="rect">
            <a:avLst/>
          </a:prstGeom>
          <a:noFill/>
          <a:ln/>
        </p:spPr>
        <p:txBody>
          <a:bodyPr wrap="square" lIns="0" tIns="0" rIns="0" bIns="0" rtlCol="0" anchor="ctr"/>
          <a:lstStyle/>
          <a:p>
            <a:pPr indent="0" marL="0">
              <a:buNone/>
            </a:pPr>
            <a:r>
              <a:rPr lang="en-US" sz="1400" dirty="0">
                <a:solidFill>
                  <a:srgbClr val="5B7083"/>
                </a:solidFill>
              </a:rPr>
              <a:t>41.0% rated 4 or 5</a:t>
            </a:r>
            <a:endParaRPr lang="en-US" sz="1400" dirty="0"/>
          </a:p>
        </p:txBody>
      </p:sp>
      <p:sp>
        <p:nvSpPr>
          <p:cNvPr id="28" name="Shape 22"/>
          <p:cNvSpPr/>
          <p:nvPr/>
        </p:nvSpPr>
        <p:spPr>
          <a:xfrm>
            <a:off x="8641080" y="4562856"/>
            <a:ext cx="2999232" cy="1417320"/>
          </a:xfrm>
          <a:prstGeom prst="roundRect">
            <a:avLst>
              <a:gd name="adj" fmla="val 9032"/>
            </a:avLst>
          </a:prstGeom>
          <a:solidFill>
            <a:schemeClr val="bg1"/>
          </a:solidFill>
          <a:ln w="9525">
            <a:solidFill>
              <a:srgbClr val="D5E3EE"/>
            </a:solidFill>
            <a:prstDash val="solid"/>
          </a:ln>
          <a:effectLst>
            <a:outerShdw sx="100000" sy="100000" kx="0" ky="0" algn="bl" rotWithShape="0" blurRad="127000" dist="38100" dir="5400000">
              <a:srgbClr val="0B2545">
                <a:alpha val="14000"/>
              </a:srgbClr>
            </a:outerShdw>
          </a:effectLst>
        </p:spPr>
      </p:sp>
      <p:sp>
        <p:nvSpPr>
          <p:cNvPr id="29" name="Shape 23"/>
          <p:cNvSpPr/>
          <p:nvPr/>
        </p:nvSpPr>
        <p:spPr>
          <a:xfrm>
            <a:off x="8823960" y="4727448"/>
            <a:ext cx="457200" cy="457200"/>
          </a:xfrm>
          <a:prstGeom prst="ellipse">
            <a:avLst/>
          </a:prstGeom>
          <a:solidFill>
            <a:schemeClr val="accent1"/>
          </a:solidFill>
          <a:ln w="6350">
            <a:solidFill>
              <a:schemeClr val="accent1"/>
            </a:solidFill>
            <a:prstDash val="solid"/>
          </a:ln>
        </p:spPr>
      </p:sp>
      <p:pic>
        <p:nvPicPr>
          <p:cNvPr id="30" name="Image 3" descr="preencoded.png">    </p:cNvPr>
          <p:cNvPicPr>
            <a:picLocks noChangeAspect="1"/>
          </p:cNvPicPr>
          <p:nvPr/>
        </p:nvPicPr>
        <p:blipFill>
          <a:blip r:embed="rId4"/>
          <a:stretch>
            <a:fillRect/>
          </a:stretch>
        </p:blipFill>
        <p:spPr>
          <a:xfrm>
            <a:off x="8933688" y="4837176"/>
            <a:ext cx="237744" cy="237744"/>
          </a:xfrm>
          <a:prstGeom prst="rect">
            <a:avLst/>
          </a:prstGeom>
        </p:spPr>
      </p:pic>
      <p:sp>
        <p:nvSpPr>
          <p:cNvPr id="31" name="Text 24"/>
          <p:cNvSpPr txBox="1"/>
          <p:nvPr/>
        </p:nvSpPr>
        <p:spPr>
          <a:xfrm>
            <a:off x="9418320" y="4700016"/>
            <a:ext cx="2148840" cy="512064"/>
          </a:xfrm>
          <a:prstGeom prst="rect">
            <a:avLst/>
          </a:prstGeom>
          <a:noFill/>
          <a:ln/>
        </p:spPr>
        <p:txBody>
          <a:bodyPr wrap="square" lIns="0" tIns="0" rIns="0" bIns="0" rtlCol="0" anchor="ctr"/>
          <a:lstStyle/>
          <a:p>
            <a:pPr indent="0" marL="0">
              <a:buNone/>
            </a:pPr>
            <a:r>
              <a:rPr lang="en-US" sz="1600" b="1" dirty="0">
                <a:solidFill>
                  <a:schemeClr val="tx1"/>
                </a:solidFill>
              </a:rPr>
              <a:t>Training vs performance</a:t>
            </a:r>
            <a:endParaRPr lang="en-US" sz="1600" dirty="0"/>
          </a:p>
        </p:txBody>
      </p:sp>
      <p:sp>
        <p:nvSpPr>
          <p:cNvPr id="32" name="Text 25"/>
          <p:cNvSpPr txBox="1"/>
          <p:nvPr/>
        </p:nvSpPr>
        <p:spPr>
          <a:xfrm>
            <a:off x="8823960" y="5312664"/>
            <a:ext cx="2697480" cy="594360"/>
          </a:xfrm>
          <a:prstGeom prst="rect">
            <a:avLst/>
          </a:prstGeom>
          <a:noFill/>
          <a:ln/>
        </p:spPr>
        <p:txBody>
          <a:bodyPr wrap="square" lIns="0" tIns="0" rIns="0" bIns="0" rtlCol="0" anchor="ctr"/>
          <a:lstStyle/>
          <a:p>
            <a:pPr indent="0" marL="0">
              <a:buNone/>
            </a:pPr>
            <a:r>
              <a:rPr lang="en-US" sz="1400" dirty="0">
                <a:solidFill>
                  <a:srgbClr val="5B7083"/>
                </a:solidFill>
              </a:rPr>
              <a:t>No strong link by department</a:t>
            </a:r>
            <a:endParaRPr lang="en-US" sz="1400" dirty="0"/>
          </a:p>
        </p:txBody>
      </p:sp>
      <p:sp>
        <p:nvSpPr>
          <p:cNvPr id="33" name="Shape 26"/>
          <p:cNvSpPr/>
          <p:nvPr/>
        </p:nvSpPr>
        <p:spPr>
          <a:xfrm>
            <a:off x="502920" y="6089904"/>
            <a:ext cx="3017520" cy="274320"/>
          </a:xfrm>
          <a:prstGeom prst="roundRect">
            <a:avLst>
              <a:gd name="adj" fmla="val 50000"/>
            </a:avLst>
          </a:prstGeom>
          <a:solidFill>
            <a:schemeClr val="bg2"/>
          </a:solidFill>
          <a:ln w="6350">
            <a:solidFill>
              <a:schemeClr val="accent1"/>
            </a:solidFill>
            <a:prstDash val="solid"/>
          </a:ln>
        </p:spPr>
      </p:sp>
      <p:sp>
        <p:nvSpPr>
          <p:cNvPr id="34" name="Text 27"/>
          <p:cNvSpPr txBox="1"/>
          <p:nvPr/>
        </p:nvSpPr>
        <p:spPr>
          <a:xfrm>
            <a:off x="502920" y="6089904"/>
            <a:ext cx="3017520" cy="274320"/>
          </a:xfrm>
          <a:prstGeom prst="rect">
            <a:avLst/>
          </a:prstGeom>
          <a:noFill/>
          <a:ln/>
        </p:spPr>
        <p:txBody>
          <a:bodyPr wrap="square" lIns="0" tIns="0" rIns="0" bIns="0" rtlCol="0" anchor="ctr"/>
          <a:lstStyle/>
          <a:p>
            <a:pPr algn="ctr" indent="0" marL="0">
              <a:buNone/>
            </a:pPr>
            <a:r>
              <a:rPr lang="en-US" sz="1200" b="1" dirty="0">
                <a:solidFill>
                  <a:schemeClr val="tx2"/>
                </a:solidFill>
              </a:rPr>
              <a:t>←  Back to dashboard overview</a:t>
            </a:r>
            <a:endParaRPr lang="en-US" sz="1200" dirty="0"/>
          </a:p>
        </p:txBody>
      </p:sp>
      <p:pic>
        <p:nvPicPr>
          <p:cNvPr id="35" name="Image 4" descr="preencoded.png">
            <a:hlinkClick r:id="rId6" tooltip="Back to overview" action="ppaction://hlinksldjump"/>
          </p:cNvPr>
          <p:cNvPicPr>
            <a:picLocks noChangeAspect="1"/>
          </p:cNvPicPr>
          <p:nvPr/>
        </p:nvPicPr>
        <p:blipFill>
          <a:blip r:embed="rId5"/>
          <a:stretch>
            <a:fillRect/>
          </a:stretch>
        </p:blipFill>
        <p:spPr>
          <a:xfrm>
            <a:off x="502920" y="6089904"/>
            <a:ext cx="3017520" cy="274320"/>
          </a:xfrm>
          <a:prstGeom prst="rect">
            <a:avLst/>
          </a:prstGeom>
        </p:spPr>
      </p:pic>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9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txBox="1"/>
          <p:nvPr>
            <p:ph idx="101" type="title" hasCustomPrompt="1"/>
          </p:nvPr>
        </p:nvSpPr>
        <p:spPr>
          <a:xfrm>
            <a:off x="548640" y="621792"/>
            <a:ext cx="11091672" cy="731520"/>
          </a:xfrm>
          <a:prstGeom prst="rect">
            <a:avLst/>
          </a:prstGeom>
          <a:noFill/>
          <a:ln/>
        </p:spPr>
        <p:txBody>
          <a:bodyPr wrap="square" lIns="0" tIns="0" rIns="0" bIns="0" rtlCol="0" anchor="ctr"/>
          <a:lstStyle/>
          <a:p>
            <a:pPr algn="l" indent="0" marL="0">
              <a:buNone/>
            </a:pPr>
            <a:r>
              <a:rPr lang="en-US" sz="3600" b="1" dirty="0">
                <a:solidFill>
                  <a:schemeClr val="tx1"/>
                </a:solidFill>
              </a:rPr>
              <a:t>Dashboard 5: Employee Details</a:t>
            </a:r>
            <a:endParaRPr lang="en-US" sz="3600" dirty="0"/>
          </a:p>
        </p:txBody>
      </p:sp>
      <p:sp>
        <p:nvSpPr>
          <p:cNvPr id="3" name="Text 1"/>
          <p:cNvSpPr txBox="1"/>
          <p:nvPr/>
        </p:nvSpPr>
        <p:spPr>
          <a:xfrm>
            <a:off x="548640" y="329184"/>
            <a:ext cx="77724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STEP 08 OF 11  ·  DASHBOARD DEVELOPMENT · PAGE 5 OF 5</a:t>
            </a:r>
            <a:endParaRPr lang="en-US" sz="1200" dirty="0"/>
          </a:p>
        </p:txBody>
      </p:sp>
      <p:sp>
        <p:nvSpPr>
          <p:cNvPr id="4" name="Shape 2"/>
          <p:cNvSpPr/>
          <p:nvPr/>
        </p:nvSpPr>
        <p:spPr>
          <a:xfrm>
            <a:off x="9166860" y="406908"/>
            <a:ext cx="118872" cy="118872"/>
          </a:xfrm>
          <a:prstGeom prst="ellipse">
            <a:avLst/>
          </a:prstGeom>
          <a:solidFill>
            <a:schemeClr val="accent1"/>
          </a:solidFill>
          <a:ln w="3175">
            <a:solidFill>
              <a:schemeClr val="accent1"/>
            </a:solidFill>
            <a:prstDash val="solid"/>
          </a:ln>
        </p:spPr>
      </p:sp>
      <p:sp>
        <p:nvSpPr>
          <p:cNvPr id="5" name="Shape 3"/>
          <p:cNvSpPr/>
          <p:nvPr/>
        </p:nvSpPr>
        <p:spPr>
          <a:xfrm>
            <a:off x="9399118" y="406908"/>
            <a:ext cx="118872" cy="118872"/>
          </a:xfrm>
          <a:prstGeom prst="ellipse">
            <a:avLst/>
          </a:prstGeom>
          <a:solidFill>
            <a:schemeClr val="accent1"/>
          </a:solidFill>
          <a:ln w="3175">
            <a:solidFill>
              <a:schemeClr val="accent1"/>
            </a:solidFill>
            <a:prstDash val="solid"/>
          </a:ln>
        </p:spPr>
      </p:sp>
      <p:sp>
        <p:nvSpPr>
          <p:cNvPr id="6" name="Shape 4"/>
          <p:cNvSpPr/>
          <p:nvPr/>
        </p:nvSpPr>
        <p:spPr>
          <a:xfrm>
            <a:off x="9631375" y="406908"/>
            <a:ext cx="118872" cy="118872"/>
          </a:xfrm>
          <a:prstGeom prst="ellipse">
            <a:avLst/>
          </a:prstGeom>
          <a:solidFill>
            <a:schemeClr val="accent1"/>
          </a:solidFill>
          <a:ln w="3175">
            <a:solidFill>
              <a:schemeClr val="accent1"/>
            </a:solidFill>
            <a:prstDash val="solid"/>
          </a:ln>
        </p:spPr>
      </p:sp>
      <p:sp>
        <p:nvSpPr>
          <p:cNvPr id="7" name="Shape 5"/>
          <p:cNvSpPr/>
          <p:nvPr/>
        </p:nvSpPr>
        <p:spPr>
          <a:xfrm>
            <a:off x="9863633" y="406908"/>
            <a:ext cx="118872" cy="118872"/>
          </a:xfrm>
          <a:prstGeom prst="ellipse">
            <a:avLst/>
          </a:prstGeom>
          <a:solidFill>
            <a:schemeClr val="accent1"/>
          </a:solidFill>
          <a:ln w="3175">
            <a:solidFill>
              <a:schemeClr val="accent1"/>
            </a:solidFill>
            <a:prstDash val="solid"/>
          </a:ln>
        </p:spPr>
      </p:sp>
      <p:sp>
        <p:nvSpPr>
          <p:cNvPr id="8" name="Shape 6"/>
          <p:cNvSpPr/>
          <p:nvPr/>
        </p:nvSpPr>
        <p:spPr>
          <a:xfrm>
            <a:off x="10095890" y="406908"/>
            <a:ext cx="118872" cy="118872"/>
          </a:xfrm>
          <a:prstGeom prst="ellipse">
            <a:avLst/>
          </a:prstGeom>
          <a:solidFill>
            <a:schemeClr val="accent1"/>
          </a:solidFill>
          <a:ln w="3175">
            <a:solidFill>
              <a:schemeClr val="accent1"/>
            </a:solidFill>
            <a:prstDash val="solid"/>
          </a:ln>
        </p:spPr>
      </p:sp>
      <p:sp>
        <p:nvSpPr>
          <p:cNvPr id="9" name="Shape 7"/>
          <p:cNvSpPr/>
          <p:nvPr/>
        </p:nvSpPr>
        <p:spPr>
          <a:xfrm>
            <a:off x="10328148" y="406908"/>
            <a:ext cx="118872" cy="118872"/>
          </a:xfrm>
          <a:prstGeom prst="ellipse">
            <a:avLst/>
          </a:prstGeom>
          <a:solidFill>
            <a:schemeClr val="accent1"/>
          </a:solidFill>
          <a:ln w="3175">
            <a:solidFill>
              <a:schemeClr val="accent1"/>
            </a:solidFill>
            <a:prstDash val="solid"/>
          </a:ln>
        </p:spPr>
      </p:sp>
      <p:sp>
        <p:nvSpPr>
          <p:cNvPr id="10" name="Shape 8"/>
          <p:cNvSpPr/>
          <p:nvPr/>
        </p:nvSpPr>
        <p:spPr>
          <a:xfrm>
            <a:off x="10560406" y="406908"/>
            <a:ext cx="118872" cy="118872"/>
          </a:xfrm>
          <a:prstGeom prst="ellipse">
            <a:avLst/>
          </a:prstGeom>
          <a:solidFill>
            <a:schemeClr val="accent1"/>
          </a:solidFill>
          <a:ln w="3175">
            <a:solidFill>
              <a:schemeClr val="accent1"/>
            </a:solidFill>
            <a:prstDash val="solid"/>
          </a:ln>
        </p:spPr>
      </p:sp>
      <p:sp>
        <p:nvSpPr>
          <p:cNvPr id="11" name="Shape 9"/>
          <p:cNvSpPr/>
          <p:nvPr/>
        </p:nvSpPr>
        <p:spPr>
          <a:xfrm>
            <a:off x="10760659" y="374904"/>
            <a:ext cx="182880" cy="182880"/>
          </a:xfrm>
          <a:prstGeom prst="ellipse">
            <a:avLst/>
          </a:prstGeom>
          <a:solidFill>
            <a:schemeClr val="accent3"/>
          </a:solidFill>
          <a:ln w="3175">
            <a:solidFill>
              <a:schemeClr val="accent3"/>
            </a:solidFill>
            <a:prstDash val="solid"/>
          </a:ln>
        </p:spPr>
      </p:sp>
      <p:sp>
        <p:nvSpPr>
          <p:cNvPr id="12" name="Shape 10"/>
          <p:cNvSpPr/>
          <p:nvPr/>
        </p:nvSpPr>
        <p:spPr>
          <a:xfrm>
            <a:off x="11024921" y="406908"/>
            <a:ext cx="118872" cy="118872"/>
          </a:xfrm>
          <a:prstGeom prst="ellipse">
            <a:avLst/>
          </a:prstGeom>
          <a:solidFill>
            <a:srgbClr val="C4D3DF"/>
          </a:solidFill>
          <a:ln w="3175">
            <a:solidFill>
              <a:srgbClr val="C4D3DF"/>
            </a:solidFill>
            <a:prstDash val="solid"/>
          </a:ln>
        </p:spPr>
      </p:sp>
      <p:sp>
        <p:nvSpPr>
          <p:cNvPr id="13" name="Shape 11"/>
          <p:cNvSpPr/>
          <p:nvPr/>
        </p:nvSpPr>
        <p:spPr>
          <a:xfrm>
            <a:off x="11257178" y="406908"/>
            <a:ext cx="118872" cy="118872"/>
          </a:xfrm>
          <a:prstGeom prst="ellipse">
            <a:avLst/>
          </a:prstGeom>
          <a:solidFill>
            <a:srgbClr val="C4D3DF"/>
          </a:solidFill>
          <a:ln w="3175">
            <a:solidFill>
              <a:srgbClr val="C4D3DF"/>
            </a:solidFill>
            <a:prstDash val="solid"/>
          </a:ln>
        </p:spPr>
      </p:sp>
      <p:sp>
        <p:nvSpPr>
          <p:cNvPr id="14" name="Shape 12"/>
          <p:cNvSpPr/>
          <p:nvPr/>
        </p:nvSpPr>
        <p:spPr>
          <a:xfrm>
            <a:off x="11489436" y="406908"/>
            <a:ext cx="118872" cy="118872"/>
          </a:xfrm>
          <a:prstGeom prst="ellipse">
            <a:avLst/>
          </a:prstGeom>
          <a:solidFill>
            <a:srgbClr val="C4D3DF"/>
          </a:solidFill>
          <a:ln w="3175">
            <a:solidFill>
              <a:srgbClr val="C4D3DF"/>
            </a:solidFill>
            <a:prstDash val="solid"/>
          </a:ln>
        </p:spPr>
      </p:sp>
      <p:sp>
        <p:nvSpPr>
          <p:cNvPr id="16" name="Shape 13"/>
          <p:cNvSpPr/>
          <p:nvPr/>
        </p:nvSpPr>
        <p:spPr>
          <a:xfrm>
            <a:off x="502920" y="1508760"/>
            <a:ext cx="7863840" cy="4480560"/>
          </a:xfrm>
          <a:prstGeom prst="roundRect">
            <a:avLst>
              <a:gd name="adj" fmla="val 2449"/>
            </a:avLst>
          </a:prstGeom>
          <a:solidFill>
            <a:schemeClr val="bg1"/>
          </a:solidFill>
          <a:ln w="9525">
            <a:solidFill>
              <a:srgbClr val="D5E3EE"/>
            </a:solidFill>
            <a:prstDash val="solid"/>
          </a:ln>
          <a:effectLst>
            <a:outerShdw sx="100000" sy="100000" kx="0" ky="0" algn="bl" rotWithShape="0" blurRad="127000" dist="38100" dir="5400000">
              <a:srgbClr val="0B2545">
                <a:alpha val="14000"/>
              </a:srgbClr>
            </a:outerShdw>
          </a:effectLst>
        </p:spPr>
      </p:sp>
      <p:pic>
        <p:nvPicPr>
          <p:cNvPr id="17" name="Image 0" descr="Employee Details dashboard screenshot">    </p:cNvPr>
          <p:cNvPicPr>
            <a:picLocks noChangeAspect="1"/>
          </p:cNvPicPr>
          <p:nvPr/>
        </p:nvPicPr>
        <p:blipFill>
          <a:blip r:embed="rId1"/>
          <a:stretch>
            <a:fillRect/>
          </a:stretch>
        </p:blipFill>
        <p:spPr>
          <a:xfrm>
            <a:off x="594360" y="1600200"/>
            <a:ext cx="7680960" cy="4325112"/>
          </a:xfrm>
          <a:prstGeom prst="rect">
            <a:avLst/>
          </a:prstGeom>
        </p:spPr>
      </p:pic>
      <p:sp>
        <p:nvSpPr>
          <p:cNvPr id="18" name="Shape 14"/>
          <p:cNvSpPr/>
          <p:nvPr/>
        </p:nvSpPr>
        <p:spPr>
          <a:xfrm>
            <a:off x="8641080" y="1508760"/>
            <a:ext cx="2999232" cy="1417320"/>
          </a:xfrm>
          <a:prstGeom prst="roundRect">
            <a:avLst>
              <a:gd name="adj" fmla="val 9032"/>
            </a:avLst>
          </a:prstGeom>
          <a:solidFill>
            <a:schemeClr val="bg1"/>
          </a:solidFill>
          <a:ln w="9525">
            <a:solidFill>
              <a:srgbClr val="D5E3EE"/>
            </a:solidFill>
            <a:prstDash val="solid"/>
          </a:ln>
          <a:effectLst>
            <a:outerShdw sx="100000" sy="100000" kx="0" ky="0" algn="bl" rotWithShape="0" blurRad="127000" dist="38100" dir="5400000">
              <a:srgbClr val="0B2545">
                <a:alpha val="14000"/>
              </a:srgbClr>
            </a:outerShdw>
          </a:effectLst>
        </p:spPr>
      </p:sp>
      <p:sp>
        <p:nvSpPr>
          <p:cNvPr id="19" name="Shape 15"/>
          <p:cNvSpPr/>
          <p:nvPr/>
        </p:nvSpPr>
        <p:spPr>
          <a:xfrm>
            <a:off x="8823960" y="1673352"/>
            <a:ext cx="457200" cy="457200"/>
          </a:xfrm>
          <a:prstGeom prst="ellipse">
            <a:avLst/>
          </a:prstGeom>
          <a:solidFill>
            <a:schemeClr val="accent3"/>
          </a:solidFill>
          <a:ln w="6350">
            <a:solidFill>
              <a:schemeClr val="accent3"/>
            </a:solidFill>
            <a:prstDash val="solid"/>
          </a:ln>
        </p:spPr>
      </p:sp>
      <p:pic>
        <p:nvPicPr>
          <p:cNvPr id="20" name="Image 1" descr="preencoded.png">    </p:cNvPr>
          <p:cNvPicPr>
            <a:picLocks noChangeAspect="1"/>
          </p:cNvPicPr>
          <p:nvPr/>
        </p:nvPicPr>
        <p:blipFill>
          <a:blip r:embed="rId2"/>
          <a:stretch>
            <a:fillRect/>
          </a:stretch>
        </p:blipFill>
        <p:spPr>
          <a:xfrm>
            <a:off x="8933688" y="1783080"/>
            <a:ext cx="237744" cy="237744"/>
          </a:xfrm>
          <a:prstGeom prst="rect">
            <a:avLst/>
          </a:prstGeom>
        </p:spPr>
      </p:pic>
      <p:sp>
        <p:nvSpPr>
          <p:cNvPr id="21" name="Text 16"/>
          <p:cNvSpPr txBox="1"/>
          <p:nvPr/>
        </p:nvSpPr>
        <p:spPr>
          <a:xfrm>
            <a:off x="9418320" y="1645920"/>
            <a:ext cx="2148840" cy="512064"/>
          </a:xfrm>
          <a:prstGeom prst="rect">
            <a:avLst/>
          </a:prstGeom>
          <a:noFill/>
          <a:ln/>
        </p:spPr>
        <p:txBody>
          <a:bodyPr wrap="square" lIns="0" tIns="0" rIns="0" bIns="0" rtlCol="0" anchor="ctr"/>
          <a:lstStyle/>
          <a:p>
            <a:pPr indent="0" marL="0">
              <a:buNone/>
            </a:pPr>
            <a:r>
              <a:rPr lang="en-US" sz="1600" b="1" dirty="0">
                <a:solidFill>
                  <a:schemeClr val="tx1"/>
                </a:solidFill>
              </a:rPr>
              <a:t>Employee table</a:t>
            </a:r>
            <a:endParaRPr lang="en-US" sz="1600" dirty="0"/>
          </a:p>
        </p:txBody>
      </p:sp>
      <p:sp>
        <p:nvSpPr>
          <p:cNvPr id="22" name="Text 17"/>
          <p:cNvSpPr txBox="1"/>
          <p:nvPr/>
        </p:nvSpPr>
        <p:spPr>
          <a:xfrm>
            <a:off x="8823960" y="2258568"/>
            <a:ext cx="2697480" cy="594360"/>
          </a:xfrm>
          <a:prstGeom prst="rect">
            <a:avLst/>
          </a:prstGeom>
          <a:noFill/>
          <a:ln/>
        </p:spPr>
        <p:txBody>
          <a:bodyPr wrap="square" lIns="0" tIns="0" rIns="0" bIns="0" rtlCol="0" anchor="ctr"/>
          <a:lstStyle/>
          <a:p>
            <a:pPr indent="0" marL="0">
              <a:buNone/>
            </a:pPr>
            <a:r>
              <a:rPr lang="en-US" sz="1400" dirty="0">
                <a:solidFill>
                  <a:srgbClr val="5B7083"/>
                </a:solidFill>
              </a:rPr>
              <a:t>One row per employee</a:t>
            </a:r>
            <a:endParaRPr lang="en-US" sz="1400" dirty="0"/>
          </a:p>
        </p:txBody>
      </p:sp>
      <p:sp>
        <p:nvSpPr>
          <p:cNvPr id="23" name="Shape 18"/>
          <p:cNvSpPr/>
          <p:nvPr/>
        </p:nvSpPr>
        <p:spPr>
          <a:xfrm>
            <a:off x="8641080" y="3035808"/>
            <a:ext cx="2999232" cy="1417320"/>
          </a:xfrm>
          <a:prstGeom prst="roundRect">
            <a:avLst>
              <a:gd name="adj" fmla="val 9032"/>
            </a:avLst>
          </a:prstGeom>
          <a:solidFill>
            <a:schemeClr val="bg1"/>
          </a:solidFill>
          <a:ln w="9525">
            <a:solidFill>
              <a:srgbClr val="D5E3EE"/>
            </a:solidFill>
            <a:prstDash val="solid"/>
          </a:ln>
          <a:effectLst>
            <a:outerShdw sx="100000" sy="100000" kx="0" ky="0" algn="bl" rotWithShape="0" blurRad="127000" dist="38100" dir="5400000">
              <a:srgbClr val="0B2545">
                <a:alpha val="14000"/>
              </a:srgbClr>
            </a:outerShdw>
          </a:effectLst>
        </p:spPr>
      </p:sp>
      <p:sp>
        <p:nvSpPr>
          <p:cNvPr id="24" name="Shape 19"/>
          <p:cNvSpPr/>
          <p:nvPr/>
        </p:nvSpPr>
        <p:spPr>
          <a:xfrm>
            <a:off x="8823960" y="3200400"/>
            <a:ext cx="457200" cy="457200"/>
          </a:xfrm>
          <a:prstGeom prst="ellipse">
            <a:avLst/>
          </a:prstGeom>
          <a:solidFill>
            <a:schemeClr val="accent1"/>
          </a:solidFill>
          <a:ln w="6350">
            <a:solidFill>
              <a:schemeClr val="accent1"/>
            </a:solidFill>
            <a:prstDash val="solid"/>
          </a:ln>
        </p:spPr>
      </p:sp>
      <p:pic>
        <p:nvPicPr>
          <p:cNvPr id="25" name="Image 2" descr="preencoded.png">    </p:cNvPr>
          <p:cNvPicPr>
            <a:picLocks noChangeAspect="1"/>
          </p:cNvPicPr>
          <p:nvPr/>
        </p:nvPicPr>
        <p:blipFill>
          <a:blip r:embed="rId3"/>
          <a:stretch>
            <a:fillRect/>
          </a:stretch>
        </p:blipFill>
        <p:spPr>
          <a:xfrm>
            <a:off x="8933688" y="3310128"/>
            <a:ext cx="237744" cy="237744"/>
          </a:xfrm>
          <a:prstGeom prst="rect">
            <a:avLst/>
          </a:prstGeom>
        </p:spPr>
      </p:pic>
      <p:sp>
        <p:nvSpPr>
          <p:cNvPr id="26" name="Text 20"/>
          <p:cNvSpPr txBox="1"/>
          <p:nvPr/>
        </p:nvSpPr>
        <p:spPr>
          <a:xfrm>
            <a:off x="9418320" y="3172968"/>
            <a:ext cx="2148840" cy="512064"/>
          </a:xfrm>
          <a:prstGeom prst="rect">
            <a:avLst/>
          </a:prstGeom>
          <a:noFill/>
          <a:ln/>
        </p:spPr>
        <p:txBody>
          <a:bodyPr wrap="square" lIns="0" tIns="0" rIns="0" bIns="0" rtlCol="0" anchor="ctr"/>
          <a:lstStyle/>
          <a:p>
            <a:pPr indent="0" marL="0">
              <a:buNone/>
            </a:pPr>
            <a:r>
              <a:rPr lang="en-US" sz="1600" b="1" dirty="0">
                <a:solidFill>
                  <a:schemeClr val="tx1"/>
                </a:solidFill>
              </a:rPr>
              <a:t>Data quality flag</a:t>
            </a:r>
            <a:endParaRPr lang="en-US" sz="1600" dirty="0"/>
          </a:p>
        </p:txBody>
      </p:sp>
      <p:sp>
        <p:nvSpPr>
          <p:cNvPr id="27" name="Text 21"/>
          <p:cNvSpPr txBox="1"/>
          <p:nvPr/>
        </p:nvSpPr>
        <p:spPr>
          <a:xfrm>
            <a:off x="8823960" y="3785616"/>
            <a:ext cx="2697480" cy="594360"/>
          </a:xfrm>
          <a:prstGeom prst="rect">
            <a:avLst/>
          </a:prstGeom>
          <a:noFill/>
          <a:ln/>
        </p:spPr>
        <p:txBody>
          <a:bodyPr wrap="square" lIns="0" tIns="0" rIns="0" bIns="0" rtlCol="0" anchor="ctr"/>
          <a:lstStyle/>
          <a:p>
            <a:pPr indent="0" marL="0">
              <a:buNone/>
            </a:pPr>
            <a:r>
              <a:rPr lang="en-US" sz="1400" dirty="0">
                <a:solidFill>
                  <a:srgbClr val="5B7083"/>
                </a:solidFill>
              </a:rPr>
              <a:t>Shows rows that need care</a:t>
            </a:r>
            <a:endParaRPr lang="en-US" sz="1400" dirty="0"/>
          </a:p>
        </p:txBody>
      </p:sp>
      <p:sp>
        <p:nvSpPr>
          <p:cNvPr id="28" name="Shape 22"/>
          <p:cNvSpPr/>
          <p:nvPr/>
        </p:nvSpPr>
        <p:spPr>
          <a:xfrm>
            <a:off x="8641080" y="4562856"/>
            <a:ext cx="2999232" cy="1417320"/>
          </a:xfrm>
          <a:prstGeom prst="roundRect">
            <a:avLst>
              <a:gd name="adj" fmla="val 9032"/>
            </a:avLst>
          </a:prstGeom>
          <a:solidFill>
            <a:schemeClr val="bg1"/>
          </a:solidFill>
          <a:ln w="9525">
            <a:solidFill>
              <a:srgbClr val="D5E3EE"/>
            </a:solidFill>
            <a:prstDash val="solid"/>
          </a:ln>
          <a:effectLst>
            <a:outerShdw sx="100000" sy="100000" kx="0" ky="0" algn="bl" rotWithShape="0" blurRad="127000" dist="38100" dir="5400000">
              <a:srgbClr val="0B2545">
                <a:alpha val="14000"/>
              </a:srgbClr>
            </a:outerShdw>
          </a:effectLst>
        </p:spPr>
      </p:sp>
      <p:sp>
        <p:nvSpPr>
          <p:cNvPr id="29" name="Shape 23"/>
          <p:cNvSpPr/>
          <p:nvPr/>
        </p:nvSpPr>
        <p:spPr>
          <a:xfrm>
            <a:off x="8823960" y="4727448"/>
            <a:ext cx="457200" cy="457200"/>
          </a:xfrm>
          <a:prstGeom prst="ellipse">
            <a:avLst/>
          </a:prstGeom>
          <a:solidFill>
            <a:schemeClr val="accent1"/>
          </a:solidFill>
          <a:ln w="6350">
            <a:solidFill>
              <a:schemeClr val="accent1"/>
            </a:solidFill>
            <a:prstDash val="solid"/>
          </a:ln>
        </p:spPr>
      </p:sp>
      <p:pic>
        <p:nvPicPr>
          <p:cNvPr id="30" name="Image 3" descr="preencoded.png">    </p:cNvPr>
          <p:cNvPicPr>
            <a:picLocks noChangeAspect="1"/>
          </p:cNvPicPr>
          <p:nvPr/>
        </p:nvPicPr>
        <p:blipFill>
          <a:blip r:embed="rId4"/>
          <a:stretch>
            <a:fillRect/>
          </a:stretch>
        </p:blipFill>
        <p:spPr>
          <a:xfrm>
            <a:off x="8933688" y="4837176"/>
            <a:ext cx="237744" cy="237744"/>
          </a:xfrm>
          <a:prstGeom prst="rect">
            <a:avLst/>
          </a:prstGeom>
        </p:spPr>
      </p:pic>
      <p:sp>
        <p:nvSpPr>
          <p:cNvPr id="31" name="Text 24"/>
          <p:cNvSpPr txBox="1"/>
          <p:nvPr/>
        </p:nvSpPr>
        <p:spPr>
          <a:xfrm>
            <a:off x="9418320" y="4700016"/>
            <a:ext cx="2148840" cy="512064"/>
          </a:xfrm>
          <a:prstGeom prst="rect">
            <a:avLst/>
          </a:prstGeom>
          <a:noFill/>
          <a:ln/>
        </p:spPr>
        <p:txBody>
          <a:bodyPr wrap="square" lIns="0" tIns="0" rIns="0" bIns="0" rtlCol="0" anchor="ctr"/>
          <a:lstStyle/>
          <a:p>
            <a:pPr indent="0" marL="0">
              <a:buNone/>
            </a:pPr>
            <a:r>
              <a:rPr lang="en-US" sz="1600" b="1" dirty="0">
                <a:solidFill>
                  <a:schemeClr val="tx1"/>
                </a:solidFill>
              </a:rPr>
              <a:t>Drill down</a:t>
            </a:r>
            <a:endParaRPr lang="en-US" sz="1600" dirty="0"/>
          </a:p>
        </p:txBody>
      </p:sp>
      <p:sp>
        <p:nvSpPr>
          <p:cNvPr id="32" name="Text 25"/>
          <p:cNvSpPr txBox="1"/>
          <p:nvPr/>
        </p:nvSpPr>
        <p:spPr>
          <a:xfrm>
            <a:off x="8823960" y="5312664"/>
            <a:ext cx="2697480" cy="594360"/>
          </a:xfrm>
          <a:prstGeom prst="rect">
            <a:avLst/>
          </a:prstGeom>
          <a:noFill/>
          <a:ln/>
        </p:spPr>
        <p:txBody>
          <a:bodyPr wrap="square" lIns="0" tIns="0" rIns="0" bIns="0" rtlCol="0" anchor="ctr"/>
          <a:lstStyle/>
          <a:p>
            <a:pPr indent="0" marL="0">
              <a:buNone/>
            </a:pPr>
            <a:r>
              <a:rPr lang="en-US" sz="1400" dirty="0">
                <a:solidFill>
                  <a:srgbClr val="5B7083"/>
                </a:solidFill>
              </a:rPr>
              <a:t>Filter by role or department</a:t>
            </a:r>
            <a:endParaRPr lang="en-US" sz="1400" dirty="0"/>
          </a:p>
        </p:txBody>
      </p:sp>
      <p:sp>
        <p:nvSpPr>
          <p:cNvPr id="33" name="Shape 26"/>
          <p:cNvSpPr/>
          <p:nvPr/>
        </p:nvSpPr>
        <p:spPr>
          <a:xfrm>
            <a:off x="502920" y="6089904"/>
            <a:ext cx="3017520" cy="274320"/>
          </a:xfrm>
          <a:prstGeom prst="roundRect">
            <a:avLst>
              <a:gd name="adj" fmla="val 50000"/>
            </a:avLst>
          </a:prstGeom>
          <a:solidFill>
            <a:schemeClr val="bg2"/>
          </a:solidFill>
          <a:ln w="6350">
            <a:solidFill>
              <a:schemeClr val="accent1"/>
            </a:solidFill>
            <a:prstDash val="solid"/>
          </a:ln>
        </p:spPr>
      </p:sp>
      <p:sp>
        <p:nvSpPr>
          <p:cNvPr id="34" name="Text 27"/>
          <p:cNvSpPr txBox="1"/>
          <p:nvPr/>
        </p:nvSpPr>
        <p:spPr>
          <a:xfrm>
            <a:off x="502920" y="6089904"/>
            <a:ext cx="3017520" cy="274320"/>
          </a:xfrm>
          <a:prstGeom prst="rect">
            <a:avLst/>
          </a:prstGeom>
          <a:noFill/>
          <a:ln/>
        </p:spPr>
        <p:txBody>
          <a:bodyPr wrap="square" lIns="0" tIns="0" rIns="0" bIns="0" rtlCol="0" anchor="ctr"/>
          <a:lstStyle/>
          <a:p>
            <a:pPr algn="ctr" indent="0" marL="0">
              <a:buNone/>
            </a:pPr>
            <a:r>
              <a:rPr lang="en-US" sz="1200" b="1" dirty="0">
                <a:solidFill>
                  <a:schemeClr val="tx2"/>
                </a:solidFill>
              </a:rPr>
              <a:t>←  Back to dashboard overview</a:t>
            </a:r>
            <a:endParaRPr lang="en-US" sz="1200" dirty="0"/>
          </a:p>
        </p:txBody>
      </p:sp>
      <p:pic>
        <p:nvPicPr>
          <p:cNvPr id="35" name="Image 4" descr="preencoded.png">
            <a:hlinkClick r:id="rId6" tooltip="Back to overview" action="ppaction://hlinksldjump"/>
          </p:cNvPr>
          <p:cNvPicPr>
            <a:picLocks noChangeAspect="1"/>
          </p:cNvPicPr>
          <p:nvPr/>
        </p:nvPicPr>
        <p:blipFill>
          <a:blip r:embed="rId5"/>
          <a:stretch>
            <a:fillRect/>
          </a:stretch>
        </p:blipFill>
        <p:spPr>
          <a:xfrm>
            <a:off x="502920" y="6089904"/>
            <a:ext cx="3017520" cy="274320"/>
          </a:xfrm>
          <a:prstGeom prst="rect">
            <a:avLst/>
          </a:prstGeom>
        </p:spPr>
      </p:pic>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9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txBox="1"/>
          <p:nvPr>
            <p:ph idx="101" type="title" hasCustomPrompt="1"/>
          </p:nvPr>
        </p:nvSpPr>
        <p:spPr>
          <a:xfrm>
            <a:off x="548640" y="621792"/>
            <a:ext cx="11091672" cy="731520"/>
          </a:xfrm>
          <a:prstGeom prst="rect">
            <a:avLst/>
          </a:prstGeom>
          <a:noFill/>
          <a:ln/>
        </p:spPr>
        <p:txBody>
          <a:bodyPr wrap="square" lIns="0" tIns="0" rIns="0" bIns="0" rtlCol="0" anchor="ctr"/>
          <a:lstStyle/>
          <a:p>
            <a:pPr algn="l" indent="0" marL="0">
              <a:buNone/>
            </a:pPr>
            <a:r>
              <a:rPr lang="en-US" sz="3600" b="1" dirty="0">
                <a:solidFill>
                  <a:schemeClr val="tx1"/>
                </a:solidFill>
              </a:rPr>
              <a:t>Business Insights</a:t>
            </a:r>
            <a:endParaRPr lang="en-US" sz="3600" dirty="0"/>
          </a:p>
        </p:txBody>
      </p:sp>
      <p:sp>
        <p:nvSpPr>
          <p:cNvPr id="3" name="Text 1"/>
          <p:cNvSpPr txBox="1"/>
          <p:nvPr/>
        </p:nvSpPr>
        <p:spPr>
          <a:xfrm>
            <a:off x="548640" y="329184"/>
            <a:ext cx="77724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STEP 09 OF 11  ·  BUSINESS INSIGHTS</a:t>
            </a:r>
            <a:endParaRPr lang="en-US" sz="1200" dirty="0"/>
          </a:p>
        </p:txBody>
      </p:sp>
      <p:sp>
        <p:nvSpPr>
          <p:cNvPr id="4" name="Shape 2"/>
          <p:cNvSpPr/>
          <p:nvPr/>
        </p:nvSpPr>
        <p:spPr>
          <a:xfrm>
            <a:off x="9166860" y="406908"/>
            <a:ext cx="118872" cy="118872"/>
          </a:xfrm>
          <a:prstGeom prst="ellipse">
            <a:avLst/>
          </a:prstGeom>
          <a:solidFill>
            <a:schemeClr val="accent1"/>
          </a:solidFill>
          <a:ln w="3175">
            <a:solidFill>
              <a:schemeClr val="accent1"/>
            </a:solidFill>
            <a:prstDash val="solid"/>
          </a:ln>
        </p:spPr>
      </p:sp>
      <p:sp>
        <p:nvSpPr>
          <p:cNvPr id="5" name="Shape 3"/>
          <p:cNvSpPr/>
          <p:nvPr/>
        </p:nvSpPr>
        <p:spPr>
          <a:xfrm>
            <a:off x="9399118" y="406908"/>
            <a:ext cx="118872" cy="118872"/>
          </a:xfrm>
          <a:prstGeom prst="ellipse">
            <a:avLst/>
          </a:prstGeom>
          <a:solidFill>
            <a:schemeClr val="accent1"/>
          </a:solidFill>
          <a:ln w="3175">
            <a:solidFill>
              <a:schemeClr val="accent1"/>
            </a:solidFill>
            <a:prstDash val="solid"/>
          </a:ln>
        </p:spPr>
      </p:sp>
      <p:sp>
        <p:nvSpPr>
          <p:cNvPr id="6" name="Shape 4"/>
          <p:cNvSpPr/>
          <p:nvPr/>
        </p:nvSpPr>
        <p:spPr>
          <a:xfrm>
            <a:off x="9631375" y="406908"/>
            <a:ext cx="118872" cy="118872"/>
          </a:xfrm>
          <a:prstGeom prst="ellipse">
            <a:avLst/>
          </a:prstGeom>
          <a:solidFill>
            <a:schemeClr val="accent1"/>
          </a:solidFill>
          <a:ln w="3175">
            <a:solidFill>
              <a:schemeClr val="accent1"/>
            </a:solidFill>
            <a:prstDash val="solid"/>
          </a:ln>
        </p:spPr>
      </p:sp>
      <p:sp>
        <p:nvSpPr>
          <p:cNvPr id="7" name="Shape 5"/>
          <p:cNvSpPr/>
          <p:nvPr/>
        </p:nvSpPr>
        <p:spPr>
          <a:xfrm>
            <a:off x="9863633" y="406908"/>
            <a:ext cx="118872" cy="118872"/>
          </a:xfrm>
          <a:prstGeom prst="ellipse">
            <a:avLst/>
          </a:prstGeom>
          <a:solidFill>
            <a:schemeClr val="accent1"/>
          </a:solidFill>
          <a:ln w="3175">
            <a:solidFill>
              <a:schemeClr val="accent1"/>
            </a:solidFill>
            <a:prstDash val="solid"/>
          </a:ln>
        </p:spPr>
      </p:sp>
      <p:sp>
        <p:nvSpPr>
          <p:cNvPr id="8" name="Shape 6"/>
          <p:cNvSpPr/>
          <p:nvPr/>
        </p:nvSpPr>
        <p:spPr>
          <a:xfrm>
            <a:off x="10095890" y="406908"/>
            <a:ext cx="118872" cy="118872"/>
          </a:xfrm>
          <a:prstGeom prst="ellipse">
            <a:avLst/>
          </a:prstGeom>
          <a:solidFill>
            <a:schemeClr val="accent1"/>
          </a:solidFill>
          <a:ln w="3175">
            <a:solidFill>
              <a:schemeClr val="accent1"/>
            </a:solidFill>
            <a:prstDash val="solid"/>
          </a:ln>
        </p:spPr>
      </p:sp>
      <p:sp>
        <p:nvSpPr>
          <p:cNvPr id="9" name="Shape 7"/>
          <p:cNvSpPr/>
          <p:nvPr/>
        </p:nvSpPr>
        <p:spPr>
          <a:xfrm>
            <a:off x="10328148" y="406908"/>
            <a:ext cx="118872" cy="118872"/>
          </a:xfrm>
          <a:prstGeom prst="ellipse">
            <a:avLst/>
          </a:prstGeom>
          <a:solidFill>
            <a:schemeClr val="accent1"/>
          </a:solidFill>
          <a:ln w="3175">
            <a:solidFill>
              <a:schemeClr val="accent1"/>
            </a:solidFill>
            <a:prstDash val="solid"/>
          </a:ln>
        </p:spPr>
      </p:sp>
      <p:sp>
        <p:nvSpPr>
          <p:cNvPr id="10" name="Shape 8"/>
          <p:cNvSpPr/>
          <p:nvPr/>
        </p:nvSpPr>
        <p:spPr>
          <a:xfrm>
            <a:off x="10560406" y="406908"/>
            <a:ext cx="118872" cy="118872"/>
          </a:xfrm>
          <a:prstGeom prst="ellipse">
            <a:avLst/>
          </a:prstGeom>
          <a:solidFill>
            <a:schemeClr val="accent1"/>
          </a:solidFill>
          <a:ln w="3175">
            <a:solidFill>
              <a:schemeClr val="accent1"/>
            </a:solidFill>
            <a:prstDash val="solid"/>
          </a:ln>
        </p:spPr>
      </p:sp>
      <p:sp>
        <p:nvSpPr>
          <p:cNvPr id="11" name="Shape 9"/>
          <p:cNvSpPr/>
          <p:nvPr/>
        </p:nvSpPr>
        <p:spPr>
          <a:xfrm>
            <a:off x="10792663" y="406908"/>
            <a:ext cx="118872" cy="118872"/>
          </a:xfrm>
          <a:prstGeom prst="ellipse">
            <a:avLst/>
          </a:prstGeom>
          <a:solidFill>
            <a:schemeClr val="accent1"/>
          </a:solidFill>
          <a:ln w="3175">
            <a:solidFill>
              <a:schemeClr val="accent1"/>
            </a:solidFill>
            <a:prstDash val="solid"/>
          </a:ln>
        </p:spPr>
      </p:sp>
      <p:sp>
        <p:nvSpPr>
          <p:cNvPr id="12" name="Shape 10"/>
          <p:cNvSpPr/>
          <p:nvPr/>
        </p:nvSpPr>
        <p:spPr>
          <a:xfrm>
            <a:off x="10992917" y="374904"/>
            <a:ext cx="182880" cy="182880"/>
          </a:xfrm>
          <a:prstGeom prst="ellipse">
            <a:avLst/>
          </a:prstGeom>
          <a:solidFill>
            <a:schemeClr val="accent3"/>
          </a:solidFill>
          <a:ln w="3175">
            <a:solidFill>
              <a:schemeClr val="accent3"/>
            </a:solidFill>
            <a:prstDash val="solid"/>
          </a:ln>
        </p:spPr>
      </p:sp>
      <p:sp>
        <p:nvSpPr>
          <p:cNvPr id="13" name="Shape 11"/>
          <p:cNvSpPr/>
          <p:nvPr/>
        </p:nvSpPr>
        <p:spPr>
          <a:xfrm>
            <a:off x="11257178" y="406908"/>
            <a:ext cx="118872" cy="118872"/>
          </a:xfrm>
          <a:prstGeom prst="ellipse">
            <a:avLst/>
          </a:prstGeom>
          <a:solidFill>
            <a:srgbClr val="C4D3DF"/>
          </a:solidFill>
          <a:ln w="3175">
            <a:solidFill>
              <a:srgbClr val="C4D3DF"/>
            </a:solidFill>
            <a:prstDash val="solid"/>
          </a:ln>
        </p:spPr>
      </p:sp>
      <p:sp>
        <p:nvSpPr>
          <p:cNvPr id="14" name="Shape 12"/>
          <p:cNvSpPr/>
          <p:nvPr/>
        </p:nvSpPr>
        <p:spPr>
          <a:xfrm>
            <a:off x="11489436" y="406908"/>
            <a:ext cx="118872" cy="118872"/>
          </a:xfrm>
          <a:prstGeom prst="ellipse">
            <a:avLst/>
          </a:prstGeom>
          <a:solidFill>
            <a:srgbClr val="C4D3DF"/>
          </a:solidFill>
          <a:ln w="3175">
            <a:solidFill>
              <a:srgbClr val="C4D3DF"/>
            </a:solidFill>
            <a:prstDash val="solid"/>
          </a:ln>
        </p:spPr>
      </p:sp>
      <p:sp>
        <p:nvSpPr>
          <p:cNvPr id="16" name="Shape 13"/>
          <p:cNvSpPr/>
          <p:nvPr/>
        </p:nvSpPr>
        <p:spPr>
          <a:xfrm>
            <a:off x="548640" y="1554480"/>
            <a:ext cx="6035040" cy="914400"/>
          </a:xfrm>
          <a:prstGeom prst="roundRect">
            <a:avLst>
              <a:gd name="adj" fmla="val 14000"/>
            </a:avLst>
          </a:prstGeom>
          <a:solidFill>
            <a:schemeClr val="bg1"/>
          </a:solidFill>
          <a:ln w="9525">
            <a:solidFill>
              <a:srgbClr val="D5E3EE"/>
            </a:solidFill>
            <a:prstDash val="solid"/>
          </a:ln>
          <a:effectLst>
            <a:outerShdw sx="100000" sy="100000" kx="0" ky="0" algn="bl" rotWithShape="0" blurRad="127000" dist="38100" dir="5400000">
              <a:srgbClr val="0B2545">
                <a:alpha val="14000"/>
              </a:srgbClr>
            </a:outerShdw>
          </a:effectLst>
        </p:spPr>
      </p:sp>
      <p:sp>
        <p:nvSpPr>
          <p:cNvPr id="17" name="Shape 14"/>
          <p:cNvSpPr/>
          <p:nvPr/>
        </p:nvSpPr>
        <p:spPr>
          <a:xfrm>
            <a:off x="731520" y="1691640"/>
            <a:ext cx="640080" cy="640080"/>
          </a:xfrm>
          <a:prstGeom prst="ellipse">
            <a:avLst/>
          </a:prstGeom>
          <a:solidFill>
            <a:schemeClr val="accent1"/>
          </a:solidFill>
          <a:ln w="6350">
            <a:solidFill>
              <a:schemeClr val="accent1"/>
            </a:solidFill>
            <a:prstDash val="solid"/>
          </a:ln>
        </p:spPr>
      </p:sp>
      <p:pic>
        <p:nvPicPr>
          <p:cNvPr id="18" name="Image 0" descr="preencoded.png">    </p:cNvPr>
          <p:cNvPicPr>
            <a:picLocks noChangeAspect="1"/>
          </p:cNvPicPr>
          <p:nvPr/>
        </p:nvPicPr>
        <p:blipFill>
          <a:blip r:embed="rId1"/>
          <a:stretch>
            <a:fillRect/>
          </a:stretch>
        </p:blipFill>
        <p:spPr>
          <a:xfrm>
            <a:off x="885139" y="1845259"/>
            <a:ext cx="332842" cy="332842"/>
          </a:xfrm>
          <a:prstGeom prst="rect">
            <a:avLst/>
          </a:prstGeom>
        </p:spPr>
      </p:pic>
      <p:sp>
        <p:nvSpPr>
          <p:cNvPr id="19" name="Text 15"/>
          <p:cNvSpPr txBox="1"/>
          <p:nvPr/>
        </p:nvSpPr>
        <p:spPr>
          <a:xfrm>
            <a:off x="1600200" y="1664208"/>
            <a:ext cx="4846320" cy="347472"/>
          </a:xfrm>
          <a:prstGeom prst="rect">
            <a:avLst/>
          </a:prstGeom>
          <a:noFill/>
          <a:ln/>
        </p:spPr>
        <p:txBody>
          <a:bodyPr wrap="square" lIns="0" tIns="0" rIns="0" bIns="0" rtlCol="0" anchor="ctr"/>
          <a:lstStyle/>
          <a:p>
            <a:pPr indent="0" marL="0">
              <a:buNone/>
            </a:pPr>
            <a:r>
              <a:rPr lang="en-US" sz="1800" b="1" dirty="0">
                <a:solidFill>
                  <a:schemeClr val="tx1"/>
                </a:solidFill>
              </a:rPr>
              <a:t>Attrition is about 50% everywhere</a:t>
            </a:r>
            <a:endParaRPr lang="en-US" sz="1800" dirty="0"/>
          </a:p>
        </p:txBody>
      </p:sp>
      <p:sp>
        <p:nvSpPr>
          <p:cNvPr id="20" name="Text 16"/>
          <p:cNvSpPr txBox="1"/>
          <p:nvPr/>
        </p:nvSpPr>
        <p:spPr>
          <a:xfrm>
            <a:off x="1600200" y="2048256"/>
            <a:ext cx="4846320" cy="320040"/>
          </a:xfrm>
          <a:prstGeom prst="rect">
            <a:avLst/>
          </a:prstGeom>
          <a:noFill/>
          <a:ln/>
        </p:spPr>
        <p:txBody>
          <a:bodyPr wrap="square" lIns="0" tIns="0" rIns="0" bIns="0" rtlCol="0" anchor="ctr"/>
          <a:lstStyle/>
          <a:p>
            <a:pPr indent="0" marL="0">
              <a:buNone/>
            </a:pPr>
            <a:r>
              <a:rPr lang="en-US" sz="1400" dirty="0">
                <a:solidFill>
                  <a:srgbClr val="5B7083"/>
                </a:solidFill>
              </a:rPr>
              <a:t>Same in every department, role, age and tenure group.</a:t>
            </a:r>
            <a:endParaRPr lang="en-US" sz="1400" dirty="0"/>
          </a:p>
        </p:txBody>
      </p:sp>
      <p:sp>
        <p:nvSpPr>
          <p:cNvPr id="21" name="Shape 17"/>
          <p:cNvSpPr/>
          <p:nvPr/>
        </p:nvSpPr>
        <p:spPr>
          <a:xfrm>
            <a:off x="548640" y="2651760"/>
            <a:ext cx="6035040" cy="914400"/>
          </a:xfrm>
          <a:prstGeom prst="roundRect">
            <a:avLst>
              <a:gd name="adj" fmla="val 14000"/>
            </a:avLst>
          </a:prstGeom>
          <a:solidFill>
            <a:schemeClr val="bg1"/>
          </a:solidFill>
          <a:ln w="9525">
            <a:solidFill>
              <a:srgbClr val="D5E3EE"/>
            </a:solidFill>
            <a:prstDash val="solid"/>
          </a:ln>
          <a:effectLst>
            <a:outerShdw sx="100000" sy="100000" kx="0" ky="0" algn="bl" rotWithShape="0" blurRad="127000" dist="38100" dir="5400000">
              <a:srgbClr val="0B2545">
                <a:alpha val="14000"/>
              </a:srgbClr>
            </a:outerShdw>
          </a:effectLst>
        </p:spPr>
      </p:sp>
      <p:sp>
        <p:nvSpPr>
          <p:cNvPr id="22" name="Shape 18"/>
          <p:cNvSpPr/>
          <p:nvPr/>
        </p:nvSpPr>
        <p:spPr>
          <a:xfrm>
            <a:off x="731520" y="2788920"/>
            <a:ext cx="640080" cy="640080"/>
          </a:xfrm>
          <a:prstGeom prst="ellipse">
            <a:avLst/>
          </a:prstGeom>
          <a:solidFill>
            <a:schemeClr val="accent1"/>
          </a:solidFill>
          <a:ln w="6350">
            <a:solidFill>
              <a:schemeClr val="accent1"/>
            </a:solidFill>
            <a:prstDash val="solid"/>
          </a:ln>
        </p:spPr>
      </p:sp>
      <p:pic>
        <p:nvPicPr>
          <p:cNvPr id="23" name="Image 1" descr="preencoded.png">    </p:cNvPr>
          <p:cNvPicPr>
            <a:picLocks noChangeAspect="1"/>
          </p:cNvPicPr>
          <p:nvPr/>
        </p:nvPicPr>
        <p:blipFill>
          <a:blip r:embed="rId2"/>
          <a:stretch>
            <a:fillRect/>
          </a:stretch>
        </p:blipFill>
        <p:spPr>
          <a:xfrm>
            <a:off x="885139" y="2942539"/>
            <a:ext cx="332842" cy="332842"/>
          </a:xfrm>
          <a:prstGeom prst="rect">
            <a:avLst/>
          </a:prstGeom>
        </p:spPr>
      </p:pic>
      <p:sp>
        <p:nvSpPr>
          <p:cNvPr id="24" name="Text 19"/>
          <p:cNvSpPr txBox="1"/>
          <p:nvPr/>
        </p:nvSpPr>
        <p:spPr>
          <a:xfrm>
            <a:off x="1600200" y="2761488"/>
            <a:ext cx="4846320" cy="347472"/>
          </a:xfrm>
          <a:prstGeom prst="rect">
            <a:avLst/>
          </a:prstGeom>
          <a:noFill/>
          <a:ln/>
        </p:spPr>
        <p:txBody>
          <a:bodyPr wrap="square" lIns="0" tIns="0" rIns="0" bIns="0" rtlCol="0" anchor="ctr"/>
          <a:lstStyle/>
          <a:p>
            <a:pPr indent="0" marL="0">
              <a:buNone/>
            </a:pPr>
            <a:r>
              <a:rPr lang="en-US" sz="1800" b="1" dirty="0">
                <a:solidFill>
                  <a:schemeClr val="tx1"/>
                </a:solidFill>
              </a:rPr>
              <a:t>No overtime left slightly more</a:t>
            </a:r>
            <a:endParaRPr lang="en-US" sz="1800" dirty="0"/>
          </a:p>
        </p:txBody>
      </p:sp>
      <p:sp>
        <p:nvSpPr>
          <p:cNvPr id="25" name="Text 20"/>
          <p:cNvSpPr txBox="1"/>
          <p:nvPr/>
        </p:nvSpPr>
        <p:spPr>
          <a:xfrm>
            <a:off x="1600200" y="3145536"/>
            <a:ext cx="4846320" cy="320040"/>
          </a:xfrm>
          <a:prstGeom prst="rect">
            <a:avLst/>
          </a:prstGeom>
          <a:noFill/>
          <a:ln/>
        </p:spPr>
        <p:txBody>
          <a:bodyPr wrap="square" lIns="0" tIns="0" rIns="0" bIns="0" rtlCol="0" anchor="ctr"/>
          <a:lstStyle/>
          <a:p>
            <a:pPr indent="0" marL="0">
              <a:buNone/>
            </a:pPr>
            <a:r>
              <a:rPr lang="en-US" sz="1400" dirty="0">
                <a:solidFill>
                  <a:srgbClr val="5B7083"/>
                </a:solidFill>
              </a:rPr>
              <a:t>53.1% without overtime vs 48.1% with overtime.</a:t>
            </a:r>
            <a:endParaRPr lang="en-US" sz="1400" dirty="0"/>
          </a:p>
        </p:txBody>
      </p:sp>
      <p:sp>
        <p:nvSpPr>
          <p:cNvPr id="26" name="Shape 21"/>
          <p:cNvSpPr/>
          <p:nvPr/>
        </p:nvSpPr>
        <p:spPr>
          <a:xfrm>
            <a:off x="548640" y="3749040"/>
            <a:ext cx="6035040" cy="914400"/>
          </a:xfrm>
          <a:prstGeom prst="roundRect">
            <a:avLst>
              <a:gd name="adj" fmla="val 14000"/>
            </a:avLst>
          </a:prstGeom>
          <a:solidFill>
            <a:schemeClr val="bg1"/>
          </a:solidFill>
          <a:ln w="9525">
            <a:solidFill>
              <a:srgbClr val="D5E3EE"/>
            </a:solidFill>
            <a:prstDash val="solid"/>
          </a:ln>
          <a:effectLst>
            <a:outerShdw sx="100000" sy="100000" kx="0" ky="0" algn="bl" rotWithShape="0" blurRad="127000" dist="38100" dir="5400000">
              <a:srgbClr val="0B2545">
                <a:alpha val="14000"/>
              </a:srgbClr>
            </a:outerShdw>
          </a:effectLst>
        </p:spPr>
      </p:sp>
      <p:sp>
        <p:nvSpPr>
          <p:cNvPr id="27" name="Shape 22"/>
          <p:cNvSpPr/>
          <p:nvPr/>
        </p:nvSpPr>
        <p:spPr>
          <a:xfrm>
            <a:off x="731520" y="3886200"/>
            <a:ext cx="640080" cy="640080"/>
          </a:xfrm>
          <a:prstGeom prst="ellipse">
            <a:avLst/>
          </a:prstGeom>
          <a:solidFill>
            <a:schemeClr val="accent3"/>
          </a:solidFill>
          <a:ln w="6350">
            <a:solidFill>
              <a:schemeClr val="accent3"/>
            </a:solidFill>
            <a:prstDash val="solid"/>
          </a:ln>
        </p:spPr>
      </p:sp>
      <p:pic>
        <p:nvPicPr>
          <p:cNvPr id="28" name="Image 2" descr="preencoded.png">    </p:cNvPr>
          <p:cNvPicPr>
            <a:picLocks noChangeAspect="1"/>
          </p:cNvPicPr>
          <p:nvPr/>
        </p:nvPicPr>
        <p:blipFill>
          <a:blip r:embed="rId3"/>
          <a:stretch>
            <a:fillRect/>
          </a:stretch>
        </p:blipFill>
        <p:spPr>
          <a:xfrm>
            <a:off x="885139" y="4039819"/>
            <a:ext cx="332842" cy="332842"/>
          </a:xfrm>
          <a:prstGeom prst="rect">
            <a:avLst/>
          </a:prstGeom>
        </p:spPr>
      </p:pic>
      <p:sp>
        <p:nvSpPr>
          <p:cNvPr id="29" name="Text 23"/>
          <p:cNvSpPr txBox="1"/>
          <p:nvPr/>
        </p:nvSpPr>
        <p:spPr>
          <a:xfrm>
            <a:off x="1600200" y="3858768"/>
            <a:ext cx="4846320" cy="347472"/>
          </a:xfrm>
          <a:prstGeom prst="rect">
            <a:avLst/>
          </a:prstGeom>
          <a:noFill/>
          <a:ln/>
        </p:spPr>
        <p:txBody>
          <a:bodyPr wrap="square" lIns="0" tIns="0" rIns="0" bIns="0" rtlCol="0" anchor="ctr"/>
          <a:lstStyle/>
          <a:p>
            <a:pPr indent="0" marL="0">
              <a:buNone/>
            </a:pPr>
            <a:r>
              <a:rPr lang="en-US" sz="1800" b="1" dirty="0">
                <a:solidFill>
                  <a:schemeClr val="tx1"/>
                </a:solidFill>
              </a:rPr>
              <a:t>Executives earn less than Managers</a:t>
            </a:r>
            <a:endParaRPr lang="en-US" sz="1800" dirty="0"/>
          </a:p>
        </p:txBody>
      </p:sp>
      <p:sp>
        <p:nvSpPr>
          <p:cNvPr id="30" name="Text 24"/>
          <p:cNvSpPr txBox="1"/>
          <p:nvPr/>
        </p:nvSpPr>
        <p:spPr>
          <a:xfrm>
            <a:off x="1600200" y="4242816"/>
            <a:ext cx="4846320" cy="320040"/>
          </a:xfrm>
          <a:prstGeom prst="rect">
            <a:avLst/>
          </a:prstGeom>
          <a:noFill/>
          <a:ln/>
        </p:spPr>
        <p:txBody>
          <a:bodyPr wrap="square" lIns="0" tIns="0" rIns="0" bIns="0" rtlCol="0" anchor="ctr"/>
          <a:lstStyle/>
          <a:p>
            <a:pPr indent="0" marL="0">
              <a:buNone/>
            </a:pPr>
            <a:r>
              <a:rPr lang="en-US" sz="1400" dirty="0">
                <a:solidFill>
                  <a:srgbClr val="5B7083"/>
                </a:solidFill>
              </a:rPr>
              <a:t>3,516 vs 9,505 per month. This is unusual.</a:t>
            </a:r>
            <a:endParaRPr lang="en-US" sz="1400" dirty="0"/>
          </a:p>
        </p:txBody>
      </p:sp>
      <p:sp>
        <p:nvSpPr>
          <p:cNvPr id="31" name="Shape 25"/>
          <p:cNvSpPr/>
          <p:nvPr/>
        </p:nvSpPr>
        <p:spPr>
          <a:xfrm>
            <a:off x="548640" y="4846320"/>
            <a:ext cx="6035040" cy="914400"/>
          </a:xfrm>
          <a:prstGeom prst="roundRect">
            <a:avLst>
              <a:gd name="adj" fmla="val 14000"/>
            </a:avLst>
          </a:prstGeom>
          <a:solidFill>
            <a:schemeClr val="bg1"/>
          </a:solidFill>
          <a:ln w="9525">
            <a:solidFill>
              <a:srgbClr val="D5E3EE"/>
            </a:solidFill>
            <a:prstDash val="solid"/>
          </a:ln>
          <a:effectLst>
            <a:outerShdw sx="100000" sy="100000" kx="0" ky="0" algn="bl" rotWithShape="0" blurRad="127000" dist="38100" dir="5400000">
              <a:srgbClr val="0B2545">
                <a:alpha val="14000"/>
              </a:srgbClr>
            </a:outerShdw>
          </a:effectLst>
        </p:spPr>
      </p:sp>
      <p:sp>
        <p:nvSpPr>
          <p:cNvPr id="32" name="Shape 26"/>
          <p:cNvSpPr/>
          <p:nvPr/>
        </p:nvSpPr>
        <p:spPr>
          <a:xfrm>
            <a:off x="731520" y="4983480"/>
            <a:ext cx="640080" cy="640080"/>
          </a:xfrm>
          <a:prstGeom prst="ellipse">
            <a:avLst/>
          </a:prstGeom>
          <a:solidFill>
            <a:schemeClr val="accent1"/>
          </a:solidFill>
          <a:ln w="6350">
            <a:solidFill>
              <a:schemeClr val="accent1"/>
            </a:solidFill>
            <a:prstDash val="solid"/>
          </a:ln>
        </p:spPr>
      </p:sp>
      <p:pic>
        <p:nvPicPr>
          <p:cNvPr id="33" name="Image 3" descr="preencoded.png">    </p:cNvPr>
          <p:cNvPicPr>
            <a:picLocks noChangeAspect="1"/>
          </p:cNvPicPr>
          <p:nvPr/>
        </p:nvPicPr>
        <p:blipFill>
          <a:blip r:embed="rId4"/>
          <a:stretch>
            <a:fillRect/>
          </a:stretch>
        </p:blipFill>
        <p:spPr>
          <a:xfrm>
            <a:off x="885139" y="5137099"/>
            <a:ext cx="332842" cy="332842"/>
          </a:xfrm>
          <a:prstGeom prst="rect">
            <a:avLst/>
          </a:prstGeom>
        </p:spPr>
      </p:pic>
      <p:sp>
        <p:nvSpPr>
          <p:cNvPr id="34" name="Text 27"/>
          <p:cNvSpPr txBox="1"/>
          <p:nvPr/>
        </p:nvSpPr>
        <p:spPr>
          <a:xfrm>
            <a:off x="1600200" y="4956048"/>
            <a:ext cx="4846320" cy="347472"/>
          </a:xfrm>
          <a:prstGeom prst="rect">
            <a:avLst/>
          </a:prstGeom>
          <a:noFill/>
          <a:ln/>
        </p:spPr>
        <p:txBody>
          <a:bodyPr wrap="square" lIns="0" tIns="0" rIns="0" bIns="0" rtlCol="0" anchor="ctr"/>
          <a:lstStyle/>
          <a:p>
            <a:pPr indent="0" marL="0">
              <a:buNone/>
            </a:pPr>
            <a:r>
              <a:rPr lang="en-US" sz="1800" b="1" dirty="0">
                <a:solidFill>
                  <a:schemeClr val="tx1"/>
                </a:solidFill>
              </a:rPr>
              <a:t>Almost no link between scores</a:t>
            </a:r>
            <a:endParaRPr lang="en-US" sz="1800" dirty="0"/>
          </a:p>
        </p:txBody>
      </p:sp>
      <p:sp>
        <p:nvSpPr>
          <p:cNvPr id="35" name="Text 28"/>
          <p:cNvSpPr txBox="1"/>
          <p:nvPr/>
        </p:nvSpPr>
        <p:spPr>
          <a:xfrm>
            <a:off x="1600200" y="5340096"/>
            <a:ext cx="4846320" cy="320040"/>
          </a:xfrm>
          <a:prstGeom prst="rect">
            <a:avLst/>
          </a:prstGeom>
          <a:noFill/>
          <a:ln/>
        </p:spPr>
        <p:txBody>
          <a:bodyPr wrap="square" lIns="0" tIns="0" rIns="0" bIns="0" rtlCol="0" anchor="ctr"/>
          <a:lstStyle/>
          <a:p>
            <a:pPr indent="0" marL="0">
              <a:buNone/>
            </a:pPr>
            <a:r>
              <a:rPr lang="en-US" sz="1400" dirty="0">
                <a:solidFill>
                  <a:srgbClr val="5B7083"/>
                </a:solidFill>
              </a:rPr>
              <a:t>Performance, income and satisfaction barely relate.</a:t>
            </a:r>
            <a:endParaRPr lang="en-US" sz="1400" dirty="0"/>
          </a:p>
        </p:txBody>
      </p:sp>
      <p:sp>
        <p:nvSpPr>
          <p:cNvPr id="36" name="Shape 29"/>
          <p:cNvSpPr/>
          <p:nvPr/>
        </p:nvSpPr>
        <p:spPr>
          <a:xfrm>
            <a:off x="6858000" y="1554480"/>
            <a:ext cx="4782312" cy="4297680"/>
          </a:xfrm>
          <a:prstGeom prst="roundRect">
            <a:avLst>
              <a:gd name="adj" fmla="val 2979"/>
            </a:avLst>
          </a:prstGeom>
          <a:solidFill>
            <a:schemeClr val="bg1"/>
          </a:solidFill>
          <a:ln w="9525">
            <a:solidFill>
              <a:srgbClr val="D5E3EE"/>
            </a:solidFill>
            <a:prstDash val="solid"/>
          </a:ln>
          <a:effectLst>
            <a:outerShdw sx="100000" sy="100000" kx="0" ky="0" algn="bl" rotWithShape="0" blurRad="127000" dist="38100" dir="5400000">
              <a:srgbClr val="0B2545">
                <a:alpha val="14000"/>
              </a:srgbClr>
            </a:outerShdw>
          </a:effectLst>
        </p:spPr>
      </p:sp>
      <p:sp>
        <p:nvSpPr>
          <p:cNvPr id="37" name="Text 30"/>
          <p:cNvSpPr txBox="1"/>
          <p:nvPr/>
        </p:nvSpPr>
        <p:spPr>
          <a:xfrm>
            <a:off x="7132320" y="1691640"/>
            <a:ext cx="4297680" cy="365760"/>
          </a:xfrm>
          <a:prstGeom prst="rect">
            <a:avLst/>
          </a:prstGeom>
          <a:noFill/>
          <a:ln/>
        </p:spPr>
        <p:txBody>
          <a:bodyPr wrap="square" lIns="0" tIns="0" rIns="0" bIns="0" rtlCol="0" anchor="ctr"/>
          <a:lstStyle/>
          <a:p>
            <a:pPr indent="0" marL="0">
              <a:buNone/>
            </a:pPr>
            <a:r>
              <a:rPr lang="en-US" sz="1800" b="1" dirty="0">
                <a:solidFill>
                  <a:schemeClr val="tx1"/>
                </a:solidFill>
              </a:rPr>
              <a:t>Average monthly income by role</a:t>
            </a:r>
            <a:endParaRPr lang="en-US" sz="1800" dirty="0"/>
          </a:p>
        </p:txBody>
      </p:sp>
      <p:graphicFrame>
        <p:nvGraphicFramePr>
          <p:cNvPr id="38" name="Chart 0" descr=""/>
          <p:cNvGraphicFramePr/>
          <p:nvPr/>
        </p:nvGraphicFramePr>
        <p:xfrm>
          <a:off x="6995160" y="2103120"/>
          <a:ext cx="4526280" cy="3749040"/>
        </p:xfrm>
        <a:graphic xmlns:a="http://schemas.openxmlformats.org/drawingml/2006/main">
          <a:graphicData uri="http://schemas.openxmlformats.org/drawingml/2006/chart">
            <c:chart xmlns:c="http://schemas.openxmlformats.org/drawingml/2006/chart" r:id="rId5"/>
          </a:graphicData>
        </a:graphic>
      </p:graphicFrame>
      <p:sp>
        <p:nvSpPr>
          <p:cNvPr id="39" name="Shape 31"/>
          <p:cNvSpPr/>
          <p:nvPr/>
        </p:nvSpPr>
        <p:spPr>
          <a:xfrm>
            <a:off x="548640" y="6053328"/>
            <a:ext cx="11091672" cy="310896"/>
          </a:xfrm>
          <a:prstGeom prst="roundRect">
            <a:avLst>
              <a:gd name="adj" fmla="val 50000"/>
            </a:avLst>
          </a:prstGeom>
          <a:solidFill>
            <a:schemeClr val="bg2"/>
          </a:solidFill>
          <a:ln w="6350">
            <a:solidFill>
              <a:schemeClr val="accent1"/>
            </a:solidFill>
            <a:prstDash val="solid"/>
          </a:ln>
        </p:spPr>
      </p:sp>
      <p:sp>
        <p:nvSpPr>
          <p:cNvPr id="40" name="Text 32"/>
          <p:cNvSpPr txBox="1"/>
          <p:nvPr/>
        </p:nvSpPr>
        <p:spPr>
          <a:xfrm>
            <a:off x="548640" y="6053328"/>
            <a:ext cx="11091672" cy="310896"/>
          </a:xfrm>
          <a:prstGeom prst="rect">
            <a:avLst/>
          </a:prstGeom>
          <a:noFill/>
          <a:ln/>
        </p:spPr>
        <p:txBody>
          <a:bodyPr wrap="square" lIns="0" tIns="0" rIns="0" bIns="0" rtlCol="0" anchor="ctr"/>
          <a:lstStyle/>
          <a:p>
            <a:pPr algn="ctr" indent="0" marL="0">
              <a:buNone/>
            </a:pPr>
            <a:r>
              <a:rPr lang="en-US" sz="1200" b="1" dirty="0">
                <a:solidFill>
                  <a:schemeClr val="tx2"/>
                </a:solidFill>
              </a:rPr>
              <a:t>Note: the data looks synthetic, so this is a portfolio project, not a real HR study.</a:t>
            </a:r>
            <a:endParaRPr lang="en-US" sz="12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9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txBox="1"/>
          <p:nvPr>
            <p:ph idx="101" type="title" hasCustomPrompt="1"/>
          </p:nvPr>
        </p:nvSpPr>
        <p:spPr>
          <a:xfrm>
            <a:off x="548640" y="621792"/>
            <a:ext cx="11091672" cy="731520"/>
          </a:xfrm>
          <a:prstGeom prst="rect">
            <a:avLst/>
          </a:prstGeom>
          <a:noFill/>
          <a:ln/>
        </p:spPr>
        <p:txBody>
          <a:bodyPr wrap="square" lIns="0" tIns="0" rIns="0" bIns="0" rtlCol="0" anchor="ctr"/>
          <a:lstStyle/>
          <a:p>
            <a:pPr algn="l" indent="0" marL="0">
              <a:buNone/>
            </a:pPr>
            <a:r>
              <a:rPr lang="en-US" sz="3600" b="1" dirty="0">
                <a:solidFill>
                  <a:schemeClr val="tx1"/>
                </a:solidFill>
              </a:rPr>
              <a:t>Publish to Power BI</a:t>
            </a:r>
            <a:endParaRPr lang="en-US" sz="3600" dirty="0"/>
          </a:p>
        </p:txBody>
      </p:sp>
      <p:sp>
        <p:nvSpPr>
          <p:cNvPr id="3" name="Text 1"/>
          <p:cNvSpPr txBox="1"/>
          <p:nvPr/>
        </p:nvSpPr>
        <p:spPr>
          <a:xfrm>
            <a:off x="548640" y="329184"/>
            <a:ext cx="77724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STEP 10 OF 11  ·  PUBLISH TO POWER BI</a:t>
            </a:r>
            <a:endParaRPr lang="en-US" sz="1200" dirty="0"/>
          </a:p>
        </p:txBody>
      </p:sp>
      <p:sp>
        <p:nvSpPr>
          <p:cNvPr id="4" name="Shape 2"/>
          <p:cNvSpPr/>
          <p:nvPr/>
        </p:nvSpPr>
        <p:spPr>
          <a:xfrm>
            <a:off x="9166860" y="406908"/>
            <a:ext cx="118872" cy="118872"/>
          </a:xfrm>
          <a:prstGeom prst="ellipse">
            <a:avLst/>
          </a:prstGeom>
          <a:solidFill>
            <a:schemeClr val="accent1"/>
          </a:solidFill>
          <a:ln w="3175">
            <a:solidFill>
              <a:schemeClr val="accent1"/>
            </a:solidFill>
            <a:prstDash val="solid"/>
          </a:ln>
        </p:spPr>
      </p:sp>
      <p:sp>
        <p:nvSpPr>
          <p:cNvPr id="5" name="Shape 3"/>
          <p:cNvSpPr/>
          <p:nvPr/>
        </p:nvSpPr>
        <p:spPr>
          <a:xfrm>
            <a:off x="9399118" y="406908"/>
            <a:ext cx="118872" cy="118872"/>
          </a:xfrm>
          <a:prstGeom prst="ellipse">
            <a:avLst/>
          </a:prstGeom>
          <a:solidFill>
            <a:schemeClr val="accent1"/>
          </a:solidFill>
          <a:ln w="3175">
            <a:solidFill>
              <a:schemeClr val="accent1"/>
            </a:solidFill>
            <a:prstDash val="solid"/>
          </a:ln>
        </p:spPr>
      </p:sp>
      <p:sp>
        <p:nvSpPr>
          <p:cNvPr id="6" name="Shape 4"/>
          <p:cNvSpPr/>
          <p:nvPr/>
        </p:nvSpPr>
        <p:spPr>
          <a:xfrm>
            <a:off x="9631375" y="406908"/>
            <a:ext cx="118872" cy="118872"/>
          </a:xfrm>
          <a:prstGeom prst="ellipse">
            <a:avLst/>
          </a:prstGeom>
          <a:solidFill>
            <a:schemeClr val="accent1"/>
          </a:solidFill>
          <a:ln w="3175">
            <a:solidFill>
              <a:schemeClr val="accent1"/>
            </a:solidFill>
            <a:prstDash val="solid"/>
          </a:ln>
        </p:spPr>
      </p:sp>
      <p:sp>
        <p:nvSpPr>
          <p:cNvPr id="7" name="Shape 5"/>
          <p:cNvSpPr/>
          <p:nvPr/>
        </p:nvSpPr>
        <p:spPr>
          <a:xfrm>
            <a:off x="9863633" y="406908"/>
            <a:ext cx="118872" cy="118872"/>
          </a:xfrm>
          <a:prstGeom prst="ellipse">
            <a:avLst/>
          </a:prstGeom>
          <a:solidFill>
            <a:schemeClr val="accent1"/>
          </a:solidFill>
          <a:ln w="3175">
            <a:solidFill>
              <a:schemeClr val="accent1"/>
            </a:solidFill>
            <a:prstDash val="solid"/>
          </a:ln>
        </p:spPr>
      </p:sp>
      <p:sp>
        <p:nvSpPr>
          <p:cNvPr id="8" name="Shape 6"/>
          <p:cNvSpPr/>
          <p:nvPr/>
        </p:nvSpPr>
        <p:spPr>
          <a:xfrm>
            <a:off x="10095890" y="406908"/>
            <a:ext cx="118872" cy="118872"/>
          </a:xfrm>
          <a:prstGeom prst="ellipse">
            <a:avLst/>
          </a:prstGeom>
          <a:solidFill>
            <a:schemeClr val="accent1"/>
          </a:solidFill>
          <a:ln w="3175">
            <a:solidFill>
              <a:schemeClr val="accent1"/>
            </a:solidFill>
            <a:prstDash val="solid"/>
          </a:ln>
        </p:spPr>
      </p:sp>
      <p:sp>
        <p:nvSpPr>
          <p:cNvPr id="9" name="Shape 7"/>
          <p:cNvSpPr/>
          <p:nvPr/>
        </p:nvSpPr>
        <p:spPr>
          <a:xfrm>
            <a:off x="10328148" y="406908"/>
            <a:ext cx="118872" cy="118872"/>
          </a:xfrm>
          <a:prstGeom prst="ellipse">
            <a:avLst/>
          </a:prstGeom>
          <a:solidFill>
            <a:schemeClr val="accent1"/>
          </a:solidFill>
          <a:ln w="3175">
            <a:solidFill>
              <a:schemeClr val="accent1"/>
            </a:solidFill>
            <a:prstDash val="solid"/>
          </a:ln>
        </p:spPr>
      </p:sp>
      <p:sp>
        <p:nvSpPr>
          <p:cNvPr id="10" name="Shape 8"/>
          <p:cNvSpPr/>
          <p:nvPr/>
        </p:nvSpPr>
        <p:spPr>
          <a:xfrm>
            <a:off x="10560406" y="406908"/>
            <a:ext cx="118872" cy="118872"/>
          </a:xfrm>
          <a:prstGeom prst="ellipse">
            <a:avLst/>
          </a:prstGeom>
          <a:solidFill>
            <a:schemeClr val="accent1"/>
          </a:solidFill>
          <a:ln w="3175">
            <a:solidFill>
              <a:schemeClr val="accent1"/>
            </a:solidFill>
            <a:prstDash val="solid"/>
          </a:ln>
        </p:spPr>
      </p:sp>
      <p:sp>
        <p:nvSpPr>
          <p:cNvPr id="11" name="Shape 9"/>
          <p:cNvSpPr/>
          <p:nvPr/>
        </p:nvSpPr>
        <p:spPr>
          <a:xfrm>
            <a:off x="10792663" y="406908"/>
            <a:ext cx="118872" cy="118872"/>
          </a:xfrm>
          <a:prstGeom prst="ellipse">
            <a:avLst/>
          </a:prstGeom>
          <a:solidFill>
            <a:schemeClr val="accent1"/>
          </a:solidFill>
          <a:ln w="3175">
            <a:solidFill>
              <a:schemeClr val="accent1"/>
            </a:solidFill>
            <a:prstDash val="solid"/>
          </a:ln>
        </p:spPr>
      </p:sp>
      <p:sp>
        <p:nvSpPr>
          <p:cNvPr id="12" name="Shape 10"/>
          <p:cNvSpPr/>
          <p:nvPr/>
        </p:nvSpPr>
        <p:spPr>
          <a:xfrm>
            <a:off x="11024921" y="406908"/>
            <a:ext cx="118872" cy="118872"/>
          </a:xfrm>
          <a:prstGeom prst="ellipse">
            <a:avLst/>
          </a:prstGeom>
          <a:solidFill>
            <a:schemeClr val="accent1"/>
          </a:solidFill>
          <a:ln w="3175">
            <a:solidFill>
              <a:schemeClr val="accent1"/>
            </a:solidFill>
            <a:prstDash val="solid"/>
          </a:ln>
        </p:spPr>
      </p:sp>
      <p:sp>
        <p:nvSpPr>
          <p:cNvPr id="13" name="Shape 11"/>
          <p:cNvSpPr/>
          <p:nvPr/>
        </p:nvSpPr>
        <p:spPr>
          <a:xfrm>
            <a:off x="11225174" y="374904"/>
            <a:ext cx="182880" cy="182880"/>
          </a:xfrm>
          <a:prstGeom prst="ellipse">
            <a:avLst/>
          </a:prstGeom>
          <a:solidFill>
            <a:schemeClr val="accent3"/>
          </a:solidFill>
          <a:ln w="3175">
            <a:solidFill>
              <a:schemeClr val="accent3"/>
            </a:solidFill>
            <a:prstDash val="solid"/>
          </a:ln>
        </p:spPr>
      </p:sp>
      <p:sp>
        <p:nvSpPr>
          <p:cNvPr id="14" name="Shape 12"/>
          <p:cNvSpPr/>
          <p:nvPr/>
        </p:nvSpPr>
        <p:spPr>
          <a:xfrm>
            <a:off x="11489436" y="406908"/>
            <a:ext cx="118872" cy="118872"/>
          </a:xfrm>
          <a:prstGeom prst="ellipse">
            <a:avLst/>
          </a:prstGeom>
          <a:solidFill>
            <a:srgbClr val="C4D3DF"/>
          </a:solidFill>
          <a:ln w="3175">
            <a:solidFill>
              <a:srgbClr val="C4D3DF"/>
            </a:solidFill>
            <a:prstDash val="solid"/>
          </a:ln>
        </p:spPr>
      </p:sp>
      <p:sp>
        <p:nvSpPr>
          <p:cNvPr id="16" name="Shape 13"/>
          <p:cNvSpPr/>
          <p:nvPr/>
        </p:nvSpPr>
        <p:spPr>
          <a:xfrm>
            <a:off x="891540" y="2011680"/>
            <a:ext cx="0" cy="3566160"/>
          </a:xfrm>
          <a:prstGeom prst="line">
            <a:avLst/>
          </a:prstGeom>
          <a:noFill/>
          <a:ln w="25400">
            <a:solidFill>
              <a:srgbClr val="2E86AB"/>
            </a:solidFill>
            <a:prstDash val="dash"/>
          </a:ln>
        </p:spPr>
      </p:sp>
      <p:sp>
        <p:nvSpPr>
          <p:cNvPr id="17" name="Shape 14"/>
          <p:cNvSpPr/>
          <p:nvPr/>
        </p:nvSpPr>
        <p:spPr>
          <a:xfrm>
            <a:off x="548640" y="1554480"/>
            <a:ext cx="6309360" cy="1024128"/>
          </a:xfrm>
          <a:prstGeom prst="roundRect">
            <a:avLst>
              <a:gd name="adj" fmla="val 12500"/>
            </a:avLst>
          </a:prstGeom>
          <a:solidFill>
            <a:schemeClr val="bg1"/>
          </a:solidFill>
          <a:ln w="9525">
            <a:solidFill>
              <a:srgbClr val="D5E3EE"/>
            </a:solidFill>
            <a:prstDash val="solid"/>
          </a:ln>
          <a:effectLst>
            <a:outerShdw sx="100000" sy="100000" kx="0" ky="0" algn="bl" rotWithShape="0" blurRad="127000" dist="38100" dir="5400000">
              <a:srgbClr val="0B2545">
                <a:alpha val="14000"/>
              </a:srgbClr>
            </a:outerShdw>
          </a:effectLst>
        </p:spPr>
      </p:sp>
      <p:sp>
        <p:nvSpPr>
          <p:cNvPr id="18" name="Shape 15"/>
          <p:cNvSpPr/>
          <p:nvPr/>
        </p:nvSpPr>
        <p:spPr>
          <a:xfrm>
            <a:off x="685800" y="1792224"/>
            <a:ext cx="548640" cy="548640"/>
          </a:xfrm>
          <a:prstGeom prst="ellipse">
            <a:avLst/>
          </a:prstGeom>
          <a:solidFill>
            <a:schemeClr val="accent1"/>
          </a:solidFill>
          <a:ln w="25400">
            <a:solidFill>
              <a:schemeClr val="bg1"/>
            </a:solidFill>
            <a:prstDash val="solid"/>
          </a:ln>
        </p:spPr>
      </p:sp>
      <p:sp>
        <p:nvSpPr>
          <p:cNvPr id="19" name="Text 16"/>
          <p:cNvSpPr txBox="1"/>
          <p:nvPr/>
        </p:nvSpPr>
        <p:spPr>
          <a:xfrm>
            <a:off x="685800" y="1792224"/>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20" name="Text 17"/>
          <p:cNvSpPr txBox="1"/>
          <p:nvPr/>
        </p:nvSpPr>
        <p:spPr>
          <a:xfrm>
            <a:off x="1508760" y="1709928"/>
            <a:ext cx="5120640" cy="365760"/>
          </a:xfrm>
          <a:prstGeom prst="rect">
            <a:avLst/>
          </a:prstGeom>
          <a:noFill/>
          <a:ln/>
        </p:spPr>
        <p:txBody>
          <a:bodyPr wrap="square" lIns="0" tIns="0" rIns="0" bIns="0" rtlCol="0" anchor="ctr"/>
          <a:lstStyle/>
          <a:p>
            <a:pPr indent="0" marL="0">
              <a:buNone/>
            </a:pPr>
            <a:r>
              <a:rPr lang="en-US" sz="2000" b="1" dirty="0">
                <a:solidFill>
                  <a:schemeClr val="tx1"/>
                </a:solidFill>
              </a:rPr>
              <a:t>Save the report</a:t>
            </a:r>
            <a:endParaRPr lang="en-US" sz="2000" dirty="0"/>
          </a:p>
        </p:txBody>
      </p:sp>
      <p:sp>
        <p:nvSpPr>
          <p:cNvPr id="21" name="Text 18"/>
          <p:cNvSpPr txBox="1"/>
          <p:nvPr/>
        </p:nvSpPr>
        <p:spPr>
          <a:xfrm>
            <a:off x="1508760" y="2103120"/>
            <a:ext cx="5120640" cy="320040"/>
          </a:xfrm>
          <a:prstGeom prst="rect">
            <a:avLst/>
          </a:prstGeom>
          <a:noFill/>
          <a:ln/>
        </p:spPr>
        <p:txBody>
          <a:bodyPr wrap="square" lIns="0" tIns="0" rIns="0" bIns="0" rtlCol="0" anchor="ctr"/>
          <a:lstStyle/>
          <a:p>
            <a:pPr indent="0" marL="0">
              <a:buNone/>
            </a:pPr>
            <a:r>
              <a:rPr lang="en-US" sz="1400" dirty="0">
                <a:solidFill>
                  <a:srgbClr val="5B7083"/>
                </a:solidFill>
              </a:rPr>
              <a:t>HR_Analytics_Dashboard.pbix</a:t>
            </a:r>
            <a:endParaRPr lang="en-US" sz="1400" dirty="0"/>
          </a:p>
        </p:txBody>
      </p:sp>
      <p:sp>
        <p:nvSpPr>
          <p:cNvPr id="22" name="Shape 19"/>
          <p:cNvSpPr/>
          <p:nvPr/>
        </p:nvSpPr>
        <p:spPr>
          <a:xfrm>
            <a:off x="548640" y="2761488"/>
            <a:ext cx="6309360" cy="1024128"/>
          </a:xfrm>
          <a:prstGeom prst="roundRect">
            <a:avLst>
              <a:gd name="adj" fmla="val 12500"/>
            </a:avLst>
          </a:prstGeom>
          <a:solidFill>
            <a:schemeClr val="bg1"/>
          </a:solidFill>
          <a:ln w="9525">
            <a:solidFill>
              <a:srgbClr val="D5E3EE"/>
            </a:solidFill>
            <a:prstDash val="solid"/>
          </a:ln>
          <a:effectLst>
            <a:outerShdw sx="100000" sy="100000" kx="0" ky="0" algn="bl" rotWithShape="0" blurRad="127000" dist="38100" dir="5400000">
              <a:srgbClr val="0B2545">
                <a:alpha val="14000"/>
              </a:srgbClr>
            </a:outerShdw>
          </a:effectLst>
        </p:spPr>
      </p:sp>
      <p:sp>
        <p:nvSpPr>
          <p:cNvPr id="23" name="Shape 20"/>
          <p:cNvSpPr/>
          <p:nvPr/>
        </p:nvSpPr>
        <p:spPr>
          <a:xfrm>
            <a:off x="685800" y="2999232"/>
            <a:ext cx="548640" cy="548640"/>
          </a:xfrm>
          <a:prstGeom prst="ellipse">
            <a:avLst/>
          </a:prstGeom>
          <a:solidFill>
            <a:schemeClr val="accent1"/>
          </a:solidFill>
          <a:ln w="25400">
            <a:solidFill>
              <a:schemeClr val="bg1"/>
            </a:solidFill>
            <a:prstDash val="solid"/>
          </a:ln>
        </p:spPr>
      </p:sp>
      <p:sp>
        <p:nvSpPr>
          <p:cNvPr id="24" name="Text 21"/>
          <p:cNvSpPr txBox="1"/>
          <p:nvPr/>
        </p:nvSpPr>
        <p:spPr>
          <a:xfrm>
            <a:off x="685800" y="2999232"/>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25" name="Text 22"/>
          <p:cNvSpPr txBox="1"/>
          <p:nvPr/>
        </p:nvSpPr>
        <p:spPr>
          <a:xfrm>
            <a:off x="1508760" y="2916936"/>
            <a:ext cx="5120640" cy="365760"/>
          </a:xfrm>
          <a:prstGeom prst="rect">
            <a:avLst/>
          </a:prstGeom>
          <a:noFill/>
          <a:ln/>
        </p:spPr>
        <p:txBody>
          <a:bodyPr wrap="square" lIns="0" tIns="0" rIns="0" bIns="0" rtlCol="0" anchor="ctr"/>
          <a:lstStyle/>
          <a:p>
            <a:pPr indent="0" marL="0">
              <a:buNone/>
            </a:pPr>
            <a:r>
              <a:rPr lang="en-US" sz="2000" b="1" dirty="0">
                <a:solidFill>
                  <a:schemeClr val="tx1"/>
                </a:solidFill>
              </a:rPr>
              <a:t>Publish</a:t>
            </a:r>
            <a:endParaRPr lang="en-US" sz="2000" dirty="0"/>
          </a:p>
        </p:txBody>
      </p:sp>
      <p:sp>
        <p:nvSpPr>
          <p:cNvPr id="26" name="Text 23"/>
          <p:cNvSpPr txBox="1"/>
          <p:nvPr/>
        </p:nvSpPr>
        <p:spPr>
          <a:xfrm>
            <a:off x="1508760" y="3310128"/>
            <a:ext cx="5120640" cy="320040"/>
          </a:xfrm>
          <a:prstGeom prst="rect">
            <a:avLst/>
          </a:prstGeom>
          <a:noFill/>
          <a:ln/>
        </p:spPr>
        <p:txBody>
          <a:bodyPr wrap="square" lIns="0" tIns="0" rIns="0" bIns="0" rtlCol="0" anchor="ctr"/>
          <a:lstStyle/>
          <a:p>
            <a:pPr indent="0" marL="0">
              <a:buNone/>
            </a:pPr>
            <a:r>
              <a:rPr lang="en-US" sz="1400" dirty="0">
                <a:solidFill>
                  <a:srgbClr val="5B7083"/>
                </a:solidFill>
              </a:rPr>
              <a:t>Home → Publish, then sign in</a:t>
            </a:r>
            <a:endParaRPr lang="en-US" sz="1400" dirty="0"/>
          </a:p>
        </p:txBody>
      </p:sp>
      <p:sp>
        <p:nvSpPr>
          <p:cNvPr id="27" name="Shape 24"/>
          <p:cNvSpPr/>
          <p:nvPr/>
        </p:nvSpPr>
        <p:spPr>
          <a:xfrm>
            <a:off x="548640" y="3968496"/>
            <a:ext cx="6309360" cy="1024128"/>
          </a:xfrm>
          <a:prstGeom prst="roundRect">
            <a:avLst>
              <a:gd name="adj" fmla="val 12500"/>
            </a:avLst>
          </a:prstGeom>
          <a:solidFill>
            <a:schemeClr val="bg1"/>
          </a:solidFill>
          <a:ln w="9525">
            <a:solidFill>
              <a:srgbClr val="D5E3EE"/>
            </a:solidFill>
            <a:prstDash val="solid"/>
          </a:ln>
          <a:effectLst>
            <a:outerShdw sx="100000" sy="100000" kx="0" ky="0" algn="bl" rotWithShape="0" blurRad="127000" dist="38100" dir="5400000">
              <a:srgbClr val="0B2545">
                <a:alpha val="14000"/>
              </a:srgbClr>
            </a:outerShdw>
          </a:effectLst>
        </p:spPr>
      </p:sp>
      <p:sp>
        <p:nvSpPr>
          <p:cNvPr id="28" name="Shape 25"/>
          <p:cNvSpPr/>
          <p:nvPr/>
        </p:nvSpPr>
        <p:spPr>
          <a:xfrm>
            <a:off x="685800" y="4206240"/>
            <a:ext cx="548640" cy="548640"/>
          </a:xfrm>
          <a:prstGeom prst="ellipse">
            <a:avLst/>
          </a:prstGeom>
          <a:solidFill>
            <a:schemeClr val="accent1"/>
          </a:solidFill>
          <a:ln w="25400">
            <a:solidFill>
              <a:schemeClr val="bg1"/>
            </a:solidFill>
            <a:prstDash val="solid"/>
          </a:ln>
        </p:spPr>
      </p:sp>
      <p:sp>
        <p:nvSpPr>
          <p:cNvPr id="29" name="Text 26"/>
          <p:cNvSpPr txBox="1"/>
          <p:nvPr/>
        </p:nvSpPr>
        <p:spPr>
          <a:xfrm>
            <a:off x="685800" y="42062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30" name="Text 27"/>
          <p:cNvSpPr txBox="1"/>
          <p:nvPr/>
        </p:nvSpPr>
        <p:spPr>
          <a:xfrm>
            <a:off x="1508760" y="4123944"/>
            <a:ext cx="5120640" cy="365760"/>
          </a:xfrm>
          <a:prstGeom prst="rect">
            <a:avLst/>
          </a:prstGeom>
          <a:noFill/>
          <a:ln/>
        </p:spPr>
        <p:txBody>
          <a:bodyPr wrap="square" lIns="0" tIns="0" rIns="0" bIns="0" rtlCol="0" anchor="ctr"/>
          <a:lstStyle/>
          <a:p>
            <a:pPr indent="0" marL="0">
              <a:buNone/>
            </a:pPr>
            <a:r>
              <a:rPr lang="en-US" sz="2000" b="1" dirty="0">
                <a:solidFill>
                  <a:schemeClr val="tx1"/>
                </a:solidFill>
              </a:rPr>
              <a:t>Choose a workspace</a:t>
            </a:r>
            <a:endParaRPr lang="en-US" sz="2000" dirty="0"/>
          </a:p>
        </p:txBody>
      </p:sp>
      <p:sp>
        <p:nvSpPr>
          <p:cNvPr id="31" name="Text 28"/>
          <p:cNvSpPr txBox="1"/>
          <p:nvPr/>
        </p:nvSpPr>
        <p:spPr>
          <a:xfrm>
            <a:off x="1508760" y="4517136"/>
            <a:ext cx="5120640" cy="320040"/>
          </a:xfrm>
          <a:prstGeom prst="rect">
            <a:avLst/>
          </a:prstGeom>
          <a:noFill/>
          <a:ln/>
        </p:spPr>
        <p:txBody>
          <a:bodyPr wrap="square" lIns="0" tIns="0" rIns="0" bIns="0" rtlCol="0" anchor="ctr"/>
          <a:lstStyle/>
          <a:p>
            <a:pPr indent="0" marL="0">
              <a:buNone/>
            </a:pPr>
            <a:r>
              <a:rPr lang="en-US" sz="1400" dirty="0">
                <a:solidFill>
                  <a:srgbClr val="5B7083"/>
                </a:solidFill>
              </a:rPr>
              <a:t>Pick My workspace or a team one</a:t>
            </a:r>
            <a:endParaRPr lang="en-US" sz="1400" dirty="0"/>
          </a:p>
        </p:txBody>
      </p:sp>
      <p:sp>
        <p:nvSpPr>
          <p:cNvPr id="32" name="Shape 29"/>
          <p:cNvSpPr/>
          <p:nvPr/>
        </p:nvSpPr>
        <p:spPr>
          <a:xfrm>
            <a:off x="548640" y="5175504"/>
            <a:ext cx="6309360" cy="1024128"/>
          </a:xfrm>
          <a:prstGeom prst="roundRect">
            <a:avLst>
              <a:gd name="adj" fmla="val 12500"/>
            </a:avLst>
          </a:prstGeom>
          <a:solidFill>
            <a:schemeClr val="bg1"/>
          </a:solidFill>
          <a:ln w="9525">
            <a:solidFill>
              <a:srgbClr val="D5E3EE"/>
            </a:solidFill>
            <a:prstDash val="solid"/>
          </a:ln>
          <a:effectLst>
            <a:outerShdw sx="100000" sy="100000" kx="0" ky="0" algn="bl" rotWithShape="0" blurRad="127000" dist="38100" dir="5400000">
              <a:srgbClr val="0B2545">
                <a:alpha val="14000"/>
              </a:srgbClr>
            </a:outerShdw>
          </a:effectLst>
        </p:spPr>
      </p:sp>
      <p:sp>
        <p:nvSpPr>
          <p:cNvPr id="33" name="Shape 30"/>
          <p:cNvSpPr/>
          <p:nvPr/>
        </p:nvSpPr>
        <p:spPr>
          <a:xfrm>
            <a:off x="685800" y="5413248"/>
            <a:ext cx="548640" cy="548640"/>
          </a:xfrm>
          <a:prstGeom prst="ellipse">
            <a:avLst/>
          </a:prstGeom>
          <a:solidFill>
            <a:schemeClr val="accent3"/>
          </a:solidFill>
          <a:ln w="25400">
            <a:solidFill>
              <a:schemeClr val="bg1"/>
            </a:solidFill>
            <a:prstDash val="solid"/>
          </a:ln>
        </p:spPr>
      </p:sp>
      <p:sp>
        <p:nvSpPr>
          <p:cNvPr id="34" name="Text 31"/>
          <p:cNvSpPr txBox="1"/>
          <p:nvPr/>
        </p:nvSpPr>
        <p:spPr>
          <a:xfrm>
            <a:off x="685800" y="5413248"/>
            <a:ext cx="548640" cy="548640"/>
          </a:xfrm>
          <a:prstGeom prst="rect">
            <a:avLst/>
          </a:prstGeom>
          <a:noFill/>
          <a:ln/>
        </p:spPr>
        <p:txBody>
          <a:bodyPr wrap="square" lIns="0" tIns="0" rIns="0" bIns="0" rtlCol="0" anchor="ctr"/>
          <a:lstStyle/>
          <a:p>
            <a:pPr algn="ctr" indent="0" marL="0">
              <a:buNone/>
            </a:pPr>
            <a:r>
              <a:rPr lang="en-US" sz="2000" b="1" dirty="0">
                <a:solidFill>
                  <a:schemeClr val="tx1"/>
                </a:solidFill>
              </a:rPr>
              <a:t>4</a:t>
            </a:r>
            <a:endParaRPr lang="en-US" sz="2000" dirty="0"/>
          </a:p>
        </p:txBody>
      </p:sp>
      <p:sp>
        <p:nvSpPr>
          <p:cNvPr id="35" name="Text 32"/>
          <p:cNvSpPr txBox="1"/>
          <p:nvPr/>
        </p:nvSpPr>
        <p:spPr>
          <a:xfrm>
            <a:off x="1508760" y="5330952"/>
            <a:ext cx="5120640" cy="365760"/>
          </a:xfrm>
          <a:prstGeom prst="rect">
            <a:avLst/>
          </a:prstGeom>
          <a:noFill/>
          <a:ln/>
        </p:spPr>
        <p:txBody>
          <a:bodyPr wrap="square" lIns="0" tIns="0" rIns="0" bIns="0" rtlCol="0" anchor="ctr"/>
          <a:lstStyle/>
          <a:p>
            <a:pPr indent="0" marL="0">
              <a:buNone/>
            </a:pPr>
            <a:r>
              <a:rPr lang="en-US" sz="2000" b="1" dirty="0">
                <a:solidFill>
                  <a:schemeClr val="tx1"/>
                </a:solidFill>
              </a:rPr>
              <a:t>Open and share</a:t>
            </a:r>
            <a:endParaRPr lang="en-US" sz="2000" dirty="0"/>
          </a:p>
        </p:txBody>
      </p:sp>
      <p:sp>
        <p:nvSpPr>
          <p:cNvPr id="36" name="Text 33"/>
          <p:cNvSpPr txBox="1"/>
          <p:nvPr/>
        </p:nvSpPr>
        <p:spPr>
          <a:xfrm>
            <a:off x="1508760" y="5724144"/>
            <a:ext cx="5120640" cy="320040"/>
          </a:xfrm>
          <a:prstGeom prst="rect">
            <a:avLst/>
          </a:prstGeom>
          <a:noFill/>
          <a:ln/>
        </p:spPr>
        <p:txBody>
          <a:bodyPr wrap="square" lIns="0" tIns="0" rIns="0" bIns="0" rtlCol="0" anchor="ctr"/>
          <a:lstStyle/>
          <a:p>
            <a:pPr indent="0" marL="0">
              <a:buNone/>
            </a:pPr>
            <a:r>
              <a:rPr lang="en-US" sz="1400" dirty="0">
                <a:solidFill>
                  <a:srgbClr val="5B7083"/>
                </a:solidFill>
              </a:rPr>
              <a:t>Open the report online, share the link</a:t>
            </a:r>
            <a:endParaRPr lang="en-US" sz="1400" dirty="0"/>
          </a:p>
        </p:txBody>
      </p:sp>
      <p:sp>
        <p:nvSpPr>
          <p:cNvPr id="37" name="Shape 34"/>
          <p:cNvSpPr/>
          <p:nvPr/>
        </p:nvSpPr>
        <p:spPr>
          <a:xfrm>
            <a:off x="7223760" y="1554480"/>
            <a:ext cx="4416552" cy="4663440"/>
          </a:xfrm>
          <a:prstGeom prst="roundRect">
            <a:avLst>
              <a:gd name="adj" fmla="val 3313"/>
            </a:avLst>
          </a:prstGeom>
          <a:solidFill>
            <a:schemeClr val="tx1"/>
          </a:solidFill>
          <a:ln w="9525">
            <a:solidFill>
              <a:schemeClr val="tx2"/>
            </a:solidFill>
            <a:prstDash val="solid"/>
          </a:ln>
          <a:effectLst>
            <a:outerShdw sx="100000" sy="100000" kx="0" ky="0" algn="bl" rotWithShape="0" blurRad="127000" dist="38100" dir="5400000">
              <a:srgbClr val="0B2545">
                <a:alpha val="14000"/>
              </a:srgbClr>
            </a:outerShdw>
          </a:effectLst>
        </p:spPr>
      </p:sp>
      <p:sp>
        <p:nvSpPr>
          <p:cNvPr id="38" name="Shape 35"/>
          <p:cNvSpPr/>
          <p:nvPr/>
        </p:nvSpPr>
        <p:spPr>
          <a:xfrm>
            <a:off x="8412480" y="1874520"/>
            <a:ext cx="2011680" cy="2011680"/>
          </a:xfrm>
          <a:prstGeom prst="ellipse">
            <a:avLst/>
          </a:prstGeom>
          <a:solidFill>
            <a:schemeClr val="tx2"/>
          </a:solidFill>
          <a:ln w="38100">
            <a:solidFill>
              <a:schemeClr val="accent2"/>
            </a:solidFill>
            <a:prstDash val="solid"/>
          </a:ln>
        </p:spPr>
      </p:sp>
      <p:pic>
        <p:nvPicPr>
          <p:cNvPr id="39" name="Image 0" descr="preencoded.png">    </p:cNvPr>
          <p:cNvPicPr>
            <a:picLocks noChangeAspect="1"/>
          </p:cNvPicPr>
          <p:nvPr/>
        </p:nvPicPr>
        <p:blipFill>
          <a:blip r:embed="rId1"/>
          <a:stretch>
            <a:fillRect/>
          </a:stretch>
        </p:blipFill>
        <p:spPr>
          <a:xfrm>
            <a:off x="8869680" y="2377440"/>
            <a:ext cx="1097280" cy="1005840"/>
          </a:xfrm>
          <a:prstGeom prst="rect">
            <a:avLst/>
          </a:prstGeom>
        </p:spPr>
      </p:pic>
      <p:sp>
        <p:nvSpPr>
          <p:cNvPr id="40" name="Text 36"/>
          <p:cNvSpPr txBox="1"/>
          <p:nvPr/>
        </p:nvSpPr>
        <p:spPr>
          <a:xfrm>
            <a:off x="7498080" y="4069080"/>
            <a:ext cx="3867912" cy="457200"/>
          </a:xfrm>
          <a:prstGeom prst="rect">
            <a:avLst/>
          </a:prstGeom>
          <a:noFill/>
          <a:ln/>
        </p:spPr>
        <p:txBody>
          <a:bodyPr wrap="square" lIns="0" tIns="0" rIns="0" bIns="0" rtlCol="0" anchor="ctr"/>
          <a:lstStyle/>
          <a:p>
            <a:pPr algn="ctr" indent="0" marL="0">
              <a:buNone/>
            </a:pPr>
            <a:r>
              <a:rPr lang="en-US" sz="2400" b="1" dirty="0">
                <a:solidFill>
                  <a:schemeClr val="bg1"/>
                </a:solidFill>
              </a:rPr>
              <a:t>Power BI Service</a:t>
            </a:r>
            <a:endParaRPr lang="en-US" sz="2400" dirty="0"/>
          </a:p>
        </p:txBody>
      </p:sp>
      <p:sp>
        <p:nvSpPr>
          <p:cNvPr id="41" name="Shape 37"/>
          <p:cNvSpPr/>
          <p:nvPr/>
        </p:nvSpPr>
        <p:spPr>
          <a:xfrm>
            <a:off x="7772400" y="4709160"/>
            <a:ext cx="3319272" cy="365760"/>
          </a:xfrm>
          <a:prstGeom prst="roundRect">
            <a:avLst>
              <a:gd name="adj" fmla="val 50000"/>
            </a:avLst>
          </a:prstGeom>
          <a:solidFill>
            <a:schemeClr val="tx2"/>
          </a:solidFill>
          <a:ln w="6350">
            <a:solidFill>
              <a:schemeClr val="accent1"/>
            </a:solidFill>
            <a:prstDash val="solid"/>
          </a:ln>
        </p:spPr>
      </p:sp>
      <p:sp>
        <p:nvSpPr>
          <p:cNvPr id="42" name="Text 38"/>
          <p:cNvSpPr txBox="1"/>
          <p:nvPr/>
        </p:nvSpPr>
        <p:spPr>
          <a:xfrm>
            <a:off x="7772400" y="4709160"/>
            <a:ext cx="3319272" cy="365760"/>
          </a:xfrm>
          <a:prstGeom prst="rect">
            <a:avLst/>
          </a:prstGeom>
          <a:noFill/>
          <a:ln/>
        </p:spPr>
        <p:txBody>
          <a:bodyPr wrap="square" lIns="0" tIns="0" rIns="0" bIns="0" rtlCol="0" anchor="ctr"/>
          <a:lstStyle/>
          <a:p>
            <a:pPr algn="ctr" indent="0" marL="0">
              <a:buNone/>
            </a:pPr>
            <a:r>
              <a:rPr lang="en-US" sz="1400" b="1" dirty="0">
                <a:solidFill>
                  <a:schemeClr val="bg1"/>
                </a:solidFill>
              </a:rPr>
              <a:t>Interactive slicers</a:t>
            </a:r>
            <a:endParaRPr lang="en-US" sz="1400" dirty="0"/>
          </a:p>
        </p:txBody>
      </p:sp>
      <p:sp>
        <p:nvSpPr>
          <p:cNvPr id="43" name="Shape 39"/>
          <p:cNvSpPr/>
          <p:nvPr/>
        </p:nvSpPr>
        <p:spPr>
          <a:xfrm>
            <a:off x="7772400" y="5166360"/>
            <a:ext cx="3319272" cy="365760"/>
          </a:xfrm>
          <a:prstGeom prst="roundRect">
            <a:avLst>
              <a:gd name="adj" fmla="val 50000"/>
            </a:avLst>
          </a:prstGeom>
          <a:solidFill>
            <a:schemeClr val="tx2"/>
          </a:solidFill>
          <a:ln w="6350">
            <a:solidFill>
              <a:schemeClr val="accent1"/>
            </a:solidFill>
            <a:prstDash val="solid"/>
          </a:ln>
        </p:spPr>
      </p:sp>
      <p:sp>
        <p:nvSpPr>
          <p:cNvPr id="44" name="Text 40"/>
          <p:cNvSpPr txBox="1"/>
          <p:nvPr/>
        </p:nvSpPr>
        <p:spPr>
          <a:xfrm>
            <a:off x="7772400" y="5166360"/>
            <a:ext cx="3319272" cy="365760"/>
          </a:xfrm>
          <a:prstGeom prst="rect">
            <a:avLst/>
          </a:prstGeom>
          <a:noFill/>
          <a:ln/>
        </p:spPr>
        <p:txBody>
          <a:bodyPr wrap="square" lIns="0" tIns="0" rIns="0" bIns="0" rtlCol="0" anchor="ctr"/>
          <a:lstStyle/>
          <a:p>
            <a:pPr algn="ctr" indent="0" marL="0">
              <a:buNone/>
            </a:pPr>
            <a:r>
              <a:rPr lang="en-US" sz="1400" b="1" dirty="0">
                <a:solidFill>
                  <a:schemeClr val="bg1"/>
                </a:solidFill>
              </a:rPr>
              <a:t>Cross-filtering visuals</a:t>
            </a:r>
            <a:endParaRPr lang="en-US" sz="1400" dirty="0"/>
          </a:p>
        </p:txBody>
      </p:sp>
      <p:sp>
        <p:nvSpPr>
          <p:cNvPr id="45" name="Shape 41"/>
          <p:cNvSpPr/>
          <p:nvPr/>
        </p:nvSpPr>
        <p:spPr>
          <a:xfrm>
            <a:off x="7772400" y="5623560"/>
            <a:ext cx="3319272" cy="365760"/>
          </a:xfrm>
          <a:prstGeom prst="roundRect">
            <a:avLst>
              <a:gd name="adj" fmla="val 50000"/>
            </a:avLst>
          </a:prstGeom>
          <a:solidFill>
            <a:schemeClr val="tx2"/>
          </a:solidFill>
          <a:ln w="6350">
            <a:solidFill>
              <a:schemeClr val="accent1"/>
            </a:solidFill>
            <a:prstDash val="solid"/>
          </a:ln>
        </p:spPr>
      </p:sp>
      <p:sp>
        <p:nvSpPr>
          <p:cNvPr id="46" name="Text 42"/>
          <p:cNvSpPr txBox="1"/>
          <p:nvPr/>
        </p:nvSpPr>
        <p:spPr>
          <a:xfrm>
            <a:off x="7772400" y="5623560"/>
            <a:ext cx="3319272" cy="365760"/>
          </a:xfrm>
          <a:prstGeom prst="rect">
            <a:avLst/>
          </a:prstGeom>
          <a:noFill/>
          <a:ln/>
        </p:spPr>
        <p:txBody>
          <a:bodyPr wrap="square" lIns="0" tIns="0" rIns="0" bIns="0" rtlCol="0" anchor="ctr"/>
          <a:lstStyle/>
          <a:p>
            <a:pPr algn="ctr" indent="0" marL="0">
              <a:buNone/>
            </a:pPr>
            <a:r>
              <a:rPr lang="en-US" sz="1400" b="1" dirty="0">
                <a:solidFill>
                  <a:schemeClr val="bg1"/>
                </a:solidFill>
              </a:rPr>
              <a:t>Shareable link</a:t>
            </a:r>
            <a:endParaRPr lang="en-US" sz="14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9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txBox="1"/>
          <p:nvPr>
            <p:ph idx="101" type="title" hasCustomPrompt="1"/>
          </p:nvPr>
        </p:nvSpPr>
        <p:spPr>
          <a:xfrm>
            <a:off x="548640" y="621792"/>
            <a:ext cx="11091672" cy="731520"/>
          </a:xfrm>
          <a:prstGeom prst="rect">
            <a:avLst/>
          </a:prstGeom>
          <a:noFill/>
          <a:ln/>
        </p:spPr>
        <p:txBody>
          <a:bodyPr wrap="square" lIns="0" tIns="0" rIns="0" bIns="0" rtlCol="0" anchor="ctr"/>
          <a:lstStyle/>
          <a:p>
            <a:pPr algn="l" indent="0" marL="0">
              <a:buNone/>
            </a:pPr>
            <a:r>
              <a:rPr lang="en-US" sz="3600" b="1" dirty="0">
                <a:solidFill>
                  <a:schemeClr val="tx1"/>
                </a:solidFill>
              </a:rPr>
              <a:t>GitHub Documentation</a:t>
            </a:r>
            <a:endParaRPr lang="en-US" sz="3600" dirty="0"/>
          </a:p>
        </p:txBody>
      </p:sp>
      <p:sp>
        <p:nvSpPr>
          <p:cNvPr id="3" name="Text 1"/>
          <p:cNvSpPr txBox="1"/>
          <p:nvPr/>
        </p:nvSpPr>
        <p:spPr>
          <a:xfrm>
            <a:off x="548640" y="329184"/>
            <a:ext cx="77724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STEP 11 OF 11  ·  GITHUB DOCUMENTATION</a:t>
            </a:r>
            <a:endParaRPr lang="en-US" sz="1200" dirty="0"/>
          </a:p>
        </p:txBody>
      </p:sp>
      <p:sp>
        <p:nvSpPr>
          <p:cNvPr id="4" name="Shape 2"/>
          <p:cNvSpPr/>
          <p:nvPr/>
        </p:nvSpPr>
        <p:spPr>
          <a:xfrm>
            <a:off x="9166860" y="406908"/>
            <a:ext cx="118872" cy="118872"/>
          </a:xfrm>
          <a:prstGeom prst="ellipse">
            <a:avLst/>
          </a:prstGeom>
          <a:solidFill>
            <a:schemeClr val="accent1"/>
          </a:solidFill>
          <a:ln w="3175">
            <a:solidFill>
              <a:schemeClr val="accent1"/>
            </a:solidFill>
            <a:prstDash val="solid"/>
          </a:ln>
        </p:spPr>
      </p:sp>
      <p:sp>
        <p:nvSpPr>
          <p:cNvPr id="5" name="Shape 3"/>
          <p:cNvSpPr/>
          <p:nvPr/>
        </p:nvSpPr>
        <p:spPr>
          <a:xfrm>
            <a:off x="9399118" y="406908"/>
            <a:ext cx="118872" cy="118872"/>
          </a:xfrm>
          <a:prstGeom prst="ellipse">
            <a:avLst/>
          </a:prstGeom>
          <a:solidFill>
            <a:schemeClr val="accent1"/>
          </a:solidFill>
          <a:ln w="3175">
            <a:solidFill>
              <a:schemeClr val="accent1"/>
            </a:solidFill>
            <a:prstDash val="solid"/>
          </a:ln>
        </p:spPr>
      </p:sp>
      <p:sp>
        <p:nvSpPr>
          <p:cNvPr id="6" name="Shape 4"/>
          <p:cNvSpPr/>
          <p:nvPr/>
        </p:nvSpPr>
        <p:spPr>
          <a:xfrm>
            <a:off x="9631375" y="406908"/>
            <a:ext cx="118872" cy="118872"/>
          </a:xfrm>
          <a:prstGeom prst="ellipse">
            <a:avLst/>
          </a:prstGeom>
          <a:solidFill>
            <a:schemeClr val="accent1"/>
          </a:solidFill>
          <a:ln w="3175">
            <a:solidFill>
              <a:schemeClr val="accent1"/>
            </a:solidFill>
            <a:prstDash val="solid"/>
          </a:ln>
        </p:spPr>
      </p:sp>
      <p:sp>
        <p:nvSpPr>
          <p:cNvPr id="7" name="Shape 5"/>
          <p:cNvSpPr/>
          <p:nvPr/>
        </p:nvSpPr>
        <p:spPr>
          <a:xfrm>
            <a:off x="9863633" y="406908"/>
            <a:ext cx="118872" cy="118872"/>
          </a:xfrm>
          <a:prstGeom prst="ellipse">
            <a:avLst/>
          </a:prstGeom>
          <a:solidFill>
            <a:schemeClr val="accent1"/>
          </a:solidFill>
          <a:ln w="3175">
            <a:solidFill>
              <a:schemeClr val="accent1"/>
            </a:solidFill>
            <a:prstDash val="solid"/>
          </a:ln>
        </p:spPr>
      </p:sp>
      <p:sp>
        <p:nvSpPr>
          <p:cNvPr id="8" name="Shape 6"/>
          <p:cNvSpPr/>
          <p:nvPr/>
        </p:nvSpPr>
        <p:spPr>
          <a:xfrm>
            <a:off x="10095890" y="406908"/>
            <a:ext cx="118872" cy="118872"/>
          </a:xfrm>
          <a:prstGeom prst="ellipse">
            <a:avLst/>
          </a:prstGeom>
          <a:solidFill>
            <a:schemeClr val="accent1"/>
          </a:solidFill>
          <a:ln w="3175">
            <a:solidFill>
              <a:schemeClr val="accent1"/>
            </a:solidFill>
            <a:prstDash val="solid"/>
          </a:ln>
        </p:spPr>
      </p:sp>
      <p:sp>
        <p:nvSpPr>
          <p:cNvPr id="9" name="Shape 7"/>
          <p:cNvSpPr/>
          <p:nvPr/>
        </p:nvSpPr>
        <p:spPr>
          <a:xfrm>
            <a:off x="10328148" y="406908"/>
            <a:ext cx="118872" cy="118872"/>
          </a:xfrm>
          <a:prstGeom prst="ellipse">
            <a:avLst/>
          </a:prstGeom>
          <a:solidFill>
            <a:schemeClr val="accent1"/>
          </a:solidFill>
          <a:ln w="3175">
            <a:solidFill>
              <a:schemeClr val="accent1"/>
            </a:solidFill>
            <a:prstDash val="solid"/>
          </a:ln>
        </p:spPr>
      </p:sp>
      <p:sp>
        <p:nvSpPr>
          <p:cNvPr id="10" name="Shape 8"/>
          <p:cNvSpPr/>
          <p:nvPr/>
        </p:nvSpPr>
        <p:spPr>
          <a:xfrm>
            <a:off x="10560406" y="406908"/>
            <a:ext cx="118872" cy="118872"/>
          </a:xfrm>
          <a:prstGeom prst="ellipse">
            <a:avLst/>
          </a:prstGeom>
          <a:solidFill>
            <a:schemeClr val="accent1"/>
          </a:solidFill>
          <a:ln w="3175">
            <a:solidFill>
              <a:schemeClr val="accent1"/>
            </a:solidFill>
            <a:prstDash val="solid"/>
          </a:ln>
        </p:spPr>
      </p:sp>
      <p:sp>
        <p:nvSpPr>
          <p:cNvPr id="11" name="Shape 9"/>
          <p:cNvSpPr/>
          <p:nvPr/>
        </p:nvSpPr>
        <p:spPr>
          <a:xfrm>
            <a:off x="10792663" y="406908"/>
            <a:ext cx="118872" cy="118872"/>
          </a:xfrm>
          <a:prstGeom prst="ellipse">
            <a:avLst/>
          </a:prstGeom>
          <a:solidFill>
            <a:schemeClr val="accent1"/>
          </a:solidFill>
          <a:ln w="3175">
            <a:solidFill>
              <a:schemeClr val="accent1"/>
            </a:solidFill>
            <a:prstDash val="solid"/>
          </a:ln>
        </p:spPr>
      </p:sp>
      <p:sp>
        <p:nvSpPr>
          <p:cNvPr id="12" name="Shape 10"/>
          <p:cNvSpPr/>
          <p:nvPr/>
        </p:nvSpPr>
        <p:spPr>
          <a:xfrm>
            <a:off x="11024921" y="406908"/>
            <a:ext cx="118872" cy="118872"/>
          </a:xfrm>
          <a:prstGeom prst="ellipse">
            <a:avLst/>
          </a:prstGeom>
          <a:solidFill>
            <a:schemeClr val="accent1"/>
          </a:solidFill>
          <a:ln w="3175">
            <a:solidFill>
              <a:schemeClr val="accent1"/>
            </a:solidFill>
            <a:prstDash val="solid"/>
          </a:ln>
        </p:spPr>
      </p:sp>
      <p:sp>
        <p:nvSpPr>
          <p:cNvPr id="13" name="Shape 11"/>
          <p:cNvSpPr/>
          <p:nvPr/>
        </p:nvSpPr>
        <p:spPr>
          <a:xfrm>
            <a:off x="11257178" y="406908"/>
            <a:ext cx="118872" cy="118872"/>
          </a:xfrm>
          <a:prstGeom prst="ellipse">
            <a:avLst/>
          </a:prstGeom>
          <a:solidFill>
            <a:schemeClr val="accent1"/>
          </a:solidFill>
          <a:ln w="3175">
            <a:solidFill>
              <a:schemeClr val="accent1"/>
            </a:solidFill>
            <a:prstDash val="solid"/>
          </a:ln>
        </p:spPr>
      </p:sp>
      <p:sp>
        <p:nvSpPr>
          <p:cNvPr id="14" name="Shape 12"/>
          <p:cNvSpPr/>
          <p:nvPr/>
        </p:nvSpPr>
        <p:spPr>
          <a:xfrm>
            <a:off x="11457432" y="374904"/>
            <a:ext cx="182880" cy="182880"/>
          </a:xfrm>
          <a:prstGeom prst="ellipse">
            <a:avLst/>
          </a:prstGeom>
          <a:solidFill>
            <a:schemeClr val="accent3"/>
          </a:solidFill>
          <a:ln w="3175">
            <a:solidFill>
              <a:schemeClr val="accent3"/>
            </a:solidFill>
            <a:prstDash val="solid"/>
          </a:ln>
        </p:spPr>
      </p:sp>
      <p:sp>
        <p:nvSpPr>
          <p:cNvPr id="16" name="Shape 13"/>
          <p:cNvSpPr/>
          <p:nvPr/>
        </p:nvSpPr>
        <p:spPr>
          <a:xfrm>
            <a:off x="502920" y="1508760"/>
            <a:ext cx="6400800" cy="3310128"/>
          </a:xfrm>
          <a:prstGeom prst="roundRect">
            <a:avLst>
              <a:gd name="adj" fmla="val 3315"/>
            </a:avLst>
          </a:prstGeom>
          <a:solidFill>
            <a:schemeClr val="bg1"/>
          </a:solidFill>
          <a:ln w="9525">
            <a:solidFill>
              <a:srgbClr val="D5E3EE"/>
            </a:solidFill>
            <a:prstDash val="solid"/>
          </a:ln>
          <a:effectLst>
            <a:outerShdw sx="100000" sy="100000" kx="0" ky="0" algn="bl" rotWithShape="0" blurRad="127000" dist="38100" dir="5400000">
              <a:srgbClr val="0B2545">
                <a:alpha val="14000"/>
              </a:srgbClr>
            </a:outerShdw>
          </a:effectLst>
        </p:spPr>
      </p:sp>
      <p:pic>
        <p:nvPicPr>
          <p:cNvPr id="17" name="Image 0" descr="GitHub repository page for HR-Analytics-Dashboard">    </p:cNvPr>
          <p:cNvPicPr>
            <a:picLocks noChangeAspect="1"/>
          </p:cNvPicPr>
          <p:nvPr/>
        </p:nvPicPr>
        <p:blipFill>
          <a:blip r:embed="rId1"/>
          <a:stretch>
            <a:fillRect/>
          </a:stretch>
        </p:blipFill>
        <p:spPr>
          <a:xfrm>
            <a:off x="594360" y="1600200"/>
            <a:ext cx="6217920" cy="3099816"/>
          </a:xfrm>
          <a:prstGeom prst="rect">
            <a:avLst/>
          </a:prstGeom>
        </p:spPr>
      </p:pic>
      <p:sp>
        <p:nvSpPr>
          <p:cNvPr id="18" name="Shape 14"/>
          <p:cNvSpPr/>
          <p:nvPr/>
        </p:nvSpPr>
        <p:spPr>
          <a:xfrm>
            <a:off x="548640" y="5074920"/>
            <a:ext cx="6309360" cy="640080"/>
          </a:xfrm>
          <a:prstGeom prst="roundRect">
            <a:avLst>
              <a:gd name="adj" fmla="val 50000"/>
            </a:avLst>
          </a:prstGeom>
          <a:solidFill>
            <a:schemeClr val="tx1"/>
          </a:solidFill>
          <a:ln w="6350">
            <a:solidFill>
              <a:schemeClr val="tx1"/>
            </a:solidFill>
            <a:prstDash val="solid"/>
          </a:ln>
          <a:effectLst>
            <a:outerShdw sx="100000" sy="100000" kx="0" ky="0" algn="bl" rotWithShape="0" blurRad="127000" dist="38100" dir="5400000">
              <a:srgbClr val="0B2545">
                <a:alpha val="14000"/>
              </a:srgbClr>
            </a:outerShdw>
          </a:effectLst>
        </p:spPr>
      </p:sp>
      <p:pic>
        <p:nvPicPr>
          <p:cNvPr id="19" name="Image 1" descr="preencoded.png">    </p:cNvPr>
          <p:cNvPicPr>
            <a:picLocks noChangeAspect="1"/>
          </p:cNvPicPr>
          <p:nvPr/>
        </p:nvPicPr>
        <p:blipFill>
          <a:blip r:embed="rId2"/>
          <a:stretch>
            <a:fillRect/>
          </a:stretch>
        </p:blipFill>
        <p:spPr>
          <a:xfrm>
            <a:off x="749808" y="5266944"/>
            <a:ext cx="256032" cy="256032"/>
          </a:xfrm>
          <a:prstGeom prst="rect">
            <a:avLst/>
          </a:prstGeom>
        </p:spPr>
      </p:pic>
      <p:sp>
        <p:nvSpPr>
          <p:cNvPr id="20" name="Text 15"/>
          <p:cNvSpPr txBox="1"/>
          <p:nvPr/>
        </p:nvSpPr>
        <p:spPr>
          <a:xfrm>
            <a:off x="1115568" y="5074920"/>
            <a:ext cx="5577840" cy="640080"/>
          </a:xfrm>
          <a:prstGeom prst="rect">
            <a:avLst/>
          </a:prstGeom>
          <a:noFill/>
          <a:ln/>
        </p:spPr>
        <p:txBody>
          <a:bodyPr wrap="square" lIns="0" tIns="0" rIns="0" bIns="0" rtlCol="0" anchor="ctr"/>
          <a:lstStyle/>
          <a:p>
            <a:pPr indent="0" marL="0">
              <a:buNone/>
            </a:pPr>
            <a:r>
              <a:rPr lang="en-US" sz="1500" b="1" dirty="0">
                <a:solidFill>
                  <a:schemeClr val="bg1"/>
                </a:solidFill>
              </a:rPr>
              <a:t>github.com/Prasanna-Dat/HR-Analytics-Dashboard</a:t>
            </a:r>
            <a:endParaRPr lang="en-US" sz="1500" dirty="0"/>
          </a:p>
        </p:txBody>
      </p:sp>
      <p:pic>
        <p:nvPicPr>
          <p:cNvPr id="21" name="Image 2" descr="preencoded.png">
            <a:hlinkClick r:id="rId4" tooltip="github.com/Prasanna-Dat/HR-Analytics-Dashboard"/>
          </p:cNvPr>
          <p:cNvPicPr>
            <a:picLocks noChangeAspect="1"/>
          </p:cNvPicPr>
          <p:nvPr/>
        </p:nvPicPr>
        <p:blipFill>
          <a:blip r:embed="rId3"/>
          <a:stretch>
            <a:fillRect/>
          </a:stretch>
        </p:blipFill>
        <p:spPr>
          <a:xfrm>
            <a:off x="548640" y="5074920"/>
            <a:ext cx="6309360" cy="640080"/>
          </a:xfrm>
          <a:prstGeom prst="rect">
            <a:avLst/>
          </a:prstGeom>
        </p:spPr>
      </p:pic>
      <p:sp>
        <p:nvSpPr>
          <p:cNvPr id="22" name="Text 16"/>
          <p:cNvSpPr txBox="1"/>
          <p:nvPr/>
        </p:nvSpPr>
        <p:spPr>
          <a:xfrm>
            <a:off x="548640" y="5833872"/>
            <a:ext cx="6309360" cy="274320"/>
          </a:xfrm>
          <a:prstGeom prst="rect">
            <a:avLst/>
          </a:prstGeom>
          <a:noFill/>
          <a:ln/>
        </p:spPr>
        <p:txBody>
          <a:bodyPr wrap="square" lIns="0" tIns="0" rIns="0" bIns="0" rtlCol="0" anchor="ctr"/>
          <a:lstStyle/>
          <a:p>
            <a:pPr algn="ctr" indent="0" marL="0">
              <a:buNone/>
            </a:pPr>
            <a:r>
              <a:rPr lang="en-US" sz="1200" dirty="0">
                <a:solidFill>
                  <a:srgbClr val="5B7083"/>
                </a:solidFill>
              </a:rPr>
              <a:t>Public repository  ·  Click to open</a:t>
            </a:r>
            <a:endParaRPr lang="en-US" sz="1200" dirty="0"/>
          </a:p>
        </p:txBody>
      </p:sp>
      <p:sp>
        <p:nvSpPr>
          <p:cNvPr id="23" name="Shape 17"/>
          <p:cNvSpPr/>
          <p:nvPr/>
        </p:nvSpPr>
        <p:spPr>
          <a:xfrm>
            <a:off x="7178040" y="1508760"/>
            <a:ext cx="4462272" cy="4709160"/>
          </a:xfrm>
          <a:prstGeom prst="roundRect">
            <a:avLst>
              <a:gd name="adj" fmla="val 2869"/>
            </a:avLst>
          </a:prstGeom>
          <a:solidFill>
            <a:schemeClr val="bg1"/>
          </a:solidFill>
          <a:ln w="9525">
            <a:solidFill>
              <a:srgbClr val="D5E3EE"/>
            </a:solidFill>
            <a:prstDash val="solid"/>
          </a:ln>
          <a:effectLst>
            <a:outerShdw sx="100000" sy="100000" kx="0" ky="0" algn="bl" rotWithShape="0" blurRad="127000" dist="38100" dir="5400000">
              <a:srgbClr val="0B2545">
                <a:alpha val="14000"/>
              </a:srgbClr>
            </a:outerShdw>
          </a:effectLst>
        </p:spPr>
      </p:sp>
      <p:sp>
        <p:nvSpPr>
          <p:cNvPr id="24" name="Text 18"/>
          <p:cNvSpPr txBox="1"/>
          <p:nvPr/>
        </p:nvSpPr>
        <p:spPr>
          <a:xfrm>
            <a:off x="7452360" y="1645920"/>
            <a:ext cx="3931920" cy="365760"/>
          </a:xfrm>
          <a:prstGeom prst="rect">
            <a:avLst/>
          </a:prstGeom>
          <a:noFill/>
          <a:ln/>
        </p:spPr>
        <p:txBody>
          <a:bodyPr wrap="square" lIns="0" tIns="0" rIns="0" bIns="0" rtlCol="0" anchor="ctr"/>
          <a:lstStyle/>
          <a:p>
            <a:pPr indent="0" marL="0">
              <a:buNone/>
            </a:pPr>
            <a:r>
              <a:rPr lang="en-US" sz="2000" b="1" dirty="0">
                <a:solidFill>
                  <a:schemeClr val="tx1"/>
                </a:solidFill>
              </a:rPr>
              <a:t>Repository structure</a:t>
            </a:r>
            <a:endParaRPr lang="en-US" sz="2000" dirty="0"/>
          </a:p>
        </p:txBody>
      </p:sp>
      <p:sp>
        <p:nvSpPr>
          <p:cNvPr id="25" name="Shape 19"/>
          <p:cNvSpPr/>
          <p:nvPr/>
        </p:nvSpPr>
        <p:spPr>
          <a:xfrm>
            <a:off x="7452360" y="2240280"/>
            <a:ext cx="457200" cy="457200"/>
          </a:xfrm>
          <a:prstGeom prst="ellipse">
            <a:avLst/>
          </a:prstGeom>
          <a:solidFill>
            <a:schemeClr val="accent1"/>
          </a:solidFill>
          <a:ln w="6350">
            <a:solidFill>
              <a:schemeClr val="accent1"/>
            </a:solidFill>
            <a:prstDash val="solid"/>
          </a:ln>
        </p:spPr>
      </p:sp>
      <p:pic>
        <p:nvPicPr>
          <p:cNvPr id="26" name="Image 3" descr="preencoded.png">    </p:cNvPr>
          <p:cNvPicPr>
            <a:picLocks noChangeAspect="1"/>
          </p:cNvPicPr>
          <p:nvPr/>
        </p:nvPicPr>
        <p:blipFill>
          <a:blip r:embed="rId5"/>
          <a:stretch>
            <a:fillRect/>
          </a:stretch>
        </p:blipFill>
        <p:spPr>
          <a:xfrm>
            <a:off x="7562088" y="2350008"/>
            <a:ext cx="237744" cy="237744"/>
          </a:xfrm>
          <a:prstGeom prst="rect">
            <a:avLst/>
          </a:prstGeom>
        </p:spPr>
      </p:pic>
      <p:sp>
        <p:nvSpPr>
          <p:cNvPr id="27" name="Text 20"/>
          <p:cNvSpPr txBox="1"/>
          <p:nvPr/>
        </p:nvSpPr>
        <p:spPr>
          <a:xfrm>
            <a:off x="8092440" y="2194560"/>
            <a:ext cx="3383280" cy="274320"/>
          </a:xfrm>
          <a:prstGeom prst="rect">
            <a:avLst/>
          </a:prstGeom>
          <a:noFill/>
          <a:ln/>
        </p:spPr>
        <p:txBody>
          <a:bodyPr wrap="square" lIns="0" tIns="0" rIns="0" bIns="0" rtlCol="0" anchor="ctr"/>
          <a:lstStyle/>
          <a:p>
            <a:pPr indent="0" marL="0">
              <a:buNone/>
            </a:pPr>
            <a:r>
              <a:rPr lang="en-US" sz="1600" b="1" dirty="0">
                <a:solidFill>
                  <a:schemeClr val="tx1"/>
                </a:solidFill>
              </a:rPr>
              <a:t>Dataset/</a:t>
            </a:r>
            <a:endParaRPr lang="en-US" sz="1600" dirty="0"/>
          </a:p>
        </p:txBody>
      </p:sp>
      <p:sp>
        <p:nvSpPr>
          <p:cNvPr id="28" name="Text 21"/>
          <p:cNvSpPr txBox="1"/>
          <p:nvPr/>
        </p:nvSpPr>
        <p:spPr>
          <a:xfrm>
            <a:off x="8092440" y="2468880"/>
            <a:ext cx="3383280" cy="274320"/>
          </a:xfrm>
          <a:prstGeom prst="rect">
            <a:avLst/>
          </a:prstGeom>
          <a:noFill/>
          <a:ln/>
        </p:spPr>
        <p:txBody>
          <a:bodyPr wrap="square" lIns="0" tIns="0" rIns="0" bIns="0" rtlCol="0" anchor="ctr"/>
          <a:lstStyle/>
          <a:p>
            <a:pPr indent="0" marL="0">
              <a:buNone/>
            </a:pPr>
            <a:r>
              <a:rPr lang="en-US" sz="1400" dirty="0">
                <a:solidFill>
                  <a:srgbClr val="5B7083"/>
                </a:solidFill>
              </a:rPr>
              <a:t>Raw, clean and lookup CSVs</a:t>
            </a:r>
            <a:endParaRPr lang="en-US" sz="1400" dirty="0"/>
          </a:p>
        </p:txBody>
      </p:sp>
      <p:sp>
        <p:nvSpPr>
          <p:cNvPr id="29" name="Shape 22"/>
          <p:cNvSpPr/>
          <p:nvPr/>
        </p:nvSpPr>
        <p:spPr>
          <a:xfrm>
            <a:off x="7452360" y="2898648"/>
            <a:ext cx="457200" cy="457200"/>
          </a:xfrm>
          <a:prstGeom prst="ellipse">
            <a:avLst/>
          </a:prstGeom>
          <a:solidFill>
            <a:schemeClr val="accent1"/>
          </a:solidFill>
          <a:ln w="6350">
            <a:solidFill>
              <a:schemeClr val="accent1"/>
            </a:solidFill>
            <a:prstDash val="solid"/>
          </a:ln>
        </p:spPr>
      </p:sp>
      <p:pic>
        <p:nvPicPr>
          <p:cNvPr id="30" name="Image 4" descr="preencoded.png">    </p:cNvPr>
          <p:cNvPicPr>
            <a:picLocks noChangeAspect="1"/>
          </p:cNvPicPr>
          <p:nvPr/>
        </p:nvPicPr>
        <p:blipFill>
          <a:blip r:embed="rId6"/>
          <a:stretch>
            <a:fillRect/>
          </a:stretch>
        </p:blipFill>
        <p:spPr>
          <a:xfrm>
            <a:off x="7562088" y="3008376"/>
            <a:ext cx="237744" cy="237744"/>
          </a:xfrm>
          <a:prstGeom prst="rect">
            <a:avLst/>
          </a:prstGeom>
        </p:spPr>
      </p:pic>
      <p:sp>
        <p:nvSpPr>
          <p:cNvPr id="31" name="Text 23"/>
          <p:cNvSpPr txBox="1"/>
          <p:nvPr/>
        </p:nvSpPr>
        <p:spPr>
          <a:xfrm>
            <a:off x="8092440" y="2852928"/>
            <a:ext cx="3383280" cy="274320"/>
          </a:xfrm>
          <a:prstGeom prst="rect">
            <a:avLst/>
          </a:prstGeom>
          <a:noFill/>
          <a:ln/>
        </p:spPr>
        <p:txBody>
          <a:bodyPr wrap="square" lIns="0" tIns="0" rIns="0" bIns="0" rtlCol="0" anchor="ctr"/>
          <a:lstStyle/>
          <a:p>
            <a:pPr indent="0" marL="0">
              <a:buNone/>
            </a:pPr>
            <a:r>
              <a:rPr lang="en-US" sz="1600" b="1" dirty="0">
                <a:solidFill>
                  <a:schemeClr val="tx1"/>
                </a:solidFill>
              </a:rPr>
              <a:t>Documentation/</a:t>
            </a:r>
            <a:endParaRPr lang="en-US" sz="1600" dirty="0"/>
          </a:p>
        </p:txBody>
      </p:sp>
      <p:sp>
        <p:nvSpPr>
          <p:cNvPr id="32" name="Text 24"/>
          <p:cNvSpPr txBox="1"/>
          <p:nvPr/>
        </p:nvSpPr>
        <p:spPr>
          <a:xfrm>
            <a:off x="8092440" y="3127248"/>
            <a:ext cx="3383280" cy="274320"/>
          </a:xfrm>
          <a:prstGeom prst="rect">
            <a:avLst/>
          </a:prstGeom>
          <a:noFill/>
          <a:ln/>
        </p:spPr>
        <p:txBody>
          <a:bodyPr wrap="square" lIns="0" tIns="0" rIns="0" bIns="0" rtlCol="0" anchor="ctr"/>
          <a:lstStyle/>
          <a:p>
            <a:pPr indent="0" marL="0">
              <a:buNone/>
            </a:pPr>
            <a:r>
              <a:rPr lang="en-US" sz="1400" dirty="0">
                <a:solidFill>
                  <a:srgbClr val="5B7083"/>
                </a:solidFill>
              </a:rPr>
              <a:t>Data dictionary, project report</a:t>
            </a:r>
            <a:endParaRPr lang="en-US" sz="1400" dirty="0"/>
          </a:p>
        </p:txBody>
      </p:sp>
      <p:sp>
        <p:nvSpPr>
          <p:cNvPr id="33" name="Shape 25"/>
          <p:cNvSpPr/>
          <p:nvPr/>
        </p:nvSpPr>
        <p:spPr>
          <a:xfrm>
            <a:off x="7452360" y="3557016"/>
            <a:ext cx="457200" cy="457200"/>
          </a:xfrm>
          <a:prstGeom prst="ellipse">
            <a:avLst/>
          </a:prstGeom>
          <a:solidFill>
            <a:schemeClr val="accent1"/>
          </a:solidFill>
          <a:ln w="6350">
            <a:solidFill>
              <a:schemeClr val="accent1"/>
            </a:solidFill>
            <a:prstDash val="solid"/>
          </a:ln>
        </p:spPr>
      </p:sp>
      <p:pic>
        <p:nvPicPr>
          <p:cNvPr id="34" name="Image 5" descr="preencoded.png">    </p:cNvPr>
          <p:cNvPicPr>
            <a:picLocks noChangeAspect="1"/>
          </p:cNvPicPr>
          <p:nvPr/>
        </p:nvPicPr>
        <p:blipFill>
          <a:blip r:embed="rId7"/>
          <a:stretch>
            <a:fillRect/>
          </a:stretch>
        </p:blipFill>
        <p:spPr>
          <a:xfrm>
            <a:off x="7562088" y="3666744"/>
            <a:ext cx="237744" cy="237744"/>
          </a:xfrm>
          <a:prstGeom prst="rect">
            <a:avLst/>
          </a:prstGeom>
        </p:spPr>
      </p:pic>
      <p:sp>
        <p:nvSpPr>
          <p:cNvPr id="35" name="Text 26"/>
          <p:cNvSpPr txBox="1"/>
          <p:nvPr/>
        </p:nvSpPr>
        <p:spPr>
          <a:xfrm>
            <a:off x="8092440" y="3511296"/>
            <a:ext cx="3383280" cy="274320"/>
          </a:xfrm>
          <a:prstGeom prst="rect">
            <a:avLst/>
          </a:prstGeom>
          <a:noFill/>
          <a:ln/>
        </p:spPr>
        <p:txBody>
          <a:bodyPr wrap="square" lIns="0" tIns="0" rIns="0" bIns="0" rtlCol="0" anchor="ctr"/>
          <a:lstStyle/>
          <a:p>
            <a:pPr indent="0" marL="0">
              <a:buNone/>
            </a:pPr>
            <a:r>
              <a:rPr lang="en-US" sz="1600" b="1" dirty="0">
                <a:solidFill>
                  <a:schemeClr val="tx1"/>
                </a:solidFill>
              </a:rPr>
              <a:t>PowerBI/</a:t>
            </a:r>
            <a:endParaRPr lang="en-US" sz="1600" dirty="0"/>
          </a:p>
        </p:txBody>
      </p:sp>
      <p:sp>
        <p:nvSpPr>
          <p:cNvPr id="36" name="Text 27"/>
          <p:cNvSpPr txBox="1"/>
          <p:nvPr/>
        </p:nvSpPr>
        <p:spPr>
          <a:xfrm>
            <a:off x="8092440" y="3785616"/>
            <a:ext cx="3383280" cy="274320"/>
          </a:xfrm>
          <a:prstGeom prst="rect">
            <a:avLst/>
          </a:prstGeom>
          <a:noFill/>
          <a:ln/>
        </p:spPr>
        <p:txBody>
          <a:bodyPr wrap="square" lIns="0" tIns="0" rIns="0" bIns="0" rtlCol="0" anchor="ctr"/>
          <a:lstStyle/>
          <a:p>
            <a:pPr indent="0" marL="0">
              <a:buNone/>
            </a:pPr>
            <a:r>
              <a:rPr lang="en-US" sz="1400" dirty="0">
                <a:solidFill>
                  <a:srgbClr val="5B7083"/>
                </a:solidFill>
              </a:rPr>
              <a:t>HR_Analytics_Dashboard.pbix</a:t>
            </a:r>
            <a:endParaRPr lang="en-US" sz="1400" dirty="0"/>
          </a:p>
        </p:txBody>
      </p:sp>
      <p:sp>
        <p:nvSpPr>
          <p:cNvPr id="37" name="Shape 28"/>
          <p:cNvSpPr/>
          <p:nvPr/>
        </p:nvSpPr>
        <p:spPr>
          <a:xfrm>
            <a:off x="7452360" y="4215384"/>
            <a:ext cx="457200" cy="457200"/>
          </a:xfrm>
          <a:prstGeom prst="ellipse">
            <a:avLst/>
          </a:prstGeom>
          <a:solidFill>
            <a:schemeClr val="accent1"/>
          </a:solidFill>
          <a:ln w="6350">
            <a:solidFill>
              <a:schemeClr val="accent1"/>
            </a:solidFill>
            <a:prstDash val="solid"/>
          </a:ln>
        </p:spPr>
      </p:sp>
      <p:pic>
        <p:nvPicPr>
          <p:cNvPr id="38" name="Image 6" descr="preencoded.png">    </p:cNvPr>
          <p:cNvPicPr>
            <a:picLocks noChangeAspect="1"/>
          </p:cNvPicPr>
          <p:nvPr/>
        </p:nvPicPr>
        <p:blipFill>
          <a:blip r:embed="rId8"/>
          <a:stretch>
            <a:fillRect/>
          </a:stretch>
        </p:blipFill>
        <p:spPr>
          <a:xfrm>
            <a:off x="7562088" y="4325112"/>
            <a:ext cx="237744" cy="237744"/>
          </a:xfrm>
          <a:prstGeom prst="rect">
            <a:avLst/>
          </a:prstGeom>
        </p:spPr>
      </p:pic>
      <p:sp>
        <p:nvSpPr>
          <p:cNvPr id="39" name="Text 29"/>
          <p:cNvSpPr txBox="1"/>
          <p:nvPr/>
        </p:nvSpPr>
        <p:spPr>
          <a:xfrm>
            <a:off x="8092440" y="4169664"/>
            <a:ext cx="3383280" cy="274320"/>
          </a:xfrm>
          <a:prstGeom prst="rect">
            <a:avLst/>
          </a:prstGeom>
          <a:noFill/>
          <a:ln/>
        </p:spPr>
        <p:txBody>
          <a:bodyPr wrap="square" lIns="0" tIns="0" rIns="0" bIns="0" rtlCol="0" anchor="ctr"/>
          <a:lstStyle/>
          <a:p>
            <a:pPr indent="0" marL="0">
              <a:buNone/>
            </a:pPr>
            <a:r>
              <a:rPr lang="en-US" sz="1600" b="1" dirty="0">
                <a:solidFill>
                  <a:schemeClr val="tx1"/>
                </a:solidFill>
              </a:rPr>
              <a:t>Screenshots/</a:t>
            </a:r>
            <a:endParaRPr lang="en-US" sz="1600" dirty="0"/>
          </a:p>
        </p:txBody>
      </p:sp>
      <p:sp>
        <p:nvSpPr>
          <p:cNvPr id="40" name="Text 30"/>
          <p:cNvSpPr txBox="1"/>
          <p:nvPr/>
        </p:nvSpPr>
        <p:spPr>
          <a:xfrm>
            <a:off x="8092440" y="4443984"/>
            <a:ext cx="3383280" cy="274320"/>
          </a:xfrm>
          <a:prstGeom prst="rect">
            <a:avLst/>
          </a:prstGeom>
          <a:noFill/>
          <a:ln/>
        </p:spPr>
        <p:txBody>
          <a:bodyPr wrap="square" lIns="0" tIns="0" rIns="0" bIns="0" rtlCol="0" anchor="ctr"/>
          <a:lstStyle/>
          <a:p>
            <a:pPr indent="0" marL="0">
              <a:buNone/>
            </a:pPr>
            <a:r>
              <a:rPr lang="en-US" sz="1400" dirty="0">
                <a:solidFill>
                  <a:srgbClr val="5B7083"/>
                </a:solidFill>
              </a:rPr>
              <a:t>5 dashboard page images</a:t>
            </a:r>
            <a:endParaRPr lang="en-US" sz="1400" dirty="0"/>
          </a:p>
        </p:txBody>
      </p:sp>
      <p:sp>
        <p:nvSpPr>
          <p:cNvPr id="41" name="Shape 31"/>
          <p:cNvSpPr/>
          <p:nvPr/>
        </p:nvSpPr>
        <p:spPr>
          <a:xfrm>
            <a:off x="7452360" y="4873752"/>
            <a:ext cx="457200" cy="457200"/>
          </a:xfrm>
          <a:prstGeom prst="ellipse">
            <a:avLst/>
          </a:prstGeom>
          <a:solidFill>
            <a:schemeClr val="accent1"/>
          </a:solidFill>
          <a:ln w="6350">
            <a:solidFill>
              <a:schemeClr val="accent1"/>
            </a:solidFill>
            <a:prstDash val="solid"/>
          </a:ln>
        </p:spPr>
      </p:sp>
      <p:pic>
        <p:nvPicPr>
          <p:cNvPr id="42" name="Image 7" descr="preencoded.png">    </p:cNvPr>
          <p:cNvPicPr>
            <a:picLocks noChangeAspect="1"/>
          </p:cNvPicPr>
          <p:nvPr/>
        </p:nvPicPr>
        <p:blipFill>
          <a:blip r:embed="rId9"/>
          <a:stretch>
            <a:fillRect/>
          </a:stretch>
        </p:blipFill>
        <p:spPr>
          <a:xfrm>
            <a:off x="7562088" y="4983480"/>
            <a:ext cx="237744" cy="237744"/>
          </a:xfrm>
          <a:prstGeom prst="rect">
            <a:avLst/>
          </a:prstGeom>
        </p:spPr>
      </p:pic>
      <p:sp>
        <p:nvSpPr>
          <p:cNvPr id="43" name="Text 32"/>
          <p:cNvSpPr txBox="1"/>
          <p:nvPr/>
        </p:nvSpPr>
        <p:spPr>
          <a:xfrm>
            <a:off x="8092440" y="4828032"/>
            <a:ext cx="3383280" cy="274320"/>
          </a:xfrm>
          <a:prstGeom prst="rect">
            <a:avLst/>
          </a:prstGeom>
          <a:noFill/>
          <a:ln/>
        </p:spPr>
        <p:txBody>
          <a:bodyPr wrap="square" lIns="0" tIns="0" rIns="0" bIns="0" rtlCol="0" anchor="ctr"/>
          <a:lstStyle/>
          <a:p>
            <a:pPr indent="0" marL="0">
              <a:buNone/>
            </a:pPr>
            <a:r>
              <a:rPr lang="en-US" sz="1600" b="1" dirty="0">
                <a:solidFill>
                  <a:schemeClr val="tx1"/>
                </a:solidFill>
              </a:rPr>
              <a:t>theme/</a:t>
            </a:r>
            <a:endParaRPr lang="en-US" sz="1600" dirty="0"/>
          </a:p>
        </p:txBody>
      </p:sp>
      <p:sp>
        <p:nvSpPr>
          <p:cNvPr id="44" name="Text 33"/>
          <p:cNvSpPr txBox="1"/>
          <p:nvPr/>
        </p:nvSpPr>
        <p:spPr>
          <a:xfrm>
            <a:off x="8092440" y="5102352"/>
            <a:ext cx="3383280" cy="274320"/>
          </a:xfrm>
          <a:prstGeom prst="rect">
            <a:avLst/>
          </a:prstGeom>
          <a:noFill/>
          <a:ln/>
        </p:spPr>
        <p:txBody>
          <a:bodyPr wrap="square" lIns="0" tIns="0" rIns="0" bIns="0" rtlCol="0" anchor="ctr"/>
          <a:lstStyle/>
          <a:p>
            <a:pPr indent="0" marL="0">
              <a:buNone/>
            </a:pPr>
            <a:r>
              <a:rPr lang="en-US" sz="1400" dirty="0">
                <a:solidFill>
                  <a:srgbClr val="5B7083"/>
                </a:solidFill>
              </a:rPr>
              <a:t>HR_Theme.json colours</a:t>
            </a:r>
            <a:endParaRPr lang="en-US" sz="1400" dirty="0"/>
          </a:p>
        </p:txBody>
      </p:sp>
      <p:sp>
        <p:nvSpPr>
          <p:cNvPr id="45" name="Shape 34"/>
          <p:cNvSpPr/>
          <p:nvPr/>
        </p:nvSpPr>
        <p:spPr>
          <a:xfrm>
            <a:off x="7452360" y="5532120"/>
            <a:ext cx="457200" cy="457200"/>
          </a:xfrm>
          <a:prstGeom prst="ellipse">
            <a:avLst/>
          </a:prstGeom>
          <a:solidFill>
            <a:schemeClr val="accent3"/>
          </a:solidFill>
          <a:ln w="6350">
            <a:solidFill>
              <a:schemeClr val="accent3"/>
            </a:solidFill>
            <a:prstDash val="solid"/>
          </a:ln>
        </p:spPr>
      </p:sp>
      <p:pic>
        <p:nvPicPr>
          <p:cNvPr id="46" name="Image 8" descr="preencoded.png">    </p:cNvPr>
          <p:cNvPicPr>
            <a:picLocks noChangeAspect="1"/>
          </p:cNvPicPr>
          <p:nvPr/>
        </p:nvPicPr>
        <p:blipFill>
          <a:blip r:embed="rId10"/>
          <a:stretch>
            <a:fillRect/>
          </a:stretch>
        </p:blipFill>
        <p:spPr>
          <a:xfrm>
            <a:off x="7562088" y="5641848"/>
            <a:ext cx="237744" cy="237744"/>
          </a:xfrm>
          <a:prstGeom prst="rect">
            <a:avLst/>
          </a:prstGeom>
        </p:spPr>
      </p:pic>
      <p:sp>
        <p:nvSpPr>
          <p:cNvPr id="47" name="Text 35"/>
          <p:cNvSpPr txBox="1"/>
          <p:nvPr/>
        </p:nvSpPr>
        <p:spPr>
          <a:xfrm>
            <a:off x="8092440" y="5486400"/>
            <a:ext cx="3383280" cy="274320"/>
          </a:xfrm>
          <a:prstGeom prst="rect">
            <a:avLst/>
          </a:prstGeom>
          <a:noFill/>
          <a:ln/>
        </p:spPr>
        <p:txBody>
          <a:bodyPr wrap="square" lIns="0" tIns="0" rIns="0" bIns="0" rtlCol="0" anchor="ctr"/>
          <a:lstStyle/>
          <a:p>
            <a:pPr indent="0" marL="0">
              <a:buNone/>
            </a:pPr>
            <a:r>
              <a:rPr lang="en-US" sz="1600" b="1" dirty="0">
                <a:solidFill>
                  <a:schemeClr val="tx1"/>
                </a:solidFill>
              </a:rPr>
              <a:t>README.md</a:t>
            </a:r>
            <a:endParaRPr lang="en-US" sz="1600" dirty="0"/>
          </a:p>
        </p:txBody>
      </p:sp>
      <p:sp>
        <p:nvSpPr>
          <p:cNvPr id="48" name="Text 36"/>
          <p:cNvSpPr txBox="1"/>
          <p:nvPr/>
        </p:nvSpPr>
        <p:spPr>
          <a:xfrm>
            <a:off x="8092440" y="5760720"/>
            <a:ext cx="3383280" cy="274320"/>
          </a:xfrm>
          <a:prstGeom prst="rect">
            <a:avLst/>
          </a:prstGeom>
          <a:noFill/>
          <a:ln/>
        </p:spPr>
        <p:txBody>
          <a:bodyPr wrap="square" lIns="0" tIns="0" rIns="0" bIns="0" rtlCol="0" anchor="ctr"/>
          <a:lstStyle/>
          <a:p>
            <a:pPr indent="0" marL="0">
              <a:buNone/>
            </a:pPr>
            <a:r>
              <a:rPr lang="en-US" sz="1400" dirty="0">
                <a:solidFill>
                  <a:srgbClr val="5B7083"/>
                </a:solidFill>
              </a:rPr>
              <a:t>Findings, how to open, limits</a:t>
            </a:r>
            <a:endParaRPr lang="en-US" sz="14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9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ph idx="100" type="title" hasCustomPrompt="1"/>
          </p:nvPr>
        </p:nvSpPr>
        <p:spPr>
          <a:xfrm>
            <a:off x="6355080" y="1097280"/>
            <a:ext cx="5303520" cy="1280160"/>
          </a:xfrm>
          <a:prstGeom prst="rect">
            <a:avLst/>
          </a:prstGeom>
          <a:noFill/>
          <a:ln/>
        </p:spPr>
        <p:txBody>
          <a:bodyPr wrap="square" lIns="0" tIns="0" rIns="0" bIns="0" rtlCol="0" anchor="ctr"/>
          <a:lstStyle/>
          <a:p>
            <a:pPr algn="l" indent="0" marL="0">
              <a:buNone/>
            </a:pPr>
            <a:r>
              <a:rPr lang="en-US" sz="7200" b="1" dirty="0">
                <a:solidFill>
                  <a:schemeClr val="bg1"/>
                </a:solidFill>
              </a:rPr>
              <a:t>Thank You</a:t>
            </a:r>
            <a:endParaRPr lang="en-US" sz="7200" dirty="0"/>
          </a:p>
        </p:txBody>
      </p:sp>
      <p:sp>
        <p:nvSpPr>
          <p:cNvPr id="3" name="Text 1"/>
          <p:cNvSpPr txBox="1"/>
          <p:nvPr/>
        </p:nvSpPr>
        <p:spPr>
          <a:xfrm>
            <a:off x="6355080" y="2423160"/>
            <a:ext cx="5303520" cy="457200"/>
          </a:xfrm>
          <a:prstGeom prst="rect">
            <a:avLst/>
          </a:prstGeom>
          <a:noFill/>
          <a:ln/>
        </p:spPr>
        <p:txBody>
          <a:bodyPr wrap="square" lIns="0" tIns="0" rIns="0" bIns="0" rtlCol="0" anchor="ctr"/>
          <a:lstStyle/>
          <a:p>
            <a:pPr indent="0" marL="0">
              <a:buNone/>
            </a:pPr>
            <a:r>
              <a:rPr lang="en-US" sz="2200" b="1" dirty="0">
                <a:solidFill>
                  <a:schemeClr val="accent2"/>
                </a:solidFill>
              </a:rPr>
              <a:t>Questions and feedback are welcome</a:t>
            </a:r>
            <a:endParaRPr lang="en-US" sz="2200" dirty="0"/>
          </a:p>
        </p:txBody>
      </p:sp>
      <p:sp>
        <p:nvSpPr>
          <p:cNvPr id="4" name="Text 2"/>
          <p:cNvSpPr txBox="1"/>
          <p:nvPr/>
        </p:nvSpPr>
        <p:spPr>
          <a:xfrm>
            <a:off x="6355080" y="3200400"/>
            <a:ext cx="5303520" cy="457200"/>
          </a:xfrm>
          <a:prstGeom prst="rect">
            <a:avLst/>
          </a:prstGeom>
          <a:noFill/>
          <a:ln/>
        </p:spPr>
        <p:txBody>
          <a:bodyPr wrap="square" lIns="0" tIns="0" rIns="0" bIns="0" rtlCol="0" anchor="ctr"/>
          <a:lstStyle/>
          <a:p>
            <a:pPr indent="0" marL="0">
              <a:buNone/>
            </a:pPr>
            <a:r>
              <a:rPr lang="en-US" sz="2800" b="1" dirty="0">
                <a:solidFill>
                  <a:schemeClr val="bg1"/>
                </a:solidFill>
              </a:rPr>
              <a:t>Prasanna U N</a:t>
            </a:r>
            <a:endParaRPr lang="en-US" sz="2800" dirty="0"/>
          </a:p>
        </p:txBody>
      </p:sp>
      <p:sp>
        <p:nvSpPr>
          <p:cNvPr id="5" name="Text 3"/>
          <p:cNvSpPr txBox="1"/>
          <p:nvPr/>
        </p:nvSpPr>
        <p:spPr>
          <a:xfrm>
            <a:off x="6355080" y="3703320"/>
            <a:ext cx="5303520" cy="731520"/>
          </a:xfrm>
          <a:prstGeom prst="rect">
            <a:avLst/>
          </a:prstGeom>
          <a:noFill/>
          <a:ln/>
        </p:spPr>
        <p:txBody>
          <a:bodyPr wrap="square" lIns="0" tIns="0" rIns="0" bIns="0" rtlCol="0" anchor="ctr"/>
          <a:lstStyle/>
          <a:p>
            <a:pPr indent="0" marL="0">
              <a:buNone/>
            </a:pPr>
            <a:r>
              <a:rPr lang="en-US" sz="1600" dirty="0">
                <a:solidFill>
                  <a:srgbClr val="BFE3F2"/>
                </a:solidFill>
              </a:rPr>
              <a:t>Student ID: AF05331531  ·  Batch: ANP-D7635</a:t>
            </a:r>
            <a:endParaRPr lang="en-US" sz="1600" dirty="0"/>
          </a:p>
          <a:p>
            <a:pPr indent="0" marL="0">
              <a:buNone/>
            </a:pPr>
            <a:r>
              <a:rPr lang="en-US" sz="1600" dirty="0">
                <a:solidFill>
                  <a:srgbClr val="BFE3F2"/>
                </a:solidFill>
              </a:rPr>
              <a:t>Center ID: TNJPM</a:t>
            </a:r>
            <a:endParaRPr lang="en-US" sz="1600" dirty="0"/>
          </a:p>
        </p:txBody>
      </p:sp>
      <p:sp>
        <p:nvSpPr>
          <p:cNvPr id="6" name="Shape 4"/>
          <p:cNvSpPr/>
          <p:nvPr/>
        </p:nvSpPr>
        <p:spPr>
          <a:xfrm>
            <a:off x="6355080" y="4709160"/>
            <a:ext cx="2560320" cy="566928"/>
          </a:xfrm>
          <a:prstGeom prst="roundRect">
            <a:avLst>
              <a:gd name="adj" fmla="val 50000"/>
            </a:avLst>
          </a:prstGeom>
          <a:solidFill>
            <a:schemeClr val="accent3"/>
          </a:solidFill>
          <a:ln w="6350">
            <a:solidFill>
              <a:schemeClr val="accent3"/>
            </a:solidFill>
            <a:prstDash val="solid"/>
          </a:ln>
          <a:effectLst>
            <a:outerShdw sx="100000" sy="100000" kx="0" ky="0" algn="bl" rotWithShape="0" blurRad="127000" dist="38100" dir="5400000">
              <a:srgbClr val="0B2545">
                <a:alpha val="14000"/>
              </a:srgbClr>
            </a:outerShdw>
          </a:effectLst>
        </p:spPr>
      </p:sp>
      <p:pic>
        <p:nvPicPr>
          <p:cNvPr id="7" name="Image 0" descr="preencoded.png">    </p:cNvPr>
          <p:cNvPicPr>
            <a:picLocks noChangeAspect="1"/>
          </p:cNvPicPr>
          <p:nvPr/>
        </p:nvPicPr>
        <p:blipFill>
          <a:blip r:embed="rId1"/>
          <a:stretch>
            <a:fillRect/>
          </a:stretch>
        </p:blipFill>
        <p:spPr>
          <a:xfrm>
            <a:off x="6556248" y="4864608"/>
            <a:ext cx="256032" cy="256032"/>
          </a:xfrm>
          <a:prstGeom prst="rect">
            <a:avLst/>
          </a:prstGeom>
        </p:spPr>
      </p:pic>
      <p:sp>
        <p:nvSpPr>
          <p:cNvPr id="8" name="Text 5"/>
          <p:cNvSpPr txBox="1"/>
          <p:nvPr/>
        </p:nvSpPr>
        <p:spPr>
          <a:xfrm>
            <a:off x="6922008" y="4709160"/>
            <a:ext cx="1828800" cy="566928"/>
          </a:xfrm>
          <a:prstGeom prst="rect">
            <a:avLst/>
          </a:prstGeom>
          <a:noFill/>
          <a:ln/>
        </p:spPr>
        <p:txBody>
          <a:bodyPr wrap="square" lIns="0" tIns="0" rIns="0" bIns="0" rtlCol="0" anchor="ctr"/>
          <a:lstStyle/>
          <a:p>
            <a:pPr indent="0" marL="0">
              <a:buNone/>
            </a:pPr>
            <a:r>
              <a:rPr lang="en-US" sz="1500" b="1" dirty="0">
                <a:solidFill>
                  <a:schemeClr val="tx1"/>
                </a:solidFill>
              </a:rPr>
              <a:t>GitHub Repo</a:t>
            </a:r>
            <a:endParaRPr lang="en-US" sz="1500" dirty="0"/>
          </a:p>
        </p:txBody>
      </p:sp>
      <p:pic>
        <p:nvPicPr>
          <p:cNvPr id="9" name="Image 1" descr="preencoded.png">
            <a:hlinkClick r:id="rId3" tooltip="GitHub Repo"/>
          </p:cNvPr>
          <p:cNvPicPr>
            <a:picLocks noChangeAspect="1"/>
          </p:cNvPicPr>
          <p:nvPr/>
        </p:nvPicPr>
        <p:blipFill>
          <a:blip r:embed="rId2"/>
          <a:stretch>
            <a:fillRect/>
          </a:stretch>
        </p:blipFill>
        <p:spPr>
          <a:xfrm>
            <a:off x="6355080" y="4709160"/>
            <a:ext cx="2560320" cy="566928"/>
          </a:xfrm>
          <a:prstGeom prst="rect">
            <a:avLst/>
          </a:prstGeom>
        </p:spPr>
      </p:pic>
      <p:sp>
        <p:nvSpPr>
          <p:cNvPr id="10" name="Shape 6"/>
          <p:cNvSpPr/>
          <p:nvPr/>
        </p:nvSpPr>
        <p:spPr>
          <a:xfrm>
            <a:off x="9098280" y="4709160"/>
            <a:ext cx="2560320" cy="566928"/>
          </a:xfrm>
          <a:prstGeom prst="roundRect">
            <a:avLst>
              <a:gd name="adj" fmla="val 50000"/>
            </a:avLst>
          </a:prstGeom>
          <a:solidFill>
            <a:schemeClr val="accent2"/>
          </a:solidFill>
          <a:ln w="6350">
            <a:solidFill>
              <a:schemeClr val="accent2"/>
            </a:solidFill>
            <a:prstDash val="solid"/>
          </a:ln>
          <a:effectLst>
            <a:outerShdw sx="100000" sy="100000" kx="0" ky="0" algn="bl" rotWithShape="0" blurRad="127000" dist="38100" dir="5400000">
              <a:srgbClr val="0B2545">
                <a:alpha val="14000"/>
              </a:srgbClr>
            </a:outerShdw>
          </a:effectLst>
        </p:spPr>
      </p:sp>
      <p:pic>
        <p:nvPicPr>
          <p:cNvPr id="11" name="Image 2" descr="preencoded.png">    </p:cNvPr>
          <p:cNvPicPr>
            <a:picLocks noChangeAspect="1"/>
          </p:cNvPicPr>
          <p:nvPr/>
        </p:nvPicPr>
        <p:blipFill>
          <a:blip r:embed="rId4"/>
          <a:stretch>
            <a:fillRect/>
          </a:stretch>
        </p:blipFill>
        <p:spPr>
          <a:xfrm>
            <a:off x="9299448" y="4864608"/>
            <a:ext cx="256032" cy="256032"/>
          </a:xfrm>
          <a:prstGeom prst="rect">
            <a:avLst/>
          </a:prstGeom>
        </p:spPr>
      </p:pic>
      <p:sp>
        <p:nvSpPr>
          <p:cNvPr id="12" name="Text 7"/>
          <p:cNvSpPr txBox="1"/>
          <p:nvPr/>
        </p:nvSpPr>
        <p:spPr>
          <a:xfrm>
            <a:off x="9665208" y="4709160"/>
            <a:ext cx="1828800" cy="566928"/>
          </a:xfrm>
          <a:prstGeom prst="rect">
            <a:avLst/>
          </a:prstGeom>
          <a:noFill/>
          <a:ln/>
        </p:spPr>
        <p:txBody>
          <a:bodyPr wrap="square" lIns="0" tIns="0" rIns="0" bIns="0" rtlCol="0" anchor="ctr"/>
          <a:lstStyle/>
          <a:p>
            <a:pPr indent="0" marL="0">
              <a:buNone/>
            </a:pPr>
            <a:r>
              <a:rPr lang="en-US" sz="1500" b="1" dirty="0">
                <a:solidFill>
                  <a:schemeClr val="tx1"/>
                </a:solidFill>
              </a:rPr>
              <a:t>Kaggle Dataset</a:t>
            </a:r>
            <a:endParaRPr lang="en-US" sz="1500" dirty="0"/>
          </a:p>
        </p:txBody>
      </p:sp>
      <p:pic>
        <p:nvPicPr>
          <p:cNvPr id="13" name="Image 3" descr="preencoded.png">
            <a:hlinkClick r:id="rId6" tooltip="Kaggle Dataset"/>
          </p:cNvPr>
          <p:cNvPicPr>
            <a:picLocks noChangeAspect="1"/>
          </p:cNvPicPr>
          <p:nvPr/>
        </p:nvPicPr>
        <p:blipFill>
          <a:blip r:embed="rId5"/>
          <a:stretch>
            <a:fillRect/>
          </a:stretch>
        </p:blipFill>
        <p:spPr>
          <a:xfrm>
            <a:off x="9098280" y="4709160"/>
            <a:ext cx="2560320" cy="566928"/>
          </a:xfrm>
          <a:prstGeom prst="rect">
            <a:avLst/>
          </a:prstGeom>
        </p:spPr>
      </p:pic>
      <p:sp>
        <p:nvSpPr>
          <p:cNvPr id="14" name="Shape 8"/>
          <p:cNvSpPr/>
          <p:nvPr/>
        </p:nvSpPr>
        <p:spPr>
          <a:xfrm>
            <a:off x="6355080" y="5440680"/>
            <a:ext cx="2560320" cy="566928"/>
          </a:xfrm>
          <a:prstGeom prst="roundRect">
            <a:avLst>
              <a:gd name="adj" fmla="val 50000"/>
            </a:avLst>
          </a:prstGeom>
          <a:solidFill>
            <a:schemeClr val="tx2"/>
          </a:solidFill>
          <a:ln w="6350">
            <a:solidFill>
              <a:schemeClr val="tx2"/>
            </a:solidFill>
            <a:prstDash val="solid"/>
          </a:ln>
          <a:effectLst>
            <a:outerShdw sx="100000" sy="100000" kx="0" ky="0" algn="bl" rotWithShape="0" blurRad="127000" dist="38100" dir="5400000">
              <a:srgbClr val="0B2545">
                <a:alpha val="14000"/>
              </a:srgbClr>
            </a:outerShdw>
          </a:effectLst>
        </p:spPr>
      </p:sp>
      <p:pic>
        <p:nvPicPr>
          <p:cNvPr id="15" name="Image 4" descr="preencoded.png">    </p:cNvPr>
          <p:cNvPicPr>
            <a:picLocks noChangeAspect="1"/>
          </p:cNvPicPr>
          <p:nvPr/>
        </p:nvPicPr>
        <p:blipFill>
          <a:blip r:embed="rId7"/>
          <a:stretch>
            <a:fillRect/>
          </a:stretch>
        </p:blipFill>
        <p:spPr>
          <a:xfrm>
            <a:off x="6556248" y="5596128"/>
            <a:ext cx="256032" cy="256032"/>
          </a:xfrm>
          <a:prstGeom prst="rect">
            <a:avLst/>
          </a:prstGeom>
        </p:spPr>
      </p:pic>
      <p:sp>
        <p:nvSpPr>
          <p:cNvPr id="16" name="Text 9"/>
          <p:cNvSpPr txBox="1"/>
          <p:nvPr/>
        </p:nvSpPr>
        <p:spPr>
          <a:xfrm>
            <a:off x="6922008" y="5440680"/>
            <a:ext cx="1828800" cy="566928"/>
          </a:xfrm>
          <a:prstGeom prst="rect">
            <a:avLst/>
          </a:prstGeom>
          <a:noFill/>
          <a:ln/>
        </p:spPr>
        <p:txBody>
          <a:bodyPr wrap="square" lIns="0" tIns="0" rIns="0" bIns="0" rtlCol="0" anchor="ctr"/>
          <a:lstStyle/>
          <a:p>
            <a:pPr indent="0" marL="0">
              <a:buNone/>
            </a:pPr>
            <a:r>
              <a:rPr lang="en-US" sz="1500" b="1" dirty="0">
                <a:solidFill>
                  <a:schemeClr val="bg1"/>
                </a:solidFill>
              </a:rPr>
              <a:t>View Dashboards</a:t>
            </a:r>
            <a:endParaRPr lang="en-US" sz="1500" dirty="0"/>
          </a:p>
        </p:txBody>
      </p:sp>
      <p:pic>
        <p:nvPicPr>
          <p:cNvPr id="17" name="Image 5" descr="preencoded.png">
            <a:hlinkClick r:id="rId9" tooltip="View Dashboards" action="ppaction://hlinksldjump"/>
          </p:cNvPr>
          <p:cNvPicPr>
            <a:picLocks noChangeAspect="1"/>
          </p:cNvPicPr>
          <p:nvPr/>
        </p:nvPicPr>
        <p:blipFill>
          <a:blip r:embed="rId8"/>
          <a:stretch>
            <a:fillRect/>
          </a:stretch>
        </p:blipFill>
        <p:spPr>
          <a:xfrm>
            <a:off x="6355080" y="5440680"/>
            <a:ext cx="2560320" cy="566928"/>
          </a:xfrm>
          <a:prstGeom prst="rect">
            <a:avLst/>
          </a:prstGeom>
        </p:spPr>
      </p:pic>
      <p:sp>
        <p:nvSpPr>
          <p:cNvPr id="18" name="Shape 10"/>
          <p:cNvSpPr/>
          <p:nvPr/>
        </p:nvSpPr>
        <p:spPr>
          <a:xfrm>
            <a:off x="9098280" y="5440680"/>
            <a:ext cx="2560320" cy="566928"/>
          </a:xfrm>
          <a:prstGeom prst="roundRect">
            <a:avLst>
              <a:gd name="adj" fmla="val 50000"/>
            </a:avLst>
          </a:prstGeom>
          <a:solidFill>
            <a:schemeClr val="tx2"/>
          </a:solidFill>
          <a:ln w="6350">
            <a:solidFill>
              <a:schemeClr val="tx2"/>
            </a:solidFill>
            <a:prstDash val="solid"/>
          </a:ln>
          <a:effectLst>
            <a:outerShdw sx="100000" sy="100000" kx="0" ky="0" algn="bl" rotWithShape="0" blurRad="127000" dist="38100" dir="5400000">
              <a:srgbClr val="0B2545">
                <a:alpha val="14000"/>
              </a:srgbClr>
            </a:outerShdw>
          </a:effectLst>
        </p:spPr>
      </p:sp>
      <p:pic>
        <p:nvPicPr>
          <p:cNvPr id="19" name="Image 6" descr="preencoded.png">    </p:cNvPr>
          <p:cNvPicPr>
            <a:picLocks noChangeAspect="1"/>
          </p:cNvPicPr>
          <p:nvPr/>
        </p:nvPicPr>
        <p:blipFill>
          <a:blip r:embed="rId10"/>
          <a:stretch>
            <a:fillRect/>
          </a:stretch>
        </p:blipFill>
        <p:spPr>
          <a:xfrm>
            <a:off x="9299448" y="5596128"/>
            <a:ext cx="256032" cy="256032"/>
          </a:xfrm>
          <a:prstGeom prst="rect">
            <a:avLst/>
          </a:prstGeom>
        </p:spPr>
      </p:pic>
      <p:sp>
        <p:nvSpPr>
          <p:cNvPr id="20" name="Text 11"/>
          <p:cNvSpPr txBox="1"/>
          <p:nvPr/>
        </p:nvSpPr>
        <p:spPr>
          <a:xfrm>
            <a:off x="9665208" y="5440680"/>
            <a:ext cx="1828800" cy="566928"/>
          </a:xfrm>
          <a:prstGeom prst="rect">
            <a:avLst/>
          </a:prstGeom>
          <a:noFill/>
          <a:ln/>
        </p:spPr>
        <p:txBody>
          <a:bodyPr wrap="square" lIns="0" tIns="0" rIns="0" bIns="0" rtlCol="0" anchor="ctr"/>
          <a:lstStyle/>
          <a:p>
            <a:pPr indent="0" marL="0">
              <a:buNone/>
            </a:pPr>
            <a:r>
              <a:rPr lang="en-US" sz="1500" b="1" dirty="0">
                <a:solidFill>
                  <a:schemeClr val="bg1"/>
                </a:solidFill>
              </a:rPr>
              <a:t>Back to Start</a:t>
            </a:r>
            <a:endParaRPr lang="en-US" sz="1500" dirty="0"/>
          </a:p>
        </p:txBody>
      </p:sp>
      <p:pic>
        <p:nvPicPr>
          <p:cNvPr id="21" name="Image 7" descr="preencoded.png">
            <a:hlinkClick r:id="rId12" tooltip="Back to Start" action="ppaction://hlinksldjump"/>
          </p:cNvPr>
          <p:cNvPicPr>
            <a:picLocks noChangeAspect="1"/>
          </p:cNvPicPr>
          <p:nvPr/>
        </p:nvPicPr>
        <p:blipFill>
          <a:blip r:embed="rId11"/>
          <a:stretch>
            <a:fillRect/>
          </a:stretch>
        </p:blipFill>
        <p:spPr>
          <a:xfrm>
            <a:off x="9098280" y="5440680"/>
            <a:ext cx="2560320" cy="566928"/>
          </a:xfrm>
          <a:prstGeom prst="rect">
            <a:avLst/>
          </a:prstGeom>
        </p:spPr>
      </p:pic>
    </p:spTree>
  </p:cSld>
  <p:clrMapOvr>
    <a:masterClrMapping/>
  </p:clrMapOvr>
</p:sld>
</file>

<file path=ppt/theme/theme1.xml><?xml version="1.0" encoding="utf-8"?>
<a:theme xmlns:a="http://schemas.openxmlformats.org/drawingml/2006/main" name="HR Analytics Navy">
  <a:themeElements>
    <a:clrScheme name="HR Analytics Navy">
      <a:dk1>
        <a:srgbClr val="0B2545"/>
      </a:dk1>
      <a:lt1>
        <a:srgbClr val="FFFFFF"/>
      </a:lt1>
      <a:dk2>
        <a:srgbClr val="1B4965"/>
      </a:dk2>
      <a:lt2>
        <a:srgbClr val="EAF2F8"/>
      </a:lt2>
      <a:accent1>
        <a:srgbClr val="2E86AB"/>
      </a:accent1>
      <a:accent2>
        <a:srgbClr val="19B5C9"/>
      </a:accent2>
      <a:accent3>
        <a:srgbClr val="F4A261"/>
      </a:accent3>
      <a:accent4>
        <a:srgbClr val="1B4965"/>
      </a:accent4>
      <a:accent5>
        <a:srgbClr val="5FA8D3"/>
      </a:accent5>
      <a:accent6>
        <a:srgbClr val="2B4C7E"/>
      </a:accent6>
      <a:hlink>
        <a:srgbClr val="2E86AB"/>
      </a:hlink>
      <a:folHlink>
        <a:srgbClr val="5FA8D3"/>
      </a:folHlink>
    </a:clrScheme>
    <a:fontScheme name="HR Analytics Navy">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HR Analytics – Employee Performance &amp; Payroll Dashboard</dc:title>
  <dc:subject>PptxGenJS Presentation</dc:subject>
  <dc:creator>Prasanna U N</dc:creator>
  <cp:lastModifiedBy>Prasanna U N</cp:lastModifiedBy>
  <cp:revision>1</cp:revision>
  <dcterms:created xsi:type="dcterms:W3CDTF">2026-10-17T07:11:33Z</dcterms:created>
  <dcterms:modified xsi:type="dcterms:W3CDTF">2026-10-17T07:11:33Z</dcterms:modified>
</cp:coreProperties>
</file>